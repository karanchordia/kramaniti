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bd411cc989430a" /><Relationship Type="http://schemas.openxmlformats.org/officeDocument/2006/relationships/extended-properties" Target="/docProps/app.xml" Id="Rbb7b8737dea746d8" /><Relationship Type="http://schemas.openxmlformats.org/officeDocument/2006/relationships/officeDocument" Target="/ppt/presentation.xml" Id="R117d4d55a539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32aea97f849da"/>
  </p:sldMasterIdLst>
  <p:notesMasterIdLst>
    <p:notesMasterId xmlns:r="http://schemas.openxmlformats.org/officeDocument/2006/relationships" r:id="Rbdba5f6c05c0454a"/>
  </p:notesMasterIdLst>
  <p:sldIdLst>
    <p:sldId xmlns:r="http://schemas.openxmlformats.org/officeDocument/2006/relationships" id="256" r:id="Rd9079d6740364b91"/>
    <p:sldId xmlns:r="http://schemas.openxmlformats.org/officeDocument/2006/relationships" id="257" r:id="R6b3602d0d1d843c7"/>
    <p:sldId xmlns:r="http://schemas.openxmlformats.org/officeDocument/2006/relationships" id="258" r:id="Rb71b1683ca994906"/>
    <p:sldId xmlns:r="http://schemas.openxmlformats.org/officeDocument/2006/relationships" id="259" r:id="R47650247bd304156"/>
    <p:sldId xmlns:r="http://schemas.openxmlformats.org/officeDocument/2006/relationships" id="260" r:id="R740c492dfc954f69"/>
    <p:sldId xmlns:r="http://schemas.openxmlformats.org/officeDocument/2006/relationships" id="261" r:id="R35054b374f87416b"/>
    <p:sldId xmlns:r="http://schemas.openxmlformats.org/officeDocument/2006/relationships" id="262" r:id="R1fe46c5508bd4fd9"/>
    <p:sldId xmlns:r="http://schemas.openxmlformats.org/officeDocument/2006/relationships" id="263" r:id="R48969f6f34244fd7"/>
    <p:sldId xmlns:r="http://schemas.openxmlformats.org/officeDocument/2006/relationships" id="264" r:id="Rb56572bc6ecb45e2"/>
    <p:sldId xmlns:r="http://schemas.openxmlformats.org/officeDocument/2006/relationships" id="265" r:id="R15f9defd0b114041"/>
    <p:sldId xmlns:r="http://schemas.openxmlformats.org/officeDocument/2006/relationships" id="266" r:id="Rf341bd2cd86848d5"/>
    <p:sldId xmlns:r="http://schemas.openxmlformats.org/officeDocument/2006/relationships" id="267" r:id="R65748de65e2b4bea"/>
    <p:sldId xmlns:r="http://schemas.openxmlformats.org/officeDocument/2006/relationships" id="268" r:id="Rd2e7ac8e016d4193"/>
    <p:sldId xmlns:r="http://schemas.openxmlformats.org/officeDocument/2006/relationships" id="269" r:id="R942ff7d41ec9438c"/>
    <p:sldId xmlns:r="http://schemas.openxmlformats.org/officeDocument/2006/relationships" id="270" r:id="R364eb71a958f4634"/>
    <p:sldId xmlns:r="http://schemas.openxmlformats.org/officeDocument/2006/relationships" id="271" r:id="Rdca47ce7972142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5c1dc6afdb4229" /><Relationship Type="http://schemas.openxmlformats.org/officeDocument/2006/relationships/slideMaster" Target="/ppt/slideMasters/slideMaster1.xml" Id="R50732aea97f849da" /><Relationship Type="http://schemas.openxmlformats.org/officeDocument/2006/relationships/notesMaster" Target="/ppt/notesMasters/notesMaster1.xml" Id="Rbdba5f6c05c0454a" /><Relationship Type="http://schemas.openxmlformats.org/officeDocument/2006/relationships/presProps" Target="/ppt/presProps.xml" Id="Ra2b1f23ed1c6434a" /><Relationship Type="http://schemas.openxmlformats.org/officeDocument/2006/relationships/tableStyles" Target="/ppt/tableStyles.xml" Id="R7cbf96b8a44544d0" /><Relationship Type="http://schemas.openxmlformats.org/officeDocument/2006/relationships/slide" Target="/ppt/slides/slide1.xml" Id="Rd9079d6740364b91" /><Relationship Type="http://schemas.openxmlformats.org/officeDocument/2006/relationships/slide" Target="/ppt/slides/slide2.xml" Id="R6b3602d0d1d843c7" /><Relationship Type="http://schemas.openxmlformats.org/officeDocument/2006/relationships/slide" Target="/ppt/slides/slide3.xml" Id="Rb71b1683ca994906" /><Relationship Type="http://schemas.openxmlformats.org/officeDocument/2006/relationships/slide" Target="/ppt/slides/slide4.xml" Id="R47650247bd304156" /><Relationship Type="http://schemas.openxmlformats.org/officeDocument/2006/relationships/slide" Target="/ppt/slides/slide5.xml" Id="R740c492dfc954f69" /><Relationship Type="http://schemas.openxmlformats.org/officeDocument/2006/relationships/slide" Target="/ppt/slides/slide6.xml" Id="R35054b374f87416b" /><Relationship Type="http://schemas.openxmlformats.org/officeDocument/2006/relationships/slide" Target="/ppt/slides/slide7.xml" Id="R1fe46c5508bd4fd9" /><Relationship Type="http://schemas.openxmlformats.org/officeDocument/2006/relationships/slide" Target="/ppt/slides/slide8.xml" Id="R48969f6f34244fd7" /><Relationship Type="http://schemas.openxmlformats.org/officeDocument/2006/relationships/slide" Target="/ppt/slides/slide9.xml" Id="Rb56572bc6ecb45e2" /><Relationship Type="http://schemas.openxmlformats.org/officeDocument/2006/relationships/slide" Target="/ppt/slides/slide10.xml" Id="R15f9defd0b114041" /><Relationship Type="http://schemas.openxmlformats.org/officeDocument/2006/relationships/slide" Target="/ppt/slides/slide11.xml" Id="Rf341bd2cd86848d5" /><Relationship Type="http://schemas.openxmlformats.org/officeDocument/2006/relationships/slide" Target="/ppt/slides/slide12.xml" Id="R65748de65e2b4bea" /><Relationship Type="http://schemas.openxmlformats.org/officeDocument/2006/relationships/slide" Target="/ppt/slides/slide13.xml" Id="Rd2e7ac8e016d4193" /><Relationship Type="http://schemas.openxmlformats.org/officeDocument/2006/relationships/slide" Target="/ppt/slides/slide14.xml" Id="R942ff7d41ec9438c" /><Relationship Type="http://schemas.openxmlformats.org/officeDocument/2006/relationships/slide" Target="/ppt/slides/slide15.xml" Id="R364eb71a958f4634" /><Relationship Type="http://schemas.openxmlformats.org/officeDocument/2006/relationships/slide" Target="/ppt/slides/slide16.xml" Id="Rdca47ce79721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81a1842ab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ef736180b241fd" /><Relationship Type="http://schemas.openxmlformats.org/officeDocument/2006/relationships/notesMaster" Target="/ppt/notesMasters/notesMaster1.xml" Id="Rbc3a3feffceb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e132546c394d9a" /><Relationship Type="http://schemas.openxmlformats.org/officeDocument/2006/relationships/notesMaster" Target="/ppt/notesMasters/notesMaster1.xml" Id="R60c1b80cabba4a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b1aad84f084fef" /><Relationship Type="http://schemas.openxmlformats.org/officeDocument/2006/relationships/notesMaster" Target="/ppt/notesMasters/notesMaster1.xml" Id="R0d5b73e7163d42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31a31cf7e48cd" /><Relationship Type="http://schemas.openxmlformats.org/officeDocument/2006/relationships/notesMaster" Target="/ppt/notesMasters/notesMaster1.xml" Id="Ra84211c59d7e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0fe663c6e14d84" /><Relationship Type="http://schemas.openxmlformats.org/officeDocument/2006/relationships/notesMaster" Target="/ppt/notesMasters/notesMaster1.xml" Id="R5692a5a1fde140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470fe442154a15" /><Relationship Type="http://schemas.openxmlformats.org/officeDocument/2006/relationships/notesMaster" Target="/ppt/notesMasters/notesMaster1.xml" Id="R2293f6209adb48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671b48bef1421f" /><Relationship Type="http://schemas.openxmlformats.org/officeDocument/2006/relationships/notesMaster" Target="/ppt/notesMasters/notesMaster1.xml" Id="Ree8248b88b134f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cfae3911f24c4f" /><Relationship Type="http://schemas.openxmlformats.org/officeDocument/2006/relationships/notesMaster" Target="/ppt/notesMasters/notesMaster1.xml" Id="R319e15d92dfb43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8007550684e23" /><Relationship Type="http://schemas.openxmlformats.org/officeDocument/2006/relationships/notesMaster" Target="/ppt/notesMasters/notesMaster1.xml" Id="R4934417dd2ad45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ab0aa7d3bf4d3c" /><Relationship Type="http://schemas.openxmlformats.org/officeDocument/2006/relationships/notesMaster" Target="/ppt/notesMasters/notesMaster1.xml" Id="R4d5cc3dfeb164b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da47f77b8d4391" /><Relationship Type="http://schemas.openxmlformats.org/officeDocument/2006/relationships/notesMaster" Target="/ppt/notesMasters/notesMaster1.xml" Id="R4acc1a06cb2344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fcce844ea24204" /><Relationship Type="http://schemas.openxmlformats.org/officeDocument/2006/relationships/notesMaster" Target="/ppt/notesMasters/notesMaster1.xml" Id="Rc6674b0a46a940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f5dd92ff844d19" /><Relationship Type="http://schemas.openxmlformats.org/officeDocument/2006/relationships/notesMaster" Target="/ppt/notesMasters/notesMaster1.xml" Id="R1af7253794de40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6676049fc84e82" /><Relationship Type="http://schemas.openxmlformats.org/officeDocument/2006/relationships/notesMaster" Target="/ppt/notesMasters/notesMaster1.xml" Id="R2629e12006384a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f402880cc7434d" /><Relationship Type="http://schemas.openxmlformats.org/officeDocument/2006/relationships/notesMaster" Target="/ppt/notesMasters/notesMaster1.xml" Id="R99a0abf2af9349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5bcd14be6941a2" /><Relationship Type="http://schemas.openxmlformats.org/officeDocument/2006/relationships/notesMaster" Target="/ppt/notesMasters/notesMaster1.xml" Id="R6df74961d4a24a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a cinematic deck-native cover. The design intentionally avoids website header, grid, and centered homepage hero composition.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slide is now an executive ivory layout with three misalignment pillars, not a website dark screen.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 remains business-first but the design uses a manifesto panel and pipeline, not website grid styling.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section-break style slide, with bold editorial 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orbit visual is replaced by a layered prism to avoid website resemblance.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Operations uses an audit-canvas metaphor and a clear observe-map-prioritize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Dark-to-light blueprint style differentiates the systems layer and keeps the human-AI point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Presence is rendered as an editorial stack instead of website flow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decision-rights matrix rather than three website-style dark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Services are now premium vertical offer cards, not the website card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uses a stage-gate map, not the website 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document-style audit brief is more deck-native and tangible for founders.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build output uses a dark blueprint system rather than website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Portrait spread is editorial and high-end, not a copied website founder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 is framed as coherence, not a generic guarantee or unsupported outcome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Minimal close with strong contrast and a clear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fdc5b352c4e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6ec867dff149c8" /><Relationship Type="http://schemas.openxmlformats.org/officeDocument/2006/relationships/slideLayout" Target="/ppt/slideLayouts/slideLayout1.xml" Id="R6631b2a8835343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1b2a8835343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45a1501434764" /><Relationship Type="http://schemas.openxmlformats.org/officeDocument/2006/relationships/image" Target="/ppt/media/image.png" Id="R7842b5f84efc4542" /><Relationship Type="http://schemas.openxmlformats.org/officeDocument/2006/relationships/notesSlide" Target="/ppt/notesSlides/notesSlide1.xml" Id="R74da236b9bdd4c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250d41ed74e6c" /><Relationship Type="http://schemas.openxmlformats.org/officeDocument/2006/relationships/image" Target="/ppt/media/image2.png" Id="R642a470878a341fd" /><Relationship Type="http://schemas.openxmlformats.org/officeDocument/2006/relationships/notesSlide" Target="/ppt/notesSlides/notesSlide2.xml" Id="R5c8441d77ff94d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abaeebb8d4384" /><Relationship Type="http://schemas.openxmlformats.org/officeDocument/2006/relationships/image" Target="/ppt/media/image3.png" Id="R30ac765d4a1b465c" /><Relationship Type="http://schemas.openxmlformats.org/officeDocument/2006/relationships/notesSlide" Target="/ppt/notesSlides/notesSlide3.xml" Id="R14dc5b7615d64a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e8094a0db4c5f" /><Relationship Type="http://schemas.openxmlformats.org/officeDocument/2006/relationships/image" Target="/ppt/media/image4.png" Id="R02cb42785d524e7a" /><Relationship Type="http://schemas.openxmlformats.org/officeDocument/2006/relationships/notesSlide" Target="/ppt/notesSlides/notesSlide4.xml" Id="R4b6aa8b68ee94d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4da6bed2e49de" /><Relationship Type="http://schemas.openxmlformats.org/officeDocument/2006/relationships/image" Target="/ppt/media/image5.png" Id="Ra1fdc562786649e5" /><Relationship Type="http://schemas.openxmlformats.org/officeDocument/2006/relationships/notesSlide" Target="/ppt/notesSlides/notesSlide5.xml" Id="Red55048ab2804c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973a843ae4e74" /><Relationship Type="http://schemas.openxmlformats.org/officeDocument/2006/relationships/image" Target="/ppt/media/image6.png" Id="Radd5231b433444f2" /><Relationship Type="http://schemas.openxmlformats.org/officeDocument/2006/relationships/notesSlide" Target="/ppt/notesSlides/notesSlide6.xml" Id="R6ff2b827437641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cc0366d9648b7" /><Relationship Type="http://schemas.openxmlformats.org/officeDocument/2006/relationships/image" Target="/ppt/media/image7.png" Id="Rf94c8fb28e604222" /><Relationship Type="http://schemas.openxmlformats.org/officeDocument/2006/relationships/notesSlide" Target="/ppt/notesSlides/notesSlide7.xml" Id="Rbf680eeb8f4f45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0ed5ec64f4aec" /><Relationship Type="http://schemas.openxmlformats.org/officeDocument/2006/relationships/image" Target="/ppt/media/image8.png" Id="Re230bd0bd0484a33" /><Relationship Type="http://schemas.openxmlformats.org/officeDocument/2006/relationships/notesSlide" Target="/ppt/notesSlides/notesSlide8.xml" Id="Rf8ff9b1a7f1b4e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7396e289c4cb9" /><Relationship Type="http://schemas.openxmlformats.org/officeDocument/2006/relationships/image" Target="/ppt/media/image9.png" Id="Rb24e15ef87384728" /><Relationship Type="http://schemas.openxmlformats.org/officeDocument/2006/relationships/notesSlide" Target="/ppt/notesSlides/notesSlide9.xml" Id="R6ee8cb5ce3e349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67446a2324bf2" /><Relationship Type="http://schemas.openxmlformats.org/officeDocument/2006/relationships/image" Target="/ppt/media/image10.png" Id="R7aa15b240d614fa9" /><Relationship Type="http://schemas.openxmlformats.org/officeDocument/2006/relationships/notesSlide" Target="/ppt/notesSlides/notesSlide10.xml" Id="R8c736e7bbcfc48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2f577ee674959" /><Relationship Type="http://schemas.openxmlformats.org/officeDocument/2006/relationships/image" Target="/ppt/media/image11.png" Id="R54478f52dbdb482c" /><Relationship Type="http://schemas.openxmlformats.org/officeDocument/2006/relationships/notesSlide" Target="/ppt/notesSlides/notesSlide11.xml" Id="R37f9421cd84b44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667f98e884a6a" /><Relationship Type="http://schemas.openxmlformats.org/officeDocument/2006/relationships/image" Target="/ppt/media/image12.png" Id="Rb638a5a4a828407c" /><Relationship Type="http://schemas.openxmlformats.org/officeDocument/2006/relationships/notesSlide" Target="/ppt/notesSlides/notesSlide12.xml" Id="Rbb4b73509e474a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01651a9524c90" /><Relationship Type="http://schemas.openxmlformats.org/officeDocument/2006/relationships/image" Target="/ppt/media/image13.png" Id="R804cb8d2b64e4476" /><Relationship Type="http://schemas.openxmlformats.org/officeDocument/2006/relationships/notesSlide" Target="/ppt/notesSlides/notesSlide13.xml" Id="Rae0106565dfa44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a897056444c9c" /><Relationship Type="http://schemas.openxmlformats.org/officeDocument/2006/relationships/image" Target="/ppt/media/image14.png" Id="R6bb955d50cee4211" /><Relationship Type="http://schemas.openxmlformats.org/officeDocument/2006/relationships/image" Target="/ppt/media/image.jpeg" Id="R83d256f4f27f4608" /><Relationship Type="http://schemas.openxmlformats.org/officeDocument/2006/relationships/notesSlide" Target="/ppt/notesSlides/notesSlide14.xml" Id="Rc934166956c54a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ed373564f4e49" /><Relationship Type="http://schemas.openxmlformats.org/officeDocument/2006/relationships/image" Target="/ppt/media/image15.png" Id="R3fc78eb383b14919" /><Relationship Type="http://schemas.openxmlformats.org/officeDocument/2006/relationships/notesSlide" Target="/ppt/notesSlides/notesSlide15.xml" Id="R39b81ec1cbfd4e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3e45c2d8146c8" /><Relationship Type="http://schemas.openxmlformats.org/officeDocument/2006/relationships/image" Target="/ppt/media/image16.png" Id="Rea7d7773991a4fce" /><Relationship Type="http://schemas.openxmlformats.org/officeDocument/2006/relationships/notesSlide" Target="/ppt/notesSlides/notesSlide16.xml" Id="Re8ca65a7d7c948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2A05B-F53E-467D-A7AB-3251DF93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ark-plane">
            <a:extLst xmlns:a="http://schemas.openxmlformats.org/drawingml/2006/main">
              <a:ext uri="{FF2B5EF4-FFF2-40B4-BE49-F238E27FC236}">
                <a16:creationId xmlns:a16="http://schemas.microsoft.com/office/drawing/2014/main" id="{063C01C3-C97A-4AA4-8A94-23129E38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238250" y="6858000"/>
                </a:lnTo>
                <a:close/>
              </a:path>
            </a:pathLst>
          </a:cu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ark-wedge">
            <a:extLst xmlns:a="http://schemas.openxmlformats.org/drawingml/2006/main">
              <a:ext uri="{FF2B5EF4-FFF2-40B4-BE49-F238E27FC236}">
                <a16:creationId xmlns:a16="http://schemas.microsoft.com/office/drawing/2014/main" id="{527F6333-6CFD-4150-8EDC-979F818F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4381500" cy="2095500"/>
          </a:xfrm>
          <a:custGeom xmlns:a="http://schemas.openxmlformats.org/drawingml/2006/main">
            <a:pathLst>
              <a:path w="4381500" h="2095500">
                <a:moveTo>
                  <a:pt x="0" y="0"/>
                </a:moveTo>
                <a:lnTo>
                  <a:pt x="4381500" y="2095500"/>
                </a:lnTo>
                <a:lnTo>
                  <a:pt x="0" y="2095500"/>
                </a:lnTo>
                <a:close/>
              </a:path>
            </a:pathLst>
          </a:custGeom>
          <a:solidFill xmlns:a="http://schemas.openxmlformats.org/drawingml/2006/main">
            <a:srgbClr val="1110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2b5f84efc4542"/>
          <a:stretch xmlns:a="http://schemas.openxmlformats.org/drawingml/2006/main"/>
        </p:blipFill>
        <p:spPr>
          <a:xfrm xmlns:a="http://schemas.openxmlformats.org/drawingml/2006/main">
            <a:off x="647700" y="5143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E0B95-49B3-4556-88E4-96320BAA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381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BD6E3-BB8B-40AF-8BA4-7B121E5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0" cy="413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84C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A37181D-7B7B-4128-93F1-61460FE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8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FOUNDER ALIGNMENT DECK</a:t>
            </a:r>
          </a:p>
        </p:txBody>
      </p:sp>
      <p:sp>
        <p:nvSpPr>
          <p:cNvPr id="8" name="headline">
            <a:extLst xmlns:a="http://schemas.openxmlformats.org/drawingml/2006/main">
              <a:ext uri="{FF2B5EF4-FFF2-40B4-BE49-F238E27FC236}">
                <a16:creationId xmlns:a16="http://schemas.microsoft.com/office/drawing/2014/main" id="{B1FD3182-6863-4113-A9EA-BAA12E63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Align how your brand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operates, thinks,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and shows up.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E9BF436-8993-4580-966F-FCC64C87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A strategic deck for founders who need operational clarity, practical AI systems, and sharper brand presence working from the same logic.</a:t>
            </a:r>
          </a:p>
        </p:txBody>
      </p:sp>
      <p:sp>
        <p:nvSpPr>
          <p:cNvPr id="10" name="cover-layer-0">
            <a:extLst xmlns:a="http://schemas.openxmlformats.org/drawingml/2006/main">
              <a:ext uri="{FF2B5EF4-FFF2-40B4-BE49-F238E27FC236}">
                <a16:creationId xmlns:a16="http://schemas.microsoft.com/office/drawing/2014/main" id="{CCCEB441-73EE-4C0B-918A-2421DE70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3810000" cy="1314450"/>
          </a:xfrm>
          <a:custGeom xmlns:a="http://schemas.openxmlformats.org/drawingml/2006/main">
            <a:pathLst>
              <a:path w="3810000" h="1314450">
                <a:moveTo>
                  <a:pt x="857250" y="0"/>
                </a:moveTo>
                <a:lnTo>
                  <a:pt x="3810000" y="552450"/>
                </a:lnTo>
                <a:lnTo>
                  <a:pt x="2933700" y="131445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2A2417"/>
          </a:solidFill>
          <a:ln xmlns:a="http://schemas.openxmlformats.org/drawingml/2006/main" w="9525">
            <a:solidFill>
              <a:srgbClr val="4B3D1E"/>
            </a:solidFill>
            <a:prstDash val="solid"/>
          </a:ln>
        </p:spPr>
      </p:sp>
      <p:sp>
        <p:nvSpPr>
          <p:cNvPr id="11" name="cover-layer-1">
            <a:extLst xmlns:a="http://schemas.openxmlformats.org/drawingml/2006/main">
              <a:ext uri="{FF2B5EF4-FFF2-40B4-BE49-F238E27FC236}">
                <a16:creationId xmlns:a16="http://schemas.microsoft.com/office/drawing/2014/main" id="{F000892E-8856-4148-AB63-2154990F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3810000" cy="1314450"/>
          </a:xfrm>
          <a:custGeom xmlns:a="http://schemas.openxmlformats.org/drawingml/2006/main">
            <a:pathLst>
              <a:path w="3810000" h="1314450">
                <a:moveTo>
                  <a:pt x="1352550" y="0"/>
                </a:moveTo>
                <a:lnTo>
                  <a:pt x="3810000" y="552450"/>
                </a:lnTo>
                <a:lnTo>
                  <a:pt x="2933700" y="131445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181B21"/>
          </a:solidFill>
          <a:ln xmlns:a="http://schemas.openxmlformats.org/drawingml/2006/main" w="9525">
            <a:solidFill>
              <a:srgbClr val="4B3D1E"/>
            </a:solidFill>
            <a:prstDash val="solid"/>
          </a:ln>
        </p:spPr>
      </p:sp>
      <p:sp>
        <p:nvSpPr>
          <p:cNvPr id="12" name="cover-layer-2">
            <a:extLst xmlns:a="http://schemas.openxmlformats.org/drawingml/2006/main">
              <a:ext uri="{FF2B5EF4-FFF2-40B4-BE49-F238E27FC236}">
                <a16:creationId xmlns:a16="http://schemas.microsoft.com/office/drawing/2014/main" id="{7B3978D0-AB9B-449E-A364-A6AA4B12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3810000" cy="1314450"/>
          </a:xfrm>
          <a:custGeom xmlns:a="http://schemas.openxmlformats.org/drawingml/2006/main">
            <a:pathLst>
              <a:path w="3810000" h="1314450">
                <a:moveTo>
                  <a:pt x="1847850" y="0"/>
                </a:moveTo>
                <a:lnTo>
                  <a:pt x="3810000" y="552450"/>
                </a:lnTo>
                <a:lnTo>
                  <a:pt x="2933700" y="131445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16241F"/>
          </a:solidFill>
          <a:ln xmlns:a="http://schemas.openxmlformats.org/drawingml/2006/main" w="9525">
            <a:solidFill>
              <a:srgbClr val="4B3D1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C9FC5-9C4B-4643-BB15-AC5DE467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57600"/>
            <a:ext cx="1638300" cy="1638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F5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E77C8-9700-4336-8D0C-C41B23B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76700"/>
            <a:ext cx="8001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45F67-EAD0-471C-B493-EC9DC450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5A2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B58A0-B5F7-4CAD-87F4-4F3AE908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435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Strategy / Systems / Presence</a:t>
            </a:r>
          </a:p>
        </p:txBody>
      </p:sp>
      <p:sp>
        <p:nvSpPr>
          <p:cNvPr id="17" name="folio-num">
            <a:extLst xmlns:a="http://schemas.openxmlformats.org/drawingml/2006/main">
              <a:ext uri="{FF2B5EF4-FFF2-40B4-BE49-F238E27FC236}">
                <a16:creationId xmlns:a16="http://schemas.microsoft.com/office/drawing/2014/main" id="{139C3268-576B-4EB4-9C0B-077DD3EA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8" name="folio-line">
            <a:extLst xmlns:a="http://schemas.openxmlformats.org/drawingml/2006/main">
              <a:ext uri="{FF2B5EF4-FFF2-40B4-BE49-F238E27FC236}">
                <a16:creationId xmlns:a16="http://schemas.microsoft.com/office/drawing/2014/main" id="{B135A51F-A565-475F-9484-630D9611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21F"/>
            </a:solidFill>
            <a:prstDash val="solid"/>
          </a:ln>
        </p:spPr>
      </p:sp>
      <p:sp>
        <p:nvSpPr>
          <p:cNvPr id="19" name="folio-title">
            <a:extLst xmlns:a="http://schemas.openxmlformats.org/drawingml/2006/main">
              <a:ext uri="{FF2B5EF4-FFF2-40B4-BE49-F238E27FC236}">
                <a16:creationId xmlns:a16="http://schemas.microsoft.com/office/drawing/2014/main" id="{471EFAAA-D13E-4233-BBDC-39B8F996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8B0A2"/>
                </a:solidFill>
                <a:latin typeface="Aptos"/>
                <a:ea typeface="Aptos"/>
                <a:cs typeface="Aptos"/>
              </a:rPr>
              <a:t>ALIGNMENT BEFORE SCALE</a:t>
            </a:r>
          </a:p>
        </p:txBody>
      </p:sp>
    </p:spTree>
    <p:extLst>
      <p:ext uri="{BB962C8B-B14F-4D97-AF65-F5344CB8AC3E}">
        <p14:creationId xmlns:p14="http://schemas.microsoft.com/office/powerpoint/2010/main" val="569660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1F388-0CFA-4491-BC93-2BF2C37B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C1B06-FEE2-498B-8FB3-C9E70064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77F135F9-439B-4AEB-A42D-334562FF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a470878a341fd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7F31190-2EC5-4345-92C3-272C88B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THE FOUNDER PROBLEM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E0FA1A5E-CFFE-4A11-9F87-2D56C2E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Growth starts to fragment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when the operating logic is unclear.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A8EA940-3187-496F-BF86-0D871325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The issue is rarely the absence of AI. It is the absence of a shared system that connects how the brand works, thinks, and communicates.</a:t>
            </a:r>
          </a:p>
        </p:txBody>
      </p:sp>
      <p:sp>
        <p:nvSpPr>
          <p:cNvPr id="8" name="problem-0">
            <a:extLst xmlns:a="http://schemas.openxmlformats.org/drawingml/2006/main">
              <a:ext uri="{FF2B5EF4-FFF2-40B4-BE49-F238E27FC236}">
                <a16:creationId xmlns:a16="http://schemas.microsoft.com/office/drawing/2014/main" id="{397086D5-48AC-4E47-A93A-90092733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971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7EE"/>
          </a:solidFill>
          <a:ln xmlns:a="http://schemas.openxmlformats.org/drawingml/2006/main" w="9525">
            <a:solidFill>
              <a:srgbClr val="D9CC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DA57A-79F0-469F-A052-5060A1F3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22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F6CE7-CB16-4F9E-B5A6-F3F0DD1A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D582D-71DB-4DCB-8C73-6C110706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91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Operations drift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34908DB-7BF9-4021-A405-946CE38E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Workflows live inside inboxes, memory, meetings, and manual handoffs.</a:t>
            </a:r>
          </a:p>
        </p:txBody>
      </p:sp>
      <p:sp>
        <p:nvSpPr>
          <p:cNvPr id="13" name="problem-1">
            <a:extLst xmlns:a="http://schemas.openxmlformats.org/drawingml/2006/main">
              <a:ext uri="{FF2B5EF4-FFF2-40B4-BE49-F238E27FC236}">
                <a16:creationId xmlns:a16="http://schemas.microsoft.com/office/drawing/2014/main" id="{F5ACAA20-2225-4C97-AB18-8B60429F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00500"/>
            <a:ext cx="2971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7EE"/>
          </a:solidFill>
          <a:ln xmlns:a="http://schemas.openxmlformats.org/drawingml/2006/main" w="9525">
            <a:solidFill>
              <a:srgbClr val="D9CC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A2CDB-4203-4890-A20D-3F3915B8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005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4E670-5062-43F1-9FE1-66B1E289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9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8E575-A8B4-4F49-94F0-965CE00D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91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Intelligence scatters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86234696-6B9E-42C1-8F23-E5BF999D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63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Tools, data, decisions, and AI experiments do not compound into one rhythm.</a:t>
            </a:r>
          </a:p>
        </p:txBody>
      </p:sp>
      <p:sp>
        <p:nvSpPr>
          <p:cNvPr id="18" name="problem-2">
            <a:extLst xmlns:a="http://schemas.openxmlformats.org/drawingml/2006/main">
              <a:ext uri="{FF2B5EF4-FFF2-40B4-BE49-F238E27FC236}">
                <a16:creationId xmlns:a16="http://schemas.microsoft.com/office/drawing/2014/main" id="{8F8DC11F-D643-4516-B9E7-F45D641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2971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7EE"/>
          </a:solidFill>
          <a:ln xmlns:a="http://schemas.openxmlformats.org/drawingml/2006/main" w="9525">
            <a:solidFill>
              <a:srgbClr val="D9CC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7EBC7-7CFE-454F-A79A-818EB3CF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005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BA8E4-C2B3-4CF9-B572-7AA7FA9C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6746F-A12E-43DA-A4A6-245694F6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Presence disconnects</a:t>
            </a:r>
          </a:p>
        </p:txBody>
      </p:sp>
      <p:sp>
        <p:nvSpPr>
          <p:cNvPr id="22" name="body">
            <a:extLst xmlns:a="http://schemas.openxmlformats.org/drawingml/2006/main">
              <a:ext uri="{FF2B5EF4-FFF2-40B4-BE49-F238E27FC236}">
                <a16:creationId xmlns:a16="http://schemas.microsoft.com/office/drawing/2014/main" id="{28FE6B4A-FD04-406A-80B6-C4287F9F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6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Content keeps moving, but the message no longer reflects how value is created.</a:t>
            </a:r>
          </a:p>
        </p:txBody>
      </p:sp>
      <p:sp>
        <p:nvSpPr>
          <p:cNvPr id="23" name="folio-num">
            <a:extLst xmlns:a="http://schemas.openxmlformats.org/drawingml/2006/main">
              <a:ext uri="{FF2B5EF4-FFF2-40B4-BE49-F238E27FC236}">
                <a16:creationId xmlns:a16="http://schemas.microsoft.com/office/drawing/2014/main" id="{538B2CB9-46EE-44C8-95BD-965874C9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folio-line">
            <a:extLst xmlns:a="http://schemas.openxmlformats.org/drawingml/2006/main">
              <a:ext uri="{FF2B5EF4-FFF2-40B4-BE49-F238E27FC236}">
                <a16:creationId xmlns:a16="http://schemas.microsoft.com/office/drawing/2014/main" id="{E2FA2774-78FB-42C4-88F4-55AFD015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25" name="folio-title">
            <a:extLst xmlns:a="http://schemas.openxmlformats.org/drawingml/2006/main">
              <a:ext uri="{FF2B5EF4-FFF2-40B4-BE49-F238E27FC236}">
                <a16:creationId xmlns:a16="http://schemas.microsoft.com/office/drawing/2014/main" id="{7287B2DB-FCF9-4F86-AD3C-8CED4434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1129367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37B14-812B-4D36-BA0B-15A91EDB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3E74C-CC77-4BE6-B8B0-CEB6ABE6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C0ABB61E-B611-4ACB-BBFF-3C4AD5C1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c765d4a1b465c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D3CB673-5840-4A3E-88CA-32D64AC2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WHAT KRAMANITI IS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C647496B-4712-4399-8759-2DCFDCC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A first-principles AI systems partner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for brand growth.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72E6801-CD35-4C96-9EB4-3EF96981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Kramaniti turns scattered operations, unclear AI ideas, and inconsistent content into one connected operating pipeline.</a:t>
            </a:r>
          </a:p>
        </p:txBody>
      </p:sp>
      <p:sp>
        <p:nvSpPr>
          <p:cNvPr id="8" name="manifest-panel">
            <a:extLst xmlns:a="http://schemas.openxmlformats.org/drawingml/2006/main">
              <a:ext uri="{FF2B5EF4-FFF2-40B4-BE49-F238E27FC236}">
                <a16:creationId xmlns:a16="http://schemas.microsoft.com/office/drawing/2014/main" id="{3FDC6058-20AA-4E5B-8767-086A18D6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90600"/>
            <a:ext cx="4095750" cy="4476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A0A0F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29AB0-097A-4A99-8B3F-81850B3B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52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OPERATING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B3A95-DEAB-4202-8C6E-45E0F44F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Strategy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251A794-5A48-402F-837C-48FC956F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D8074-6FEC-4C3A-BA18-17569B6C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924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CB583-C3B6-4BB2-A749-B80EE561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7647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5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F30B9-AEAB-49CF-A683-C0F857E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Systems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D6A51DEF-432C-43DA-B533-DE0E779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EE2C6-6E16-4F9C-8FE6-57AC9252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924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916"/>
          </a:solidFill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F21F0-2A87-4A19-B24A-7838B017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766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5A2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D5998-EDAF-4934-8DD6-9001835C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Content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47052DE6-2772-4DC2-BB53-21763E59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Trust + 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42D5F-379A-49C4-93CF-E1E1AD1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9243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AB3A6-3BFE-4D01-8292-B28C252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800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2D505-D5FA-459A-8597-E7710211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Kramaniti does not start with a tool stack. It starts with the operating logic that makes the right tools obvious.</a:t>
            </a:r>
          </a:p>
        </p:txBody>
      </p:sp>
      <p:sp>
        <p:nvSpPr>
          <p:cNvPr id="23" name="folio-num">
            <a:extLst xmlns:a="http://schemas.openxmlformats.org/drawingml/2006/main">
              <a:ext uri="{FF2B5EF4-FFF2-40B4-BE49-F238E27FC236}">
                <a16:creationId xmlns:a16="http://schemas.microsoft.com/office/drawing/2014/main" id="{F99796EF-AFB4-424D-B858-DB6494E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folio-line">
            <a:extLst xmlns:a="http://schemas.openxmlformats.org/drawingml/2006/main">
              <a:ext uri="{FF2B5EF4-FFF2-40B4-BE49-F238E27FC236}">
                <a16:creationId xmlns:a16="http://schemas.microsoft.com/office/drawing/2014/main" id="{E44E2C25-A0FB-4DD3-A01C-CE27CB1A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25" name="folio-title">
            <a:extLst xmlns:a="http://schemas.openxmlformats.org/drawingml/2006/main">
              <a:ext uri="{FF2B5EF4-FFF2-40B4-BE49-F238E27FC236}">
                <a16:creationId xmlns:a16="http://schemas.microsoft.com/office/drawing/2014/main" id="{84B2FEE7-AF9C-4E29-AAEB-BBF2D27F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492832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0CB72-2F20-49E4-9581-DD6945A9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ark-plane">
            <a:extLst xmlns:a="http://schemas.openxmlformats.org/drawingml/2006/main">
              <a:ext uri="{FF2B5EF4-FFF2-40B4-BE49-F238E27FC236}">
                <a16:creationId xmlns:a16="http://schemas.microsoft.com/office/drawing/2014/main" id="{78CC0D9F-8028-444D-B53F-3440C91D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238250" y="6858000"/>
                </a:lnTo>
                <a:close/>
              </a:path>
            </a:pathLst>
          </a:cu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ark-wedge">
            <a:extLst xmlns:a="http://schemas.openxmlformats.org/drawingml/2006/main">
              <a:ext uri="{FF2B5EF4-FFF2-40B4-BE49-F238E27FC236}">
                <a16:creationId xmlns:a16="http://schemas.microsoft.com/office/drawing/2014/main" id="{8C26E74F-A3F8-4DAC-9338-D40FDF43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4381500" cy="2095500"/>
          </a:xfrm>
          <a:custGeom xmlns:a="http://schemas.openxmlformats.org/drawingml/2006/main">
            <a:pathLst>
              <a:path w="4381500" h="2095500">
                <a:moveTo>
                  <a:pt x="0" y="0"/>
                </a:moveTo>
                <a:lnTo>
                  <a:pt x="4381500" y="2095500"/>
                </a:lnTo>
                <a:lnTo>
                  <a:pt x="0" y="2095500"/>
                </a:lnTo>
                <a:close/>
              </a:path>
            </a:pathLst>
          </a:custGeom>
          <a:solidFill xmlns:a="http://schemas.openxmlformats.org/drawingml/2006/main">
            <a:srgbClr val="1110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b42785d524e7a"/>
          <a:stretch xmlns:a="http://schemas.openxmlformats.org/drawingml/2006/main"/>
        </p:blipFill>
        <p:spPr>
          <a:xfrm xmlns:a="http://schemas.openxmlformats.org/drawingml/2006/main">
            <a:off x="666750" y="4953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7DE3667-11BD-422B-9529-C5610ADF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CORE BELIEF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3ED6E436-76BC-4AF3-9384-D01D49A7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Strategy before tools.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Systems before scale.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Content after clarity.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90D3A3B-797A-4638-A3C3-2ABE30A7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425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This is the discipline behind every Kramaniti engagement.</a:t>
            </a:r>
          </a:p>
        </p:txBody>
      </p:sp>
      <p:sp>
        <p:nvSpPr>
          <p:cNvPr id="8" name="belief-0">
            <a:extLst xmlns:a="http://schemas.openxmlformats.org/drawingml/2006/main">
              <a:ext uri="{FF2B5EF4-FFF2-40B4-BE49-F238E27FC236}">
                <a16:creationId xmlns:a16="http://schemas.microsoft.com/office/drawing/2014/main" id="{73A7E3E1-667C-419A-A8A5-75A501A4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3BFF5-8B7A-4653-942B-1E35CD61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94AF5-CAE9-4F1F-A3F7-150D4C00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0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Strategy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4CAEDB2-88B0-4295-AE03-7AEDD78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2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Know what the business needs to do consistently.</a:t>
            </a:r>
          </a:p>
        </p:txBody>
      </p:sp>
      <p:sp>
        <p:nvSpPr>
          <p:cNvPr id="12" name="belief-1">
            <a:extLst xmlns:a="http://schemas.openxmlformats.org/drawingml/2006/main">
              <a:ext uri="{FF2B5EF4-FFF2-40B4-BE49-F238E27FC236}">
                <a16:creationId xmlns:a16="http://schemas.microsoft.com/office/drawing/2014/main" id="{8902F79E-BDCC-424A-84FA-CA7A6B32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E1B14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8477D-4F31-4A58-8CDC-802AD3B4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90CB3-B274-4954-92F1-60192D9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Systems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91ACE6FA-3F01-4569-81F3-76B4E66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Build the operating support around high-leverage workflows.</a:t>
            </a:r>
          </a:p>
        </p:txBody>
      </p:sp>
      <p:sp>
        <p:nvSpPr>
          <p:cNvPr id="16" name="belief-2">
            <a:extLst xmlns:a="http://schemas.openxmlformats.org/drawingml/2006/main">
              <a:ext uri="{FF2B5EF4-FFF2-40B4-BE49-F238E27FC236}">
                <a16:creationId xmlns:a16="http://schemas.microsoft.com/office/drawing/2014/main" id="{19C5AFCC-13B1-4A04-8EA1-766550EB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327EA-8CAF-4B22-B040-30107DFE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4C59E-F5B8-43C9-B186-E8DEE222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Content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66AA5508-033F-4C35-80D5-E8B1ECB8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Communicate from what the business can actually deliver.</a:t>
            </a:r>
          </a:p>
        </p:txBody>
      </p:sp>
      <p:sp>
        <p:nvSpPr>
          <p:cNvPr id="20" name="folio-num">
            <a:extLst xmlns:a="http://schemas.openxmlformats.org/drawingml/2006/main">
              <a:ext uri="{FF2B5EF4-FFF2-40B4-BE49-F238E27FC236}">
                <a16:creationId xmlns:a16="http://schemas.microsoft.com/office/drawing/2014/main" id="{0E7D56A0-8B88-4028-A7C3-F29CF8B3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folio-line">
            <a:extLst xmlns:a="http://schemas.openxmlformats.org/drawingml/2006/main">
              <a:ext uri="{FF2B5EF4-FFF2-40B4-BE49-F238E27FC236}">
                <a16:creationId xmlns:a16="http://schemas.microsoft.com/office/drawing/2014/main" id="{82D162DC-B1FF-4793-8139-5A7E850F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21F"/>
            </a:solidFill>
            <a:prstDash val="solid"/>
          </a:ln>
        </p:spPr>
      </p:sp>
      <p:sp>
        <p:nvSpPr>
          <p:cNvPr id="22" name="folio-title">
            <a:extLst xmlns:a="http://schemas.openxmlformats.org/drawingml/2006/main">
              <a:ext uri="{FF2B5EF4-FFF2-40B4-BE49-F238E27FC236}">
                <a16:creationId xmlns:a16="http://schemas.microsoft.com/office/drawing/2014/main" id="{3893B956-72BC-4612-A896-6F33A2B9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8B0A2"/>
                </a:solidFill>
                <a:latin typeface="Aptos"/>
                <a:ea typeface="Aptos"/>
                <a:cs typeface="Aptos"/>
              </a:rPr>
              <a:t>BELIEF</a:t>
            </a:r>
          </a:p>
        </p:txBody>
      </p:sp>
    </p:spTree>
    <p:extLst>
      <p:ext uri="{BB962C8B-B14F-4D97-AF65-F5344CB8AC3E}">
        <p14:creationId xmlns:p14="http://schemas.microsoft.com/office/powerpoint/2010/main" val="1545115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5164B-F18F-4108-A2D8-CFB63692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17C09-8E0C-49F9-A883-F4C9495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141B60ED-0095-489C-BE28-1B4CA6A2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dc562786649e5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A4DBA8D-8B7D-4DBF-B289-2530A5F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THE METHOD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ABE169C-E85B-48CF-BDFD-E09F6E23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One foundation.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Three connected layers.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454D197-A21A-4976-8AD8-0102F2FD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400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The work aligns the operating layer, intelligence layer, and presence layer around how the business actually creates value.</a:t>
            </a:r>
          </a:p>
        </p:txBody>
      </p:sp>
      <p:sp>
        <p:nvSpPr>
          <p:cNvPr id="8" name="prism-0">
            <a:extLst xmlns:a="http://schemas.openxmlformats.org/drawingml/2006/main">
              <a:ext uri="{FF2B5EF4-FFF2-40B4-BE49-F238E27FC236}">
                <a16:creationId xmlns:a16="http://schemas.microsoft.com/office/drawing/2014/main" id="{81100F86-DEC9-40F6-97D4-818912D7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5619750" cy="1771650"/>
          </a:xfrm>
          <a:custGeom xmlns:a="http://schemas.openxmlformats.org/drawingml/2006/main">
            <a:pathLst>
              <a:path w="5619750" h="1771650">
                <a:moveTo>
                  <a:pt x="0" y="876300"/>
                </a:moveTo>
                <a:lnTo>
                  <a:pt x="3048000" y="0"/>
                </a:lnTo>
                <a:lnTo>
                  <a:pt x="5619750" y="876300"/>
                </a:lnTo>
                <a:lnTo>
                  <a:pt x="2590800" y="1771650"/>
                </a:lnTo>
                <a:close/>
              </a:path>
            </a:pathLst>
          </a:custGeom>
          <a:solidFill xmlns:a="http://schemas.openxmlformats.org/drawingml/2006/main">
            <a:srgbClr val="DACDAF"/>
          </a:solidFill>
          <a:ln xmlns:a="http://schemas.openxmlformats.org/drawingml/2006/main" w="9525">
            <a:solidFill>
              <a:srgbClr val="BCA98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6F837-5948-4DCF-A1F7-DD35A034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PRESENCE</a:t>
            </a:r>
          </a:p>
        </p:txBody>
      </p:sp>
      <p:sp>
        <p:nvSpPr>
          <p:cNvPr id="10" name="prism-1">
            <a:extLst xmlns:a="http://schemas.openxmlformats.org/drawingml/2006/main">
              <a:ext uri="{FF2B5EF4-FFF2-40B4-BE49-F238E27FC236}">
                <a16:creationId xmlns:a16="http://schemas.microsoft.com/office/drawing/2014/main" id="{3C497977-5F04-4D43-B906-98B5511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5619750" cy="1771650"/>
          </a:xfrm>
          <a:custGeom xmlns:a="http://schemas.openxmlformats.org/drawingml/2006/main">
            <a:pathLst>
              <a:path w="5619750" h="1771650">
                <a:moveTo>
                  <a:pt x="0" y="876300"/>
                </a:moveTo>
                <a:lnTo>
                  <a:pt x="3048000" y="0"/>
                </a:lnTo>
                <a:lnTo>
                  <a:pt x="5619750" y="876300"/>
                </a:lnTo>
                <a:lnTo>
                  <a:pt x="2590800" y="1771650"/>
                </a:lnTo>
                <a:close/>
              </a:path>
            </a:pathLst>
          </a:cu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9E84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1FB99-5637-42E8-9FA0-59989DFA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12" name="prism-2">
            <a:extLst xmlns:a="http://schemas.openxmlformats.org/drawingml/2006/main">
              <a:ext uri="{FF2B5EF4-FFF2-40B4-BE49-F238E27FC236}">
                <a16:creationId xmlns:a16="http://schemas.microsoft.com/office/drawing/2014/main" id="{C4B42B1E-714B-46AA-B69A-D64CB174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5619750" cy="1771650"/>
          </a:xfrm>
          <a:custGeom xmlns:a="http://schemas.openxmlformats.org/drawingml/2006/main">
            <a:pathLst>
              <a:path w="5619750" h="1771650">
                <a:moveTo>
                  <a:pt x="0" y="876300"/>
                </a:moveTo>
                <a:lnTo>
                  <a:pt x="3048000" y="0"/>
                </a:lnTo>
                <a:lnTo>
                  <a:pt x="5619750" y="876300"/>
                </a:lnTo>
                <a:lnTo>
                  <a:pt x="2590800" y="1771650"/>
                </a:lnTo>
                <a:close/>
              </a:path>
            </a:pathLst>
          </a:custGeom>
          <a:solidFill xmlns:a="http://schemas.openxmlformats.org/drawingml/2006/main">
            <a:srgbClr val="1E1B18"/>
          </a:solidFill>
          <a:ln xmlns:a="http://schemas.openxmlformats.org/drawingml/2006/main" w="9525">
            <a:solidFill>
              <a:srgbClr val="BCA9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0DA07-A262-4758-84A7-CC97FEDD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2E8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9BA80-B57C-476D-BC67-AF1FE1E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19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C22D4-EF24-4EEC-AFE4-3958BD78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5305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843B"/>
            </a:solidFill>
            <a:prstDash val="solid"/>
          </a:ln>
        </p:spPr>
      </p:sp>
      <p:sp>
        <p:nvSpPr>
          <p:cNvPr id="16" name="folio-num">
            <a:extLst xmlns:a="http://schemas.openxmlformats.org/drawingml/2006/main">
              <a:ext uri="{FF2B5EF4-FFF2-40B4-BE49-F238E27FC236}">
                <a16:creationId xmlns:a16="http://schemas.microsoft.com/office/drawing/2014/main" id="{C9105B9D-3934-42D3-B5FF-A7C48C28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folio-line">
            <a:extLst xmlns:a="http://schemas.openxmlformats.org/drawingml/2006/main">
              <a:ext uri="{FF2B5EF4-FFF2-40B4-BE49-F238E27FC236}">
                <a16:creationId xmlns:a16="http://schemas.microsoft.com/office/drawing/2014/main" id="{5786EDD3-DED7-4C76-9016-14FBD3C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18" name="folio-title">
            <a:extLst xmlns:a="http://schemas.openxmlformats.org/drawingml/2006/main">
              <a:ext uri="{FF2B5EF4-FFF2-40B4-BE49-F238E27FC236}">
                <a16:creationId xmlns:a16="http://schemas.microsoft.com/office/drawing/2014/main" id="{0107C3CB-F5D5-41F5-82E8-11E0A86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1408264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35976-A452-4CE3-A51A-283E1B0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D4DF1-6CE7-4586-898B-65DD900A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92996E23-D925-4744-90D6-D9C0FEA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5231b433444f2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A8AA17C-252D-48E2-8FA0-D58CDA02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LAYER 01 / OPERATIONS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8D23603F-A84D-4890-BBC6-7F859D00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Diagnose how the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business actually works.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2EE0947-A1A6-43EB-99B6-C14DD9D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This layer converts founder intuition and team habits into a clear operating map.</a:t>
            </a:r>
          </a:p>
        </p:txBody>
      </p:sp>
      <p:sp>
        <p:nvSpPr>
          <p:cNvPr id="8" name="audit-canvas">
            <a:extLst xmlns:a="http://schemas.openxmlformats.org/drawingml/2006/main">
              <a:ext uri="{FF2B5EF4-FFF2-40B4-BE49-F238E27FC236}">
                <a16:creationId xmlns:a16="http://schemas.microsoft.com/office/drawing/2014/main" id="{41C6A81E-A3F6-469D-8D68-C8B0354E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57250"/>
            <a:ext cx="4476750" cy="49530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6C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945FF-D050-42AD-A516-FF8131BC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620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AUDIT CANVAS</a:t>
            </a:r>
          </a:p>
        </p:txBody>
      </p:sp>
      <p:sp>
        <p:nvSpPr>
          <p:cNvPr id="10" name="audit-q-0">
            <a:extLst xmlns:a="http://schemas.openxmlformats.org/drawingml/2006/main">
              <a:ext uri="{FF2B5EF4-FFF2-40B4-BE49-F238E27FC236}">
                <a16:creationId xmlns:a16="http://schemas.microsoft.com/office/drawing/2014/main" id="{05411C3C-2A4E-4AFE-B039-D1D4EA1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A0A0F"/>
          </a:solidFill>
          <a:ln xmlns:a="http://schemas.openxmlformats.org/drawingml/2006/main" w="9525">
            <a:solidFill>
              <a:srgbClr val="0A0A0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D6C52-F7FD-4E32-98C9-B3EA40AF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Workflow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6F9DA22-C498-4FD8-9931-FB643452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Where does the work actually happen?</a:t>
            </a:r>
          </a:p>
        </p:txBody>
      </p:sp>
      <p:sp>
        <p:nvSpPr>
          <p:cNvPr id="13" name="audit-q-1">
            <a:extLst xmlns:a="http://schemas.openxmlformats.org/drawingml/2006/main">
              <a:ext uri="{FF2B5EF4-FFF2-40B4-BE49-F238E27FC236}">
                <a16:creationId xmlns:a16="http://schemas.microsoft.com/office/drawing/2014/main" id="{648D1927-829F-40A7-B767-C6B30D4B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764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E9D8"/>
          </a:solidFill>
          <a:ln xmlns:a="http://schemas.openxmlformats.org/drawingml/2006/main" w="9525">
            <a:solidFill>
              <a:srgbClr val="D7C8A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9F49E-C1B3-4F9F-BA57-C054BF3D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478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Handoffs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7FADD503-E861-40E5-BBA8-22D126C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907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Where does clarity leave the system?</a:t>
            </a:r>
          </a:p>
        </p:txBody>
      </p:sp>
      <p:sp>
        <p:nvSpPr>
          <p:cNvPr id="16" name="audit-q-2">
            <a:extLst xmlns:a="http://schemas.openxmlformats.org/drawingml/2006/main">
              <a:ext uri="{FF2B5EF4-FFF2-40B4-BE49-F238E27FC236}">
                <a16:creationId xmlns:a16="http://schemas.microsoft.com/office/drawing/2014/main" id="{93023935-469F-4EC9-82E4-0C4D902A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5277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E9D8"/>
          </a:solidFill>
          <a:ln xmlns:a="http://schemas.openxmlformats.org/drawingml/2006/main" w="9525">
            <a:solidFill>
              <a:srgbClr val="D7C8A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020D9-123F-4071-829B-C4D608B5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242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Bottlenecks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70391F7F-B3A7-4E4F-8DEB-18D2589F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What slows action or decision quality?</a:t>
            </a:r>
          </a:p>
        </p:txBody>
      </p:sp>
      <p:sp>
        <p:nvSpPr>
          <p:cNvPr id="19" name="audit-q-3">
            <a:extLst xmlns:a="http://schemas.openxmlformats.org/drawingml/2006/main">
              <a:ext uri="{FF2B5EF4-FFF2-40B4-BE49-F238E27FC236}">
                <a16:creationId xmlns:a16="http://schemas.microsoft.com/office/drawing/2014/main" id="{E4A6716F-FF53-4A30-AFFD-69BC459A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5277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E9D8"/>
          </a:solidFill>
          <a:ln xmlns:a="http://schemas.openxmlformats.org/drawingml/2006/main" w="9525">
            <a:solidFill>
              <a:srgbClr val="D7C8A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983A0-EEA9-4A90-9E08-D04E42F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242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Priority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4D901BA5-6D81-464C-A911-D8FC9457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67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What is worth systemizing first?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9BCAB-B59B-4565-B7C7-95742D20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Observe reality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E44CD-2365-4D75-92EB-AD883070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67150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39B6D-3D0B-46B9-BCDD-C44112F1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576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84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899A5-FE75-43AF-85C3-5D234369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Map friction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E0D20-F13C-46AC-A1A1-E8AB38F8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67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AA064-7B03-483D-A33D-E18EC74C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84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1D5C40-6EFF-4AF9-B8B5-99DD55E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5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Prioritize leverage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A1F45-ABF6-4B6D-BAA1-18893B2C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67150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30" name="folio-num">
            <a:extLst xmlns:a="http://schemas.openxmlformats.org/drawingml/2006/main">
              <a:ext uri="{FF2B5EF4-FFF2-40B4-BE49-F238E27FC236}">
                <a16:creationId xmlns:a16="http://schemas.microsoft.com/office/drawing/2014/main" id="{E20F9629-357B-4E2C-9C47-DFEB82A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folio-line">
            <a:extLst xmlns:a="http://schemas.openxmlformats.org/drawingml/2006/main">
              <a:ext uri="{FF2B5EF4-FFF2-40B4-BE49-F238E27FC236}">
                <a16:creationId xmlns:a16="http://schemas.microsoft.com/office/drawing/2014/main" id="{40A40BDC-C48C-4988-844A-FF0674BE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32" name="folio-title">
            <a:extLst xmlns:a="http://schemas.openxmlformats.org/drawingml/2006/main">
              <a:ext uri="{FF2B5EF4-FFF2-40B4-BE49-F238E27FC236}">
                <a16:creationId xmlns:a16="http://schemas.microsoft.com/office/drawing/2014/main" id="{E6C8592A-7227-4DD1-8F39-89F6E988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417883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F229CA-993C-4629-A126-78214BA8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ark-plane">
            <a:extLst xmlns:a="http://schemas.openxmlformats.org/drawingml/2006/main">
              <a:ext uri="{FF2B5EF4-FFF2-40B4-BE49-F238E27FC236}">
                <a16:creationId xmlns:a16="http://schemas.microsoft.com/office/drawing/2014/main" id="{7B4FBC4F-1573-4B77-BBE8-0097BBDB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238250" y="6858000"/>
                </a:lnTo>
                <a:close/>
              </a:path>
            </a:pathLst>
          </a:cu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ark-wedge">
            <a:extLst xmlns:a="http://schemas.openxmlformats.org/drawingml/2006/main">
              <a:ext uri="{FF2B5EF4-FFF2-40B4-BE49-F238E27FC236}">
                <a16:creationId xmlns:a16="http://schemas.microsoft.com/office/drawing/2014/main" id="{E2D03000-725F-4036-A416-633E1ED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4381500" cy="2095500"/>
          </a:xfrm>
          <a:custGeom xmlns:a="http://schemas.openxmlformats.org/drawingml/2006/main">
            <a:pathLst>
              <a:path w="4381500" h="2095500">
                <a:moveTo>
                  <a:pt x="0" y="0"/>
                </a:moveTo>
                <a:lnTo>
                  <a:pt x="4381500" y="2095500"/>
                </a:lnTo>
                <a:lnTo>
                  <a:pt x="0" y="2095500"/>
                </a:lnTo>
                <a:close/>
              </a:path>
            </a:pathLst>
          </a:custGeom>
          <a:solidFill xmlns:a="http://schemas.openxmlformats.org/drawingml/2006/main">
            <a:srgbClr val="1110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c8fb28e604222"/>
          <a:stretch xmlns:a="http://schemas.openxmlformats.org/drawingml/2006/main"/>
        </p:blipFill>
        <p:spPr>
          <a:xfrm xmlns:a="http://schemas.openxmlformats.org/drawingml/2006/main">
            <a:off x="666750" y="4953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904492AE-5B71-40E6-BA0F-364C0038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LAYER 02 / INTELLIGENCE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65B9FCF1-F227-4CA6-9BEB-64C92952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Design practical systems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around priority workflows.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B8C0795-8673-45FD-8281-E5ACECEA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The build is workflow logic plus support tools, documentation, integrations, and human review checkpoints.</a:t>
            </a:r>
          </a:p>
        </p:txBody>
      </p:sp>
      <p:sp>
        <p:nvSpPr>
          <p:cNvPr id="8" name="blueprint-paper">
            <a:extLst xmlns:a="http://schemas.openxmlformats.org/drawingml/2006/main">
              <a:ext uri="{FF2B5EF4-FFF2-40B4-BE49-F238E27FC236}">
                <a16:creationId xmlns:a16="http://schemas.microsoft.com/office/drawing/2014/main" id="{266EE928-529B-4C8D-AC16-DB0D18E3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33450"/>
            <a:ext cx="4476750" cy="47815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3EFE4"/>
          </a:solidFill>
          <a:ln xmlns:a="http://schemas.openxmlformats.org/drawingml/2006/main" w="9525">
            <a:solidFill>
              <a:srgbClr val="BDAA7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5E952-E276-4AFF-81A7-E1BB1F98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57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SYSTEM BLUEPRINT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1556D-FE54-491A-859B-AD40220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8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C940F-7991-464A-BCC9-F193C113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76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BE630-4DD4-4E0C-9A8C-B4C9F3B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59E59D98-99EF-442B-B5D6-A5B6716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Business reality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166F7-6921-4345-BBD8-8759D96A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8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08DC3-89A1-4967-89D1-E7FC44F1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43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067A3-5134-47E7-A1C9-2E1F8EA8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Logic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84609255-F76C-4B3E-AA5C-4BD9219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Rules + 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B11FC-B09C-416C-B790-1AD02478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84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ED670-ACE6-4157-B497-B18A6FD5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843B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8DC4F-7558-45CD-9F27-6662025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Support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A088D274-6480-4349-B57F-6651CC86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AI +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C1496-C874-4ECB-B996-59CEBAA4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8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5C309-DFA3-4FCB-8FB7-D55D26F3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76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F9F52-2BF4-40A2-9A70-E9D3AA04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25" name="body">
            <a:extLst xmlns:a="http://schemas.openxmlformats.org/drawingml/2006/main">
              <a:ext uri="{FF2B5EF4-FFF2-40B4-BE49-F238E27FC236}">
                <a16:creationId xmlns:a16="http://schemas.microsoft.com/office/drawing/2014/main" id="{D48AD9F7-EB63-4615-B290-4A5FE2AC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Human checkpoints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A798B-DD77-4529-B124-0189C17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1010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8A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CBEE3-9140-435B-8392-E448F7C5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12D56-7260-4D53-8737-A8A9955C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29" name="body">
            <a:extLst xmlns:a="http://schemas.openxmlformats.org/drawingml/2006/main">
              <a:ext uri="{FF2B5EF4-FFF2-40B4-BE49-F238E27FC236}">
                <a16:creationId xmlns:a16="http://schemas.microsoft.com/office/drawing/2014/main" id="{54447C26-6843-48EE-A157-F213BCEB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Usable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C697C-78E5-4D68-89CE-9A8FB836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8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Designed for appropriate reliance, not blind automation.</a:t>
            </a:r>
          </a:p>
        </p:txBody>
      </p:sp>
      <p:sp>
        <p:nvSpPr>
          <p:cNvPr id="31" name="folio-num">
            <a:extLst xmlns:a="http://schemas.openxmlformats.org/drawingml/2006/main">
              <a:ext uri="{FF2B5EF4-FFF2-40B4-BE49-F238E27FC236}">
                <a16:creationId xmlns:a16="http://schemas.microsoft.com/office/drawing/2014/main" id="{09C1B870-9202-4F84-8507-722ADCCF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2" name="folio-line">
            <a:extLst xmlns:a="http://schemas.openxmlformats.org/drawingml/2006/main">
              <a:ext uri="{FF2B5EF4-FFF2-40B4-BE49-F238E27FC236}">
                <a16:creationId xmlns:a16="http://schemas.microsoft.com/office/drawing/2014/main" id="{C3E38823-2716-4DFF-BCFC-66537EE9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21F"/>
            </a:solidFill>
            <a:prstDash val="solid"/>
          </a:ln>
        </p:spPr>
      </p:sp>
      <p:sp>
        <p:nvSpPr>
          <p:cNvPr id="33" name="folio-title">
            <a:extLst xmlns:a="http://schemas.openxmlformats.org/drawingml/2006/main">
              <a:ext uri="{FF2B5EF4-FFF2-40B4-BE49-F238E27FC236}">
                <a16:creationId xmlns:a16="http://schemas.microsoft.com/office/drawing/2014/main" id="{2E400A7C-FB88-4B9C-B507-45D274E2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8B0A2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</p:spTree>
    <p:extLst>
      <p:ext uri="{BB962C8B-B14F-4D97-AF65-F5344CB8AC3E}">
        <p14:creationId xmlns:p14="http://schemas.microsoft.com/office/powerpoint/2010/main" val="866517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2CD7D-477D-49D0-92DD-8F60A6DF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8BAAE-D61B-43BE-936C-C1601FFE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AAA68586-5F42-4B59-ABCF-D60775F9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0bd0bd0484a33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D6DF1AD-F5A8-4F8E-B51F-63DB2ED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LAYER 03 / PRESENCE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C10CA143-E393-4AED-B055-37A16F63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Translate internal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clarity into external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communication.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BE6903C-11DF-4870-9634-2BAA5938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Content becomes a system of trust when it reflects the way the business actually creates value.</a:t>
            </a:r>
          </a:p>
        </p:txBody>
      </p:sp>
      <p:sp>
        <p:nvSpPr>
          <p:cNvPr id="8" name="presence-0">
            <a:extLst xmlns:a="http://schemas.openxmlformats.org/drawingml/2006/main">
              <a:ext uri="{FF2B5EF4-FFF2-40B4-BE49-F238E27FC236}">
                <a16:creationId xmlns:a16="http://schemas.microsoft.com/office/drawing/2014/main" id="{85E6DEB9-4A67-49F9-9B70-05D0D05C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3333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0A0F"/>
          </a:solidFill>
          <a:ln xmlns:a="http://schemas.openxmlformats.org/drawingml/2006/main" w="9525">
            <a:solidFill>
              <a:srgbClr val="0A0A0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8D936-7CFD-472C-B3D0-8A91716F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Narrative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F0B8A52-35F2-4A20-BED3-A89656A5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19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Founder story, offer language, category framing, and point of view.</a:t>
            </a:r>
          </a:p>
        </p:txBody>
      </p:sp>
      <p:sp>
        <p:nvSpPr>
          <p:cNvPr id="11" name="presence-1">
            <a:extLst xmlns:a="http://schemas.openxmlformats.org/drawingml/2006/main">
              <a:ext uri="{FF2B5EF4-FFF2-40B4-BE49-F238E27FC236}">
                <a16:creationId xmlns:a16="http://schemas.microsoft.com/office/drawing/2014/main" id="{4D84AC19-FA8C-40BD-B5DD-9E89979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3333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3B34"/>
          </a:solidFill>
          <a:ln xmlns:a="http://schemas.openxmlformats.org/drawingml/2006/main" w="9525">
            <a:solidFill>
              <a:srgbClr val="C9BA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4F973-6BDC-44B7-A866-EB29033A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Content system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C0365CB3-99B4-4B11-8FC8-6B244B1F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Formats, channels, cadence, and repurposing logic.</a:t>
            </a:r>
          </a:p>
        </p:txBody>
      </p:sp>
      <p:sp>
        <p:nvSpPr>
          <p:cNvPr id="14" name="presence-2">
            <a:extLst xmlns:a="http://schemas.openxmlformats.org/drawingml/2006/main">
              <a:ext uri="{FF2B5EF4-FFF2-40B4-BE49-F238E27FC236}">
                <a16:creationId xmlns:a16="http://schemas.microsoft.com/office/drawing/2014/main" id="{76381861-9F06-4024-938A-1BF39A24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24250"/>
            <a:ext cx="3333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DDC8"/>
          </a:solidFill>
          <a:ln xmlns:a="http://schemas.openxmlformats.org/drawingml/2006/main" w="9525">
            <a:solidFill>
              <a:srgbClr val="C9BA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A1DCB-D0D1-4967-9EBA-B0F6C7A4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Governance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66B6AFC3-374D-44C0-87B7-80CC4431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14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Ownership, review rhythm, standards, maintenance, and removal.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FFEFA-A211-4882-BFE5-52512BD2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E84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7B9B5-C1DB-451F-AA26-EEF4FCFF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3409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Presence is not output volume. It is how internal clarity becomes market trust.</a:t>
            </a:r>
          </a:p>
        </p:txBody>
      </p:sp>
      <p:sp>
        <p:nvSpPr>
          <p:cNvPr id="19" name="folio-num">
            <a:extLst xmlns:a="http://schemas.openxmlformats.org/drawingml/2006/main">
              <a:ext uri="{FF2B5EF4-FFF2-40B4-BE49-F238E27FC236}">
                <a16:creationId xmlns:a16="http://schemas.microsoft.com/office/drawing/2014/main" id="{F8EC545F-0F42-4AB6-861D-26AFC524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0" name="folio-line">
            <a:extLst xmlns:a="http://schemas.openxmlformats.org/drawingml/2006/main">
              <a:ext uri="{FF2B5EF4-FFF2-40B4-BE49-F238E27FC236}">
                <a16:creationId xmlns:a16="http://schemas.microsoft.com/office/drawing/2014/main" id="{C37CF76B-FD79-4DEB-AB13-AF7AE86C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21" name="folio-title">
            <a:extLst xmlns:a="http://schemas.openxmlformats.org/drawingml/2006/main">
              <a:ext uri="{FF2B5EF4-FFF2-40B4-BE49-F238E27FC236}">
                <a16:creationId xmlns:a16="http://schemas.microsoft.com/office/drawing/2014/main" id="{B3A69373-540D-4B66-9D38-92E0DF92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PRESENCE</a:t>
            </a:r>
          </a:p>
        </p:txBody>
      </p:sp>
    </p:spTree>
    <p:extLst>
      <p:ext uri="{BB962C8B-B14F-4D97-AF65-F5344CB8AC3E}">
        <p14:creationId xmlns:p14="http://schemas.microsoft.com/office/powerpoint/2010/main" val="1685371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C2D02-AF2B-4A79-942F-E5021C1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3285B-535F-4EC9-AA0D-3C1F8B9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8340CB4D-9FD5-4709-90D2-16E0C85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e15ef87384728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ACFB263-529A-43B9-B590-D311247A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AI ENABLEMENT AND ADOPTION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A21B9FA5-A61E-47B0-8C87-2298F9F9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Human-collaborative,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not fully automated.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FBF3B4D-8736-4033-8BA0-579FFDA3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Kramaniti defines where AI assists, where people override, and which decisions remain human-led.</a:t>
            </a:r>
          </a:p>
        </p:txBody>
      </p:sp>
      <p:sp>
        <p:nvSpPr>
          <p:cNvPr id="8" name="decision-matrix">
            <a:extLst xmlns:a="http://schemas.openxmlformats.org/drawingml/2006/main">
              <a:ext uri="{FF2B5EF4-FFF2-40B4-BE49-F238E27FC236}">
                <a16:creationId xmlns:a16="http://schemas.microsoft.com/office/drawing/2014/main" id="{85C4A3FC-FF76-4050-B320-4918A22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91440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7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A31DA-A784-4FD8-8380-1C308332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DECISION RIGHTS</a:t>
            </a:r>
          </a:p>
        </p:txBody>
      </p:sp>
      <p:sp>
        <p:nvSpPr>
          <p:cNvPr id="10" name="matrix-label-0">
            <a:extLst xmlns:a="http://schemas.openxmlformats.org/drawingml/2006/main">
              <a:ext uri="{FF2B5EF4-FFF2-40B4-BE49-F238E27FC236}">
                <a16:creationId xmlns:a16="http://schemas.microsoft.com/office/drawing/2014/main" id="{75260661-D216-47F7-B3CA-165E92D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42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EA87C-C9A3-407A-BB73-981D04EC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907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2E8"/>
                </a:solidFill>
                <a:latin typeface="Aptos"/>
                <a:ea typeface="Aptos"/>
                <a:cs typeface="Aptos"/>
              </a:rPr>
              <a:t>Automated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777A031C-2490-442B-A6A0-1349DEEC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Repeatable, low-risk, reversible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B14E2-0209-4C16-A9B4-61763E8C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8AA"/>
            </a:solidFill>
            <a:prstDash val="solid"/>
          </a:ln>
        </p:spPr>
      </p:sp>
      <p:sp>
        <p:nvSpPr>
          <p:cNvPr id="14" name="matrix-label-1">
            <a:extLst xmlns:a="http://schemas.openxmlformats.org/drawingml/2006/main">
              <a:ext uri="{FF2B5EF4-FFF2-40B4-BE49-F238E27FC236}">
                <a16:creationId xmlns:a16="http://schemas.microsoft.com/office/drawing/2014/main" id="{F5449A60-E08F-4A00-94DD-9559097C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42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9A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B712B-0D73-456B-AADF-4543610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AI-assisted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11F2E371-342D-4784-B5E9-12B256F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Drafting, synthesis, research, decision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7CAD4-A5B5-4B03-9D02-A72AF63F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8AA"/>
            </a:solidFill>
            <a:prstDash val="solid"/>
          </a:ln>
        </p:spPr>
      </p:sp>
      <p:sp>
        <p:nvSpPr>
          <p:cNvPr id="18" name="matrix-label-2">
            <a:extLst xmlns:a="http://schemas.openxmlformats.org/drawingml/2006/main">
              <a:ext uri="{FF2B5EF4-FFF2-40B4-BE49-F238E27FC236}">
                <a16:creationId xmlns:a16="http://schemas.microsoft.com/office/drawing/2014/main" id="{82611B33-B1B9-40C0-8BB4-B86B07CE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142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29EEE-79EC-4DBB-82E2-0C0BBFF5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7F2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2E8"/>
                </a:solidFill>
                <a:latin typeface="Aptos"/>
                <a:ea typeface="Aptos"/>
                <a:cs typeface="Aptos"/>
              </a:rPr>
              <a:t>Human-led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33AE3D23-512A-41DB-B3C8-9836EFC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Trust, context, taste, risk, accountability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2B1B1-6BE2-446A-9227-0BF5F00C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8AA"/>
            </a:solidFill>
            <a:prstDash val="solid"/>
          </a:ln>
        </p:spPr>
      </p:sp>
      <p:sp>
        <p:nvSpPr>
          <p:cNvPr id="22" name="adoption-callout">
            <a:extLst xmlns:a="http://schemas.openxmlformats.org/drawingml/2006/main">
              <a:ext uri="{FF2B5EF4-FFF2-40B4-BE49-F238E27FC236}">
                <a16:creationId xmlns:a16="http://schemas.microsoft.com/office/drawing/2014/main" id="{D26662DA-86F7-4DB5-BED5-B1234E8A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714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A0A0F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D5E5A-BC95-4819-BEF6-9AD89824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9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The aim is useful adoption, not theatre.</a:t>
            </a:r>
          </a:p>
        </p:txBody>
      </p:sp>
      <p:sp>
        <p:nvSpPr>
          <p:cNvPr id="24" name="body">
            <a:extLst xmlns:a="http://schemas.openxmlformats.org/drawingml/2006/main">
              <a:ext uri="{FF2B5EF4-FFF2-40B4-BE49-F238E27FC236}">
                <a16:creationId xmlns:a16="http://schemas.microsoft.com/office/drawing/2014/main" id="{0378A1ED-459C-4BC5-832B-64CCF29D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1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Every workflow clarifies ownership, override points, and review rhythm.</a:t>
            </a:r>
          </a:p>
        </p:txBody>
      </p:sp>
      <p:sp>
        <p:nvSpPr>
          <p:cNvPr id="25" name="folio-num">
            <a:extLst xmlns:a="http://schemas.openxmlformats.org/drawingml/2006/main">
              <a:ext uri="{FF2B5EF4-FFF2-40B4-BE49-F238E27FC236}">
                <a16:creationId xmlns:a16="http://schemas.microsoft.com/office/drawing/2014/main" id="{E4C3E4E9-80CC-48B8-B643-BC59D95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6" name="folio-line">
            <a:extLst xmlns:a="http://schemas.openxmlformats.org/drawingml/2006/main">
              <a:ext uri="{FF2B5EF4-FFF2-40B4-BE49-F238E27FC236}">
                <a16:creationId xmlns:a16="http://schemas.microsoft.com/office/drawing/2014/main" id="{BB6DCE1C-D2DB-47B1-BAA4-79F008A2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27" name="folio-title">
            <a:extLst xmlns:a="http://schemas.openxmlformats.org/drawingml/2006/main">
              <a:ext uri="{FF2B5EF4-FFF2-40B4-BE49-F238E27FC236}">
                <a16:creationId xmlns:a16="http://schemas.microsoft.com/office/drawing/2014/main" id="{768AED03-12EB-400F-A60B-7C3073BF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ADOPTION</a:t>
            </a:r>
          </a:p>
        </p:txBody>
      </p:sp>
    </p:spTree>
    <p:extLst>
      <p:ext uri="{BB962C8B-B14F-4D97-AF65-F5344CB8AC3E}">
        <p14:creationId xmlns:p14="http://schemas.microsoft.com/office/powerpoint/2010/main" val="658678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C98D2-6BC6-478F-9F05-0D09640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ark-plane">
            <a:extLst xmlns:a="http://schemas.openxmlformats.org/drawingml/2006/main">
              <a:ext uri="{FF2B5EF4-FFF2-40B4-BE49-F238E27FC236}">
                <a16:creationId xmlns:a16="http://schemas.microsoft.com/office/drawing/2014/main" id="{D617FE35-5342-482E-8A3B-A5D1AE76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238250" y="6858000"/>
                </a:lnTo>
                <a:close/>
              </a:path>
            </a:pathLst>
          </a:cu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ark-wedge">
            <a:extLst xmlns:a="http://schemas.openxmlformats.org/drawingml/2006/main">
              <a:ext uri="{FF2B5EF4-FFF2-40B4-BE49-F238E27FC236}">
                <a16:creationId xmlns:a16="http://schemas.microsoft.com/office/drawing/2014/main" id="{402C33DF-3A15-406E-AC75-95AF3271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4381500" cy="2095500"/>
          </a:xfrm>
          <a:custGeom xmlns:a="http://schemas.openxmlformats.org/drawingml/2006/main">
            <a:pathLst>
              <a:path w="4381500" h="2095500">
                <a:moveTo>
                  <a:pt x="0" y="0"/>
                </a:moveTo>
                <a:lnTo>
                  <a:pt x="4381500" y="2095500"/>
                </a:lnTo>
                <a:lnTo>
                  <a:pt x="0" y="2095500"/>
                </a:lnTo>
                <a:close/>
              </a:path>
            </a:pathLst>
          </a:custGeom>
          <a:solidFill xmlns:a="http://schemas.openxmlformats.org/drawingml/2006/main">
            <a:srgbClr val="1110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15b240d614fa9"/>
          <a:stretch xmlns:a="http://schemas.openxmlformats.org/drawingml/2006/main"/>
        </p:blipFill>
        <p:spPr>
          <a:xfrm xmlns:a="http://schemas.openxmlformats.org/drawingml/2006/main">
            <a:off x="666750" y="4953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6BD228A8-9E05-4396-A05B-16DDA2A6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SERVICE ARCHITECTURE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7915BFA-87D9-4957-A7D3-A53597C0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Three ways to create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alignment.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8AB99A8-A9DC-404B-819B-3BDC6E1E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Choose the level of clarity, build depth, and continuity your brand needs.</a:t>
            </a:r>
          </a:p>
        </p:txBody>
      </p:sp>
      <p:sp>
        <p:nvSpPr>
          <p:cNvPr id="8" name="offer-0">
            <a:extLst xmlns:a="http://schemas.openxmlformats.org/drawingml/2006/main">
              <a:ext uri="{FF2B5EF4-FFF2-40B4-BE49-F238E27FC236}">
                <a16:creationId xmlns:a16="http://schemas.microsoft.com/office/drawing/2014/main" id="{AC658569-6C41-4BED-830C-37B48655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85900"/>
            <a:ext cx="1562100" cy="34290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17171C"/>
          </a:solidFill>
          <a:ln xmlns:a="http://schemas.openxmlformats.org/drawingml/2006/main" w="9525">
            <a:solidFill>
              <a:srgbClr val="3A34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759D7-DF9C-4892-A137-EFCE0CE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D77FA-2F8B-497C-A6F4-2555A81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1162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Foundation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Alignment Audit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2F6CF5B-2B8A-43FC-A9FF-96A70ED9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718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Clarity before tools, AI, or content volume.</a:t>
            </a:r>
          </a:p>
        </p:txBody>
      </p:sp>
      <p:sp>
        <p:nvSpPr>
          <p:cNvPr id="12" name="offer-1">
            <a:extLst xmlns:a="http://schemas.openxmlformats.org/drawingml/2006/main">
              <a:ext uri="{FF2B5EF4-FFF2-40B4-BE49-F238E27FC236}">
                <a16:creationId xmlns:a16="http://schemas.microsoft.com/office/drawing/2014/main" id="{35AB42B6-9C2B-4C9F-8C2B-B38FE68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485900"/>
            <a:ext cx="1562100" cy="34290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3EFE4"/>
          </a:solidFill>
          <a:ln xmlns:a="http://schemas.openxmlformats.org/drawingml/2006/main" w="9525">
            <a:solidFill>
              <a:srgbClr val="F3EF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9605F-0B76-4F39-BBA9-FA525E8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9E84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9E843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932F2-B6A3-402B-A9E3-567DD436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162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System Build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D3FB7169-B5F5-4DD6-ADA2-EE1583AB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Practical systems around the workflow that matters.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ED257-0733-4C1A-A018-C1C48507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A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6BB0C-8E7E-4EE2-B423-CB5D7A3B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86275"/>
            <a:ext cx="11049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RECOMMENDED</a:t>
            </a:r>
          </a:p>
        </p:txBody>
      </p:sp>
      <p:sp>
        <p:nvSpPr>
          <p:cNvPr id="18" name="offer-2">
            <a:extLst xmlns:a="http://schemas.openxmlformats.org/drawingml/2006/main">
              <a:ext uri="{FF2B5EF4-FFF2-40B4-BE49-F238E27FC236}">
                <a16:creationId xmlns:a16="http://schemas.microsoft.com/office/drawing/2014/main" id="{A349C0D7-0EE9-4996-ABA8-B49A355A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85900"/>
            <a:ext cx="1562100" cy="34290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17171C"/>
          </a:solidFill>
          <a:ln xmlns:a="http://schemas.openxmlformats.org/drawingml/2006/main" w="9525">
            <a:solidFill>
              <a:srgbClr val="3A34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AC073-53D8-4689-B3C3-597344ED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BE328-CC03-4662-AFC4-71670F33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162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Alignment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Retainer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0390FB84-FBBD-4DB2-8028-40A85B9F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718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Continuous refinement of systems, adoption, and presence.</a:t>
            </a:r>
          </a:p>
        </p:txBody>
      </p:sp>
      <p:sp>
        <p:nvSpPr>
          <p:cNvPr id="22" name="folio-num">
            <a:extLst xmlns:a="http://schemas.openxmlformats.org/drawingml/2006/main">
              <a:ext uri="{FF2B5EF4-FFF2-40B4-BE49-F238E27FC236}">
                <a16:creationId xmlns:a16="http://schemas.microsoft.com/office/drawing/2014/main" id="{6E37F042-7D48-4E57-A0EB-228637B1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3" name="folio-line">
            <a:extLst xmlns:a="http://schemas.openxmlformats.org/drawingml/2006/main">
              <a:ext uri="{FF2B5EF4-FFF2-40B4-BE49-F238E27FC236}">
                <a16:creationId xmlns:a16="http://schemas.microsoft.com/office/drawing/2014/main" id="{0AF6D68F-7AD6-4387-B671-04615DA8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21F"/>
            </a:solidFill>
            <a:prstDash val="solid"/>
          </a:ln>
        </p:spPr>
      </p:sp>
      <p:sp>
        <p:nvSpPr>
          <p:cNvPr id="24" name="folio-title">
            <a:extLst xmlns:a="http://schemas.openxmlformats.org/drawingml/2006/main">
              <a:ext uri="{FF2B5EF4-FFF2-40B4-BE49-F238E27FC236}">
                <a16:creationId xmlns:a16="http://schemas.microsoft.com/office/drawing/2014/main" id="{B78C64BF-67BF-4C9E-A032-E36CCB1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8B0A2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656736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3B83B1-5A7C-465C-9AD8-CB443E3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21AA3-E5F1-47DD-8146-54D46FB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93FFAD4E-D1D4-490B-AACD-9B5A4961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78f52dbdb482c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5CACE32-1C29-4898-9F99-C97C192D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EXECUTION MODEL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DD3426F2-F86D-40D3-A0EF-B7D1FBF0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From business reality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to aligned growth system.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562B7DD-E6C3-4575-902B-4D7C6941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Execution moves through clear stage gates so strategy, systems, adoption, and communication stay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D21AE-B611-4A36-AEAD-9CC789B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24916-73FC-4FBD-9226-53A5E02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478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93B6A-2145-402B-9D9A-06F726DE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76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Diagnose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AE930-B09F-4318-8745-07DC6106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44BF7-8292-4617-B0F2-B2B708B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76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721E-8F1C-4874-9D68-79A93731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478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94ACD-DB04-4EF6-8E7A-F9D0CF6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76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Define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1696A-B74A-486F-8515-5C0ADCE5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13335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578BC-B104-48DF-9435-A2377F6A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8BDAA-3DF8-474F-9385-22E08069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D4682-D26A-4D15-91D7-A4E1B75B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4E1DF-1401-4C28-8E73-795FCED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-13335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B43F5-D77F-4C24-BBF5-A164914C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39EF8-D7BE-4B99-8BB8-95E2D9DC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813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F19A8-F5EC-45D3-8CCE-009C27DB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09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1FE24-6D67-4B5E-BDD1-DFC2CA3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-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2C32A-9EEF-49D7-9FAC-3BA0ECE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FE5C5-EB7A-496E-BB22-FF6BB89B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813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555B4-B1F7-4DD0-A02A-F49801D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09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Enable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650E0C-B637-49F9-B60F-1626B633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33350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02445-0A3D-4BAF-BA2C-A0CA7A6A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43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DE5A2-052B-4160-B62C-82D19F02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148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CF065D-5A69-47E7-8466-4E048BB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43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Translate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021C9-5135-4539-87E4-8BF649F2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45FCC1-00C9-4723-9DD4-832BA373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43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1C3E0-E82E-466D-BC11-03E7E52B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148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68F9F-6A16-4299-9468-7D05A276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43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Refine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B5730F-963B-4B7E-B636-8AA46F8F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486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D041E-9CF0-4B6E-B424-5AE86318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2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Input: business reality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Output: coherent growth</a:t>
            </a:r>
          </a:p>
        </p:txBody>
      </p:sp>
      <p:sp>
        <p:nvSpPr>
          <p:cNvPr id="37" name="folio-num">
            <a:extLst xmlns:a="http://schemas.openxmlformats.org/drawingml/2006/main">
              <a:ext uri="{FF2B5EF4-FFF2-40B4-BE49-F238E27FC236}">
                <a16:creationId xmlns:a16="http://schemas.microsoft.com/office/drawing/2014/main" id="{E586A438-FDFA-47CE-AE61-47957272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8" name="folio-line">
            <a:extLst xmlns:a="http://schemas.openxmlformats.org/drawingml/2006/main">
              <a:ext uri="{FF2B5EF4-FFF2-40B4-BE49-F238E27FC236}">
                <a16:creationId xmlns:a16="http://schemas.microsoft.com/office/drawing/2014/main" id="{14CBF3DC-75A9-48BB-9087-9DD5DCC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39" name="folio-title">
            <a:extLst xmlns:a="http://schemas.openxmlformats.org/drawingml/2006/main">
              <a:ext uri="{FF2B5EF4-FFF2-40B4-BE49-F238E27FC236}">
                <a16:creationId xmlns:a16="http://schemas.microsoft.com/office/drawing/2014/main" id="{EC9F0C89-6B24-4017-A7A8-26858BA4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12898631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92C4B-2621-4EDF-A95D-B1BCDF60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0272F-6C82-4C8A-B364-2F1C7CA2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4090DECD-4565-4CF3-8F75-F0D76CD2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8a5a4a828407c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13FE21CF-6088-4526-B32F-26B237E4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FIRST ENGAGEMENT OUTPUT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50727812-3025-4247-8D9E-B28AD1E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Find the first system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worth building.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9975447-70A5-4AAD-925C-4CA2773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The audit should leave a founder with sharper operating logic and a practical next move.</a:t>
            </a:r>
          </a:p>
        </p:txBody>
      </p:sp>
      <p:sp>
        <p:nvSpPr>
          <p:cNvPr id="8" name="audit-doc">
            <a:extLst xmlns:a="http://schemas.openxmlformats.org/drawingml/2006/main">
              <a:ext uri="{FF2B5EF4-FFF2-40B4-BE49-F238E27FC236}">
                <a16:creationId xmlns:a16="http://schemas.microsoft.com/office/drawing/2014/main" id="{85569929-2000-4604-B571-61235B2E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62000"/>
            <a:ext cx="3714750" cy="49530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55872-248E-4D74-8891-31F5E74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ALIGNMENT AUDIT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368E2-10D4-403A-B9E0-63B8F8AC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84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B337B-9A44-4923-918A-B4F9A922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C4BA2-C24A-4884-8E83-8CA78542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Operational clarity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BFB94EEA-CE57-4497-9D2C-1B1AA8FF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What is happening, where friction lives, and what must stay human-led.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201A7-2142-4ABF-9585-18468593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5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1A8C3-CC07-467C-9735-314C57FE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B2070-E226-4329-8D7F-78369ED9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Priority workflow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DCFE2FA8-8386-446E-A1E9-998F3447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The workflow with enough value, pain, and adoption readiness.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0AC9C-6581-438E-B11A-39BA7F7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5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7FDA4-1D1D-46CB-9FFF-F75A262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E3FEF-8981-46FF-899B-DAD0A828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81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Practical next step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D6CFA5E9-F1B9-4DDA-8B09-894FC52A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What to document, automate, integrate, review, or communicate first.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B8D60-A6EE-43B8-8567-74CB560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5BC"/>
            </a:solidFill>
            <a:prstDash val="solid"/>
          </a:ln>
        </p:spPr>
      </p:sp>
      <p:sp>
        <p:nvSpPr>
          <p:cNvPr id="23" name="folio-num">
            <a:extLst xmlns:a="http://schemas.openxmlformats.org/drawingml/2006/main">
              <a:ext uri="{FF2B5EF4-FFF2-40B4-BE49-F238E27FC236}">
                <a16:creationId xmlns:a16="http://schemas.microsoft.com/office/drawing/2014/main" id="{33BF89A4-A4F2-4006-9C4D-0EEEC14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4" name="folio-line">
            <a:extLst xmlns:a="http://schemas.openxmlformats.org/drawingml/2006/main">
              <a:ext uri="{FF2B5EF4-FFF2-40B4-BE49-F238E27FC236}">
                <a16:creationId xmlns:a16="http://schemas.microsoft.com/office/drawing/2014/main" id="{79EE550F-2CA2-4D8E-AFE5-16D5AF74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25" name="folio-title">
            <a:extLst xmlns:a="http://schemas.openxmlformats.org/drawingml/2006/main">
              <a:ext uri="{FF2B5EF4-FFF2-40B4-BE49-F238E27FC236}">
                <a16:creationId xmlns:a16="http://schemas.microsoft.com/office/drawing/2014/main" id="{587F0639-F9C5-4805-96A7-C238B353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AUDIT OUTPUT</a:t>
            </a:r>
          </a:p>
        </p:txBody>
      </p:sp>
    </p:spTree>
    <p:extLst>
      <p:ext uri="{BB962C8B-B14F-4D97-AF65-F5344CB8AC3E}">
        <p14:creationId xmlns:p14="http://schemas.microsoft.com/office/powerpoint/2010/main" val="11796569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8D3A4-28AA-46EA-81D0-CA0156A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ark-plane">
            <a:extLst xmlns:a="http://schemas.openxmlformats.org/drawingml/2006/main">
              <a:ext uri="{FF2B5EF4-FFF2-40B4-BE49-F238E27FC236}">
                <a16:creationId xmlns:a16="http://schemas.microsoft.com/office/drawing/2014/main" id="{F9A2DA0E-C912-4BD4-BDA7-7956F2C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238250" y="6858000"/>
                </a:lnTo>
                <a:close/>
              </a:path>
            </a:pathLst>
          </a:cu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ark-wedge">
            <a:extLst xmlns:a="http://schemas.openxmlformats.org/drawingml/2006/main">
              <a:ext uri="{FF2B5EF4-FFF2-40B4-BE49-F238E27FC236}">
                <a16:creationId xmlns:a16="http://schemas.microsoft.com/office/drawing/2014/main" id="{E8EA3F9F-F884-45D8-B113-8909B5A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4381500" cy="2095500"/>
          </a:xfrm>
          <a:custGeom xmlns:a="http://schemas.openxmlformats.org/drawingml/2006/main">
            <a:pathLst>
              <a:path w="4381500" h="2095500">
                <a:moveTo>
                  <a:pt x="0" y="0"/>
                </a:moveTo>
                <a:lnTo>
                  <a:pt x="4381500" y="2095500"/>
                </a:lnTo>
                <a:lnTo>
                  <a:pt x="0" y="2095500"/>
                </a:lnTo>
                <a:close/>
              </a:path>
            </a:pathLst>
          </a:custGeom>
          <a:solidFill xmlns:a="http://schemas.openxmlformats.org/drawingml/2006/main">
            <a:srgbClr val="1110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cb8d2b64e4476"/>
          <a:stretch xmlns:a="http://schemas.openxmlformats.org/drawingml/2006/main"/>
        </p:blipFill>
        <p:spPr>
          <a:xfrm xmlns:a="http://schemas.openxmlformats.org/drawingml/2006/main">
            <a:off x="666750" y="4953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8BFA20F-BEE2-47B1-9FA1-30D43223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BUILD OUTPUT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40C3D88C-5D9C-47F3-B566-2B47DF4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From workflow map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2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to operating infrastructure.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B1CDEF5-FDB3-490C-A11C-3670C341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The deliverable is not only a tool. It is the workflow, documentation, adoption logic, review points, and communication layer that make the system useful.</a:t>
            </a:r>
          </a:p>
        </p:txBody>
      </p:sp>
      <p:sp>
        <p:nvSpPr>
          <p:cNvPr id="8" name="blueprint-dark">
            <a:extLst xmlns:a="http://schemas.openxmlformats.org/drawingml/2006/main">
              <a:ext uri="{FF2B5EF4-FFF2-40B4-BE49-F238E27FC236}">
                <a16:creationId xmlns:a16="http://schemas.microsoft.com/office/drawing/2014/main" id="{ECAFD4D3-22D9-4B13-81C2-F15A29B4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4476750" cy="4572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E1013"/>
          </a:solidFill>
          <a:ln xmlns:a="http://schemas.openxmlformats.org/drawingml/2006/main" w="9525">
            <a:solidFill>
              <a:srgbClr val="3A34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91CE-EA69-4CCC-B294-E97DD3C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14287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A98C2-1E07-43C8-9B16-03A4EC3A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-14478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50EB2-F9E7-4A03-8ED3-E75C2684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14478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E843B"/>
            </a:solidFill>
            <a:prstDash val="solid"/>
          </a:ln>
        </p:spPr>
      </p:sp>
      <p:sp>
        <p:nvSpPr>
          <p:cNvPr id="12" name="build-block-0">
            <a:extLst xmlns:a="http://schemas.openxmlformats.org/drawingml/2006/main">
              <a:ext uri="{FF2B5EF4-FFF2-40B4-BE49-F238E27FC236}">
                <a16:creationId xmlns:a16="http://schemas.microsoft.com/office/drawing/2014/main" id="{C61BC457-EC91-46CB-82EB-772B7AFA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81100"/>
            <a:ext cx="1638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9023B-4374-4EF5-A8EB-E015F64C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Workflow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architecture</a:t>
            </a:r>
          </a:p>
        </p:txBody>
      </p:sp>
      <p:sp>
        <p:nvSpPr>
          <p:cNvPr id="14" name="build-block-1">
            <a:extLst xmlns:a="http://schemas.openxmlformats.org/drawingml/2006/main">
              <a:ext uri="{FF2B5EF4-FFF2-40B4-BE49-F238E27FC236}">
                <a16:creationId xmlns:a16="http://schemas.microsoft.com/office/drawing/2014/main" id="{0D56C6AC-83BE-4F6C-A5CC-E69E04A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1638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F3B34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E7B2D-FCF2-4B62-8E84-16CF2F7B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Internal tool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or assistant</a:t>
            </a:r>
          </a:p>
        </p:txBody>
      </p:sp>
      <p:sp>
        <p:nvSpPr>
          <p:cNvPr id="16" name="build-block-2">
            <a:extLst xmlns:a="http://schemas.openxmlformats.org/drawingml/2006/main">
              <a:ext uri="{FF2B5EF4-FFF2-40B4-BE49-F238E27FC236}">
                <a16:creationId xmlns:a16="http://schemas.microsoft.com/office/drawing/2014/main" id="{E266CEEE-37F0-4CC4-AD3C-B1F134D4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638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A6FCE-8CA1-4ED0-8DF6-77B287AF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Documentation</a:t>
            </a:r>
          </a:p>
        </p:txBody>
      </p:sp>
      <p:sp>
        <p:nvSpPr>
          <p:cNvPr id="18" name="build-block-3">
            <a:extLst xmlns:a="http://schemas.openxmlformats.org/drawingml/2006/main">
              <a:ext uri="{FF2B5EF4-FFF2-40B4-BE49-F238E27FC236}">
                <a16:creationId xmlns:a16="http://schemas.microsoft.com/office/drawing/2014/main" id="{27A3FDF8-B7DA-4F1C-8217-14638FB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1638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F3B34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298A0-2373-47A9-8C71-73BC0AA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Adoption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A5840-6112-44D3-9C10-289CB06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5A2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F920A-DF59-42EC-912A-1158B8A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22" name="folio-num">
            <a:extLst xmlns:a="http://schemas.openxmlformats.org/drawingml/2006/main">
              <a:ext uri="{FF2B5EF4-FFF2-40B4-BE49-F238E27FC236}">
                <a16:creationId xmlns:a16="http://schemas.microsoft.com/office/drawing/2014/main" id="{D77FB911-3134-4956-8D82-6B968F8A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3" name="folio-line">
            <a:extLst xmlns:a="http://schemas.openxmlformats.org/drawingml/2006/main">
              <a:ext uri="{FF2B5EF4-FFF2-40B4-BE49-F238E27FC236}">
                <a16:creationId xmlns:a16="http://schemas.microsoft.com/office/drawing/2014/main" id="{F39E8FC5-5982-4F6A-85DA-7C9F3101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21F"/>
            </a:solidFill>
            <a:prstDash val="solid"/>
          </a:ln>
        </p:spPr>
      </p:sp>
      <p:sp>
        <p:nvSpPr>
          <p:cNvPr id="24" name="folio-title">
            <a:extLst xmlns:a="http://schemas.openxmlformats.org/drawingml/2006/main">
              <a:ext uri="{FF2B5EF4-FFF2-40B4-BE49-F238E27FC236}">
                <a16:creationId xmlns:a16="http://schemas.microsoft.com/office/drawing/2014/main" id="{E2247202-9396-477B-AE01-6C2F0276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8B0A2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</p:spTree>
    <p:extLst>
      <p:ext uri="{BB962C8B-B14F-4D97-AF65-F5344CB8AC3E}">
        <p14:creationId xmlns:p14="http://schemas.microsoft.com/office/powerpoint/2010/main" val="21436633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B9C54-5BD4-4AEB-87D7-95CF1F5F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8B4B6-3DE8-49BD-B0C1-40C620E8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arm-plane">
            <a:extLst xmlns:a="http://schemas.openxmlformats.org/drawingml/2006/main">
              <a:ext uri="{FF2B5EF4-FFF2-40B4-BE49-F238E27FC236}">
                <a16:creationId xmlns:a16="http://schemas.microsoft.com/office/drawing/2014/main" id="{4FA1D146-2051-4319-9756-C1C9ADF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"/>
            <a:ext cx="2762250" cy="6648450"/>
          </a:xfrm>
          <a:custGeom xmlns:a="http://schemas.openxmlformats.org/drawingml/2006/main">
            <a:pathLst>
              <a:path w="2762250" h="6648450">
                <a:moveTo>
                  <a:pt x="0" y="0"/>
                </a:moveTo>
                <a:lnTo>
                  <a:pt x="2762250" y="0"/>
                </a:lnTo>
                <a:lnTo>
                  <a:pt x="2762250" y="6648450"/>
                </a:lnTo>
                <a:lnTo>
                  <a:pt x="1200150" y="6648450"/>
                </a:lnTo>
                <a:close/>
              </a:path>
            </a:pathLst>
          </a:custGeom>
          <a:solidFill xmlns:a="http://schemas.openxmlformats.org/drawingml/2006/main">
            <a:srgbClr val="E8DE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955d50cee4211"/>
          <a:stretch xmlns:a="http://schemas.openxmlformats.org/drawingml/2006/main"/>
        </p:blipFill>
        <p:spPr>
          <a:xfrm xmlns:a="http://schemas.openxmlformats.org/drawingml/2006/main">
            <a:off x="666750" y="457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portrait-block">
            <a:extLst xmlns:a="http://schemas.openxmlformats.org/drawingml/2006/main">
              <a:ext uri="{FF2B5EF4-FFF2-40B4-BE49-F238E27FC236}">
                <a16:creationId xmlns:a16="http://schemas.microsoft.com/office/drawing/2014/main" id="{29810B53-586D-43EE-BFAD-C91504C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3448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256f4f27f4608"/>
          <a:srcRect xmlns:a="http://schemas.openxmlformats.org/drawingml/2006/main" l="12440" t="0" r="12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" y="1257300"/>
            <a:ext cx="2990850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BD1A7-6CE9-43B2-A596-43F5139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A10EDE10-BB93-40B2-B1FE-91C4ADB3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19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FOUNDER-LED</a:t>
            </a:r>
          </a:p>
        </p:txBody>
      </p:sp>
      <p:sp>
        <p:nvSpPr>
          <p:cNvPr id="9" name="headline">
            <a:extLst xmlns:a="http://schemas.openxmlformats.org/drawingml/2006/main">
              <a:ext uri="{FF2B5EF4-FFF2-40B4-BE49-F238E27FC236}">
                <a16:creationId xmlns:a16="http://schemas.microsoft.com/office/drawing/2014/main" id="{39FC80BB-6908-4CCD-A52E-A47C8896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430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Systems thinking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meets perception.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DD6E7DB-D682-4605-A00F-DE778C05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Kramaniti is shaped by Karan Chordia's path from commercial media and spatial storytelling into workflow design and practical AI infrastructure.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5A4F9-A4DC-47E0-B5DC-0378D796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Business clarity. Practical systems. Precise communication.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7F02A2F0-0A56-4D31-8311-59145855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38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The work is about making businesses easier to run and easier to understand from the outside.</a:t>
            </a:r>
          </a:p>
        </p:txBody>
      </p:sp>
      <p:sp>
        <p:nvSpPr>
          <p:cNvPr id="13" name="folio-num">
            <a:extLst xmlns:a="http://schemas.openxmlformats.org/drawingml/2006/main">
              <a:ext uri="{FF2B5EF4-FFF2-40B4-BE49-F238E27FC236}">
                <a16:creationId xmlns:a16="http://schemas.microsoft.com/office/drawing/2014/main" id="{FB161996-5177-4BD3-A9CF-9AB05EC8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4" name="folio-line">
            <a:extLst xmlns:a="http://schemas.openxmlformats.org/drawingml/2006/main">
              <a:ext uri="{FF2B5EF4-FFF2-40B4-BE49-F238E27FC236}">
                <a16:creationId xmlns:a16="http://schemas.microsoft.com/office/drawing/2014/main" id="{F5E434BB-C2E2-4934-A0CB-66A55219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15" name="folio-title">
            <a:extLst xmlns:a="http://schemas.openxmlformats.org/drawingml/2006/main">
              <a:ext uri="{FF2B5EF4-FFF2-40B4-BE49-F238E27FC236}">
                <a16:creationId xmlns:a16="http://schemas.microsoft.com/office/drawing/2014/main" id="{07807BFC-E157-42F6-9B9D-DFF3CA3E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FOUNDER-LED</a:t>
            </a:r>
          </a:p>
        </p:txBody>
      </p:sp>
    </p:spTree>
    <p:extLst>
      <p:ext uri="{BB962C8B-B14F-4D97-AF65-F5344CB8AC3E}">
        <p14:creationId xmlns:p14="http://schemas.microsoft.com/office/powerpoint/2010/main" val="3789407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9CAF1-AD9E-4F69-B570-27FA1EA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ark-plane">
            <a:extLst xmlns:a="http://schemas.openxmlformats.org/drawingml/2006/main">
              <a:ext uri="{FF2B5EF4-FFF2-40B4-BE49-F238E27FC236}">
                <a16:creationId xmlns:a16="http://schemas.microsoft.com/office/drawing/2014/main" id="{15F785E6-1625-4256-AEB1-CF9F0C42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238250" y="6858000"/>
                </a:lnTo>
                <a:close/>
              </a:path>
            </a:pathLst>
          </a:cu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ark-wedge">
            <a:extLst xmlns:a="http://schemas.openxmlformats.org/drawingml/2006/main">
              <a:ext uri="{FF2B5EF4-FFF2-40B4-BE49-F238E27FC236}">
                <a16:creationId xmlns:a16="http://schemas.microsoft.com/office/drawing/2014/main" id="{D7CA367C-74E6-4DB1-B3CC-1DBDA8F8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4381500" cy="2095500"/>
          </a:xfrm>
          <a:custGeom xmlns:a="http://schemas.openxmlformats.org/drawingml/2006/main">
            <a:pathLst>
              <a:path w="4381500" h="2095500">
                <a:moveTo>
                  <a:pt x="0" y="0"/>
                </a:moveTo>
                <a:lnTo>
                  <a:pt x="4381500" y="2095500"/>
                </a:lnTo>
                <a:lnTo>
                  <a:pt x="0" y="2095500"/>
                </a:lnTo>
                <a:close/>
              </a:path>
            </a:pathLst>
          </a:custGeom>
          <a:solidFill xmlns:a="http://schemas.openxmlformats.org/drawingml/2006/main">
            <a:srgbClr val="11100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78eb383b14919"/>
          <a:stretch xmlns:a="http://schemas.openxmlformats.org/drawingml/2006/main"/>
        </p:blipFill>
        <p:spPr>
          <a:xfrm xmlns:a="http://schemas.openxmlformats.org/drawingml/2006/main">
            <a:off x="666750" y="4953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5A24115-6A3E-4D7F-912C-BF97C425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WHY FOUNDERS CHOOSE KRAMANITI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456919CC-34C7-4918-A5F3-EA0EC01C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The value is not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more tools.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The value is coherence.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30CDBF1-BB44-4B16-B267-9782574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When operations, intelligence, and presence align, a founder can make sharper decisions, reduce wasted effort, and communicate with a clearer market signal.</a:t>
            </a:r>
          </a:p>
        </p:txBody>
      </p:sp>
      <p:sp>
        <p:nvSpPr>
          <p:cNvPr id="8" name="value-0">
            <a:extLst xmlns:a="http://schemas.openxmlformats.org/drawingml/2006/main">
              <a:ext uri="{FF2B5EF4-FFF2-40B4-BE49-F238E27FC236}">
                <a16:creationId xmlns:a16="http://schemas.microsoft.com/office/drawing/2014/main" id="{C21FA719-4E91-4481-B24D-A6488DA7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A2417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55407-A0B1-4BA1-8949-D58B16E2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rPr>
              <a:t>Clarity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9551DFF-331E-4E51-A6C3-F7B70AC3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Know what matters first.</a:t>
            </a:r>
          </a:p>
        </p:txBody>
      </p:sp>
      <p:sp>
        <p:nvSpPr>
          <p:cNvPr id="11" name="value-1">
            <a:extLst xmlns:a="http://schemas.openxmlformats.org/drawingml/2006/main">
              <a:ext uri="{FF2B5EF4-FFF2-40B4-BE49-F238E27FC236}">
                <a16:creationId xmlns:a16="http://schemas.microsoft.com/office/drawing/2014/main" id="{E94E5A3A-1CF0-4020-9B2C-C9AFEDB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C9CB2-4827-47AE-9B56-DCEBFDE2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676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Focus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8ABAD410-4F4E-4AE5-8E27-814EF29D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574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1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Stop building around vague friction.</a:t>
            </a:r>
          </a:p>
        </p:txBody>
      </p:sp>
      <p:sp>
        <p:nvSpPr>
          <p:cNvPr id="14" name="value-2">
            <a:extLst xmlns:a="http://schemas.openxmlformats.org/drawingml/2006/main">
              <a:ext uri="{FF2B5EF4-FFF2-40B4-BE49-F238E27FC236}">
                <a16:creationId xmlns:a16="http://schemas.microsoft.com/office/drawing/2014/main" id="{28111720-B453-46F2-AEEA-8B691D1D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480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C8E52-0C39-431D-AE46-D3A7B59A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95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Adoption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59F852FB-853A-4DA9-9F5D-7F7DE57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76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1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Give teams support they can use.</a:t>
            </a:r>
          </a:p>
        </p:txBody>
      </p:sp>
      <p:sp>
        <p:nvSpPr>
          <p:cNvPr id="17" name="value-3">
            <a:extLst xmlns:a="http://schemas.openxmlformats.org/drawingml/2006/main">
              <a:ext uri="{FF2B5EF4-FFF2-40B4-BE49-F238E27FC236}">
                <a16:creationId xmlns:a16="http://schemas.microsoft.com/office/drawing/2014/main" id="{CA7A50EE-76FB-48BC-A6CE-4B9639F7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F2B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096D9-4969-428D-9F1A-7C470C96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95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Trust</a:t>
            </a:r>
          </a:p>
        </p:txBody>
      </p:sp>
      <p:sp>
        <p:nvSpPr>
          <p:cNvPr id="19" name="body">
            <a:extLst xmlns:a="http://schemas.openxmlformats.org/drawingml/2006/main">
              <a:ext uri="{FF2B5EF4-FFF2-40B4-BE49-F238E27FC236}">
                <a16:creationId xmlns:a16="http://schemas.microsoft.com/office/drawing/2014/main" id="{D60FC837-B54A-4799-89A8-0DD025DB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766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1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13" b="0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8B0A2"/>
                </a:solidFill>
                <a:latin typeface="Aptos"/>
                <a:ea typeface="Aptos"/>
                <a:cs typeface="Aptos"/>
              </a:rPr>
              <a:t>Communicate what the business can deliver.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A719E-1799-440F-A1B2-6B3CE550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86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C9A84C"/>
                </a:solidFill>
                <a:latin typeface="Aptos Display"/>
                <a:ea typeface="Aptos Display"/>
                <a:cs typeface="Aptos Display"/>
              </a:rPr>
              <a:t>coherent growth</a:t>
            </a:r>
          </a:p>
        </p:txBody>
      </p:sp>
      <p:sp>
        <p:nvSpPr>
          <p:cNvPr id="21" name="folio-num">
            <a:extLst xmlns:a="http://schemas.openxmlformats.org/drawingml/2006/main">
              <a:ext uri="{FF2B5EF4-FFF2-40B4-BE49-F238E27FC236}">
                <a16:creationId xmlns:a16="http://schemas.microsoft.com/office/drawing/2014/main" id="{07E20572-CF8E-4DC6-94BB-5AB8807E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2" name="folio-line">
            <a:extLst xmlns:a="http://schemas.openxmlformats.org/drawingml/2006/main">
              <a:ext uri="{FF2B5EF4-FFF2-40B4-BE49-F238E27FC236}">
                <a16:creationId xmlns:a16="http://schemas.microsoft.com/office/drawing/2014/main" id="{6A05CE92-1C96-46EE-BD4B-DD76FED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21F"/>
            </a:solidFill>
            <a:prstDash val="solid"/>
          </a:ln>
        </p:spPr>
      </p:sp>
      <p:sp>
        <p:nvSpPr>
          <p:cNvPr id="23" name="folio-title">
            <a:extLst xmlns:a="http://schemas.openxmlformats.org/drawingml/2006/main">
              <a:ext uri="{FF2B5EF4-FFF2-40B4-BE49-F238E27FC236}">
                <a16:creationId xmlns:a16="http://schemas.microsoft.com/office/drawing/2014/main" id="{17B584EF-AECA-436B-96E6-6444D034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B8B0A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8B0A2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2639749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DA9C6-C990-4DA5-8D37-0D74F947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794F3-8B02-4AEF-8815-1E7AD7B1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custGeom xmlns:a="http://schemas.openxmlformats.org/drawingml/2006/main">
            <a:pathLst>
              <a:path w="4476750" h="6858000">
                <a:moveTo>
                  <a:pt x="0" y="0"/>
                </a:moveTo>
                <a:lnTo>
                  <a:pt x="4476750" y="0"/>
                </a:lnTo>
                <a:lnTo>
                  <a:pt x="2857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d7773991a4fce"/>
          <a:stretch xmlns:a="http://schemas.openxmlformats.org/drawingml/2006/main"/>
        </p:blipFill>
        <p:spPr>
          <a:xfrm xmlns:a="http://schemas.openxmlformats.org/drawingml/2006/main">
            <a:off x="704850" y="5334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0F18E-B47D-427D-93EC-1B5AA30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85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KRAMANITI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C8019AAC-9020-4D57-B34F-AFF38D33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00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F1C1B940-798A-469D-82E6-8FC21869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Start with an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515"/>
                </a:solidFill>
                <a:latin typeface="Aptos Display"/>
                <a:ea typeface="Aptos Display"/>
                <a:cs typeface="Aptos Display"/>
              </a:rPr>
              <a:t>Alignment Audit.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563A3FF-8C3A-4398-850F-FE7D52B6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0"/>
                </a:solidFill>
                <a:latin typeface="Aptos"/>
                <a:ea typeface="Aptos"/>
                <a:cs typeface="Aptos"/>
              </a:rPr>
              <a:t>Share the workflow, handoff, decision loop, or communication gap you want to clarify. The first conversation is about finding the first system worth building.</a:t>
            </a:r>
          </a:p>
        </p:txBody>
      </p:sp>
      <p:sp>
        <p:nvSpPr>
          <p:cNvPr id="8" name="close-dark">
            <a:extLst xmlns:a="http://schemas.openxmlformats.org/drawingml/2006/main">
              <a:ext uri="{FF2B5EF4-FFF2-40B4-BE49-F238E27FC236}">
                <a16:creationId xmlns:a16="http://schemas.microsoft.com/office/drawing/2014/main" id="{68524C98-AEB5-4B57-8A2B-9C1B9D06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4286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55D46-E9F6-4907-8629-4346A417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2E8"/>
                </a:solidFill>
                <a:latin typeface="Aptos Display"/>
                <a:ea typeface="Aptos Display"/>
                <a:cs typeface="Aptos Display"/>
              </a:rPr>
              <a:t>Find the first system worth building.</a:t>
            </a:r>
          </a:p>
        </p:txBody>
      </p:sp>
      <p:sp>
        <p:nvSpPr>
          <p:cNvPr id="10" name="pill-0">
            <a:extLst xmlns:a="http://schemas.openxmlformats.org/drawingml/2006/main">
              <a:ext uri="{FF2B5EF4-FFF2-40B4-BE49-F238E27FC236}">
                <a16:creationId xmlns:a16="http://schemas.microsoft.com/office/drawing/2014/main" id="{766B27BA-F448-45B4-800E-65831E62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76850"/>
            <a:ext cx="1257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E7D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C376F-6903-4C21-94CD-9992AE53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72100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Operational clarity</a:t>
            </a:r>
          </a:p>
        </p:txBody>
      </p:sp>
      <p:sp>
        <p:nvSpPr>
          <p:cNvPr id="12" name="pill-1">
            <a:extLst xmlns:a="http://schemas.openxmlformats.org/drawingml/2006/main">
              <a:ext uri="{FF2B5EF4-FFF2-40B4-BE49-F238E27FC236}">
                <a16:creationId xmlns:a16="http://schemas.microsoft.com/office/drawing/2014/main" id="{C185E8E0-743D-4039-80EB-AC1CC156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76850"/>
            <a:ext cx="1257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E7D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EC273-8D6C-43AC-803B-E802479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72100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Priority workflow</a:t>
            </a:r>
          </a:p>
        </p:txBody>
      </p:sp>
      <p:sp>
        <p:nvSpPr>
          <p:cNvPr id="14" name="pill-2">
            <a:extLst xmlns:a="http://schemas.openxmlformats.org/drawingml/2006/main">
              <a:ext uri="{FF2B5EF4-FFF2-40B4-BE49-F238E27FC236}">
                <a16:creationId xmlns:a16="http://schemas.microsoft.com/office/drawing/2014/main" id="{EC59C983-C6A6-4331-80BC-4FDC2F3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76850"/>
            <a:ext cx="1257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E7D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E1D02-BFA0-4CAB-B39E-98EDDD89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72100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17151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1515"/>
                </a:solidFill>
                <a:latin typeface="Aptos"/>
                <a:ea typeface="Aptos"/>
                <a:cs typeface="Aptos"/>
              </a:rPr>
              <a:t>Practical next step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A28AC-D87A-44D2-9552-DE77AE52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0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9E84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E843B"/>
                </a:solidFill>
                <a:latin typeface="Aptos"/>
                <a:ea typeface="Aptos"/>
                <a:cs typeface="Aptos"/>
              </a:rPr>
              <a:t>ask@kramaniti.com</a:t>
            </a:r>
          </a:p>
        </p:txBody>
      </p:sp>
      <p:sp>
        <p:nvSpPr>
          <p:cNvPr id="17" name="folio-num">
            <a:extLst xmlns:a="http://schemas.openxmlformats.org/drawingml/2006/main">
              <a:ext uri="{FF2B5EF4-FFF2-40B4-BE49-F238E27FC236}">
                <a16:creationId xmlns:a16="http://schemas.microsoft.com/office/drawing/2014/main" id="{AC9F2F41-0A6C-40F4-A159-DB300A2D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A84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A84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8" name="folio-line">
            <a:extLst xmlns:a="http://schemas.openxmlformats.org/drawingml/2006/main">
              <a:ext uri="{FF2B5EF4-FFF2-40B4-BE49-F238E27FC236}">
                <a16:creationId xmlns:a16="http://schemas.microsoft.com/office/drawing/2014/main" id="{2A317E79-4E24-4408-9579-F2A7E7D0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8AF"/>
            </a:solidFill>
            <a:prstDash val="solid"/>
          </a:ln>
        </p:spPr>
      </p:sp>
      <p:sp>
        <p:nvSpPr>
          <p:cNvPr id="19" name="folio-title">
            <a:extLst xmlns:a="http://schemas.openxmlformats.org/drawingml/2006/main">
              <a:ext uri="{FF2B5EF4-FFF2-40B4-BE49-F238E27FC236}">
                <a16:creationId xmlns:a16="http://schemas.microsoft.com/office/drawing/2014/main" id="{7400B22A-B91C-4BE2-AE7F-3BADA9B4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1">
                <a:solidFill>
                  <a:srgbClr val="746D6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46D60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646460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2026-06-15T21:30:10.9250000Z</dcterms:created>
  <dcterms:modified xsi:type="dcterms:W3CDTF">2026-06-15T21:30:10.9250000Z</dcterms:modified>
</coreProperties>
</file>