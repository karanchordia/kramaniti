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64f1714af54f71" /><Relationship Type="http://schemas.openxmlformats.org/officeDocument/2006/relationships/extended-properties" Target="/docProps/app.xml" Id="R0a02cff3cfb54e4e" /><Relationship Type="http://schemas.openxmlformats.org/officeDocument/2006/relationships/officeDocument" Target="/ppt/presentation.xml" Id="R93a3374172ae4e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1af4dfbce1454e"/>
  </p:sldMasterIdLst>
  <p:notesMasterIdLst>
    <p:notesMasterId xmlns:r="http://schemas.openxmlformats.org/officeDocument/2006/relationships" r:id="R9bb67f0048644c5f"/>
  </p:notesMasterIdLst>
  <p:sldIdLst>
    <p:sldId xmlns:r="http://schemas.openxmlformats.org/officeDocument/2006/relationships" id="256" r:id="R984c7ec65feb4530"/>
    <p:sldId xmlns:r="http://schemas.openxmlformats.org/officeDocument/2006/relationships" id="257" r:id="R1d1e10cab7794011"/>
    <p:sldId xmlns:r="http://schemas.openxmlformats.org/officeDocument/2006/relationships" id="258" r:id="R35aec7eac3274267"/>
    <p:sldId xmlns:r="http://schemas.openxmlformats.org/officeDocument/2006/relationships" id="259" r:id="R6d6d5a74828d4f16"/>
    <p:sldId xmlns:r="http://schemas.openxmlformats.org/officeDocument/2006/relationships" id="260" r:id="Rb50f4162b67547cc"/>
    <p:sldId xmlns:r="http://schemas.openxmlformats.org/officeDocument/2006/relationships" id="261" r:id="R458a96b30b0d4730"/>
    <p:sldId xmlns:r="http://schemas.openxmlformats.org/officeDocument/2006/relationships" id="262" r:id="R1d401a1bd1974051"/>
    <p:sldId xmlns:r="http://schemas.openxmlformats.org/officeDocument/2006/relationships" id="263" r:id="Rd27ddba9f8164acd"/>
    <p:sldId xmlns:r="http://schemas.openxmlformats.org/officeDocument/2006/relationships" id="264" r:id="Rf3626c9c0119439c"/>
    <p:sldId xmlns:r="http://schemas.openxmlformats.org/officeDocument/2006/relationships" id="265" r:id="Rd1b2b4ee9d544631"/>
    <p:sldId xmlns:r="http://schemas.openxmlformats.org/officeDocument/2006/relationships" id="266" r:id="Recf14ac66add41f1"/>
    <p:sldId xmlns:r="http://schemas.openxmlformats.org/officeDocument/2006/relationships" id="267" r:id="R14d3dfbebe2d467a"/>
    <p:sldId xmlns:r="http://schemas.openxmlformats.org/officeDocument/2006/relationships" id="268" r:id="R87b74f20f4fd4df5"/>
    <p:sldId xmlns:r="http://schemas.openxmlformats.org/officeDocument/2006/relationships" id="269" r:id="Re9589af55bce4f68"/>
    <p:sldId xmlns:r="http://schemas.openxmlformats.org/officeDocument/2006/relationships" id="270" r:id="Rd290eebf992c42e5"/>
    <p:sldId xmlns:r="http://schemas.openxmlformats.org/officeDocument/2006/relationships" id="271" r:id="R7727532c2d884f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1a1a382e274510" /><Relationship Type="http://schemas.openxmlformats.org/officeDocument/2006/relationships/slideMaster" Target="/ppt/slideMasters/slideMaster1.xml" Id="R571af4dfbce1454e" /><Relationship Type="http://schemas.openxmlformats.org/officeDocument/2006/relationships/notesMaster" Target="/ppt/notesMasters/notesMaster1.xml" Id="R9bb67f0048644c5f" /><Relationship Type="http://schemas.openxmlformats.org/officeDocument/2006/relationships/presProps" Target="/ppt/presProps.xml" Id="Re46acd950a444d09" /><Relationship Type="http://schemas.openxmlformats.org/officeDocument/2006/relationships/tableStyles" Target="/ppt/tableStyles.xml" Id="Rcc3ad0559cb445ee" /><Relationship Type="http://schemas.openxmlformats.org/officeDocument/2006/relationships/slide" Target="/ppt/slides/slide1.xml" Id="R984c7ec65feb4530" /><Relationship Type="http://schemas.openxmlformats.org/officeDocument/2006/relationships/slide" Target="/ppt/slides/slide2.xml" Id="R1d1e10cab7794011" /><Relationship Type="http://schemas.openxmlformats.org/officeDocument/2006/relationships/slide" Target="/ppt/slides/slide3.xml" Id="R35aec7eac3274267" /><Relationship Type="http://schemas.openxmlformats.org/officeDocument/2006/relationships/slide" Target="/ppt/slides/slide4.xml" Id="R6d6d5a74828d4f16" /><Relationship Type="http://schemas.openxmlformats.org/officeDocument/2006/relationships/slide" Target="/ppt/slides/slide5.xml" Id="Rb50f4162b67547cc" /><Relationship Type="http://schemas.openxmlformats.org/officeDocument/2006/relationships/slide" Target="/ppt/slides/slide6.xml" Id="R458a96b30b0d4730" /><Relationship Type="http://schemas.openxmlformats.org/officeDocument/2006/relationships/slide" Target="/ppt/slides/slide7.xml" Id="R1d401a1bd1974051" /><Relationship Type="http://schemas.openxmlformats.org/officeDocument/2006/relationships/slide" Target="/ppt/slides/slide8.xml" Id="Rd27ddba9f8164acd" /><Relationship Type="http://schemas.openxmlformats.org/officeDocument/2006/relationships/slide" Target="/ppt/slides/slide9.xml" Id="Rf3626c9c0119439c" /><Relationship Type="http://schemas.openxmlformats.org/officeDocument/2006/relationships/slide" Target="/ppt/slides/slide10.xml" Id="Rd1b2b4ee9d544631" /><Relationship Type="http://schemas.openxmlformats.org/officeDocument/2006/relationships/slide" Target="/ppt/slides/slide11.xml" Id="Recf14ac66add41f1" /><Relationship Type="http://schemas.openxmlformats.org/officeDocument/2006/relationships/slide" Target="/ppt/slides/slide12.xml" Id="R14d3dfbebe2d467a" /><Relationship Type="http://schemas.openxmlformats.org/officeDocument/2006/relationships/slide" Target="/ppt/slides/slide13.xml" Id="R87b74f20f4fd4df5" /><Relationship Type="http://schemas.openxmlformats.org/officeDocument/2006/relationships/slide" Target="/ppt/slides/slide14.xml" Id="Re9589af55bce4f68" /><Relationship Type="http://schemas.openxmlformats.org/officeDocument/2006/relationships/slide" Target="/ppt/slides/slide15.xml" Id="Rd290eebf992c42e5" /><Relationship Type="http://schemas.openxmlformats.org/officeDocument/2006/relationships/slide" Target="/ppt/slides/slide16.xml" Id="R7727532c2d884f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eac5fbdd3c4e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aba57aa4254914" /><Relationship Type="http://schemas.openxmlformats.org/officeDocument/2006/relationships/notesMaster" Target="/ppt/notesMasters/notesMaster1.xml" Id="Rc3ea2971186545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f35c06ac7a46b3" /><Relationship Type="http://schemas.openxmlformats.org/officeDocument/2006/relationships/notesMaster" Target="/ppt/notesMasters/notesMaster1.xml" Id="R4a5520e2c30d48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54ed6fb0ea4307" /><Relationship Type="http://schemas.openxmlformats.org/officeDocument/2006/relationships/notesMaster" Target="/ppt/notesMasters/notesMaster1.xml" Id="Rc835c5e452a048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58a5ef7b9540ab" /><Relationship Type="http://schemas.openxmlformats.org/officeDocument/2006/relationships/notesMaster" Target="/ppt/notesMasters/notesMaster1.xml" Id="Ra1c14ce91f3d43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408359be5f48fd" /><Relationship Type="http://schemas.openxmlformats.org/officeDocument/2006/relationships/notesMaster" Target="/ppt/notesMasters/notesMaster1.xml" Id="R02ad63b0000948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b786916ed84ead" /><Relationship Type="http://schemas.openxmlformats.org/officeDocument/2006/relationships/notesMaster" Target="/ppt/notesMasters/notesMaster1.xml" Id="R557e0296232e4e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12445fefb94f34" /><Relationship Type="http://schemas.openxmlformats.org/officeDocument/2006/relationships/notesMaster" Target="/ppt/notesMasters/notesMaster1.xml" Id="Rff59b477bf9e45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5eb77126ab4a9d" /><Relationship Type="http://schemas.openxmlformats.org/officeDocument/2006/relationships/notesMaster" Target="/ppt/notesMasters/notesMaster1.xml" Id="R5efc87d805e94f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3f2b235eb54fd2" /><Relationship Type="http://schemas.openxmlformats.org/officeDocument/2006/relationships/notesMaster" Target="/ppt/notesMasters/notesMaster1.xml" Id="R2f5a11f9b0ac40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0520bb94a64cbf" /><Relationship Type="http://schemas.openxmlformats.org/officeDocument/2006/relationships/notesMaster" Target="/ppt/notesMasters/notesMaster1.xml" Id="R887390cc3d5843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d13684d4974891" /><Relationship Type="http://schemas.openxmlformats.org/officeDocument/2006/relationships/notesMaster" Target="/ppt/notesMasters/notesMaster1.xml" Id="Rd27206459b9b40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6f19245bfc4f99" /><Relationship Type="http://schemas.openxmlformats.org/officeDocument/2006/relationships/notesMaster" Target="/ppt/notesMasters/notesMaster1.xml" Id="Rcfad9badf02d41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17fcdad41b4523" /><Relationship Type="http://schemas.openxmlformats.org/officeDocument/2006/relationships/notesMaster" Target="/ppt/notesMasters/notesMaster1.xml" Id="R168a1430aa3a4b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aab91b40fb486f" /><Relationship Type="http://schemas.openxmlformats.org/officeDocument/2006/relationships/notesMaster" Target="/ppt/notesMasters/notesMaster1.xml" Id="Rc063dba6d66346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a92f8af28c4a32" /><Relationship Type="http://schemas.openxmlformats.org/officeDocument/2006/relationships/notesMaster" Target="/ppt/notesMasters/notesMaster1.xml" Id="R1fc759b8862a4e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ef1e75b18f4e7b" /><Relationship Type="http://schemas.openxmlformats.org/officeDocument/2006/relationships/notesMaster" Target="/ppt/notesMasters/notesMaster1.xml" Id="R69eb43eeb87946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website language. This deck is not about selling AI tools first; it is about alignment: how the brand works, thinks, and communicates.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pain without blaming the founder. The problem is not lack of AI; it is that operations, intelligence, and presence drift apart as a company grows.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simple. Kramaniti is not presented as an automation vendor; it connects strategy, operational systems, and content into one growth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philosophical anchor. It should make the founder feel Kramaniti is disciplined, not hype-driven.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borrows the website orbit visual, but keeps everything editable. External design-thinking references were used only as light reinforcement for process discipline.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Operations is the audit layer. The execution approach is diagnostic before solutioning: observe, map, prioritize.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human-AI workflow research lightly here: multi-step transparent workflows are better than one-step black boxes, and there is no one-size-fits-all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external NN/g content strategy source supports this layer: content is planning, creation, maintenance, governance, ownership, standards, and channels - not only posts.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protects the brand from automation-first positioning. Cite NIST and human-AI workflow literature only as background: trustworthy systems need design, evaluation, and appropriate reliance.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Mirror the current website service architecture. Do not introduce pricing. Intelligence System Build is the likely recommended middle path, but the founder should first enter through the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deck version of the website process rail. It shows founders that execution is structured, not improvised.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makes the audit tangible. It should reduce purchase anxiety: even the first engagement creates clarity and a next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clarifies that a Kramaniti build is an operating system around a workflow, not a disconnected app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founder proof carefully. This is not a claim of client results; it explains why Kramaniti connects systems thinking and perception.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value argument without overpromising. The deck should make the founder believe Kramaniti will create value because the method reduces ambiguity and focuses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decisively. The next action is not a broad exploratory call; it is an alignment audit to identify the first system worth building.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06c1638b746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3e1f8ebef2494a" /><Relationship Type="http://schemas.openxmlformats.org/officeDocument/2006/relationships/slideLayout" Target="/ppt/slideLayouts/slideLayout1.xml" Id="R38fd74dc06574d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fd74dc06574d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d7dc025a045dc" /><Relationship Type="http://schemas.openxmlformats.org/officeDocument/2006/relationships/image" Target="/ppt/media/image.png" Id="R711a3364aa454645" /><Relationship Type="http://schemas.openxmlformats.org/officeDocument/2006/relationships/notesSlide" Target="/ppt/notesSlides/notesSlide1.xml" Id="Rda9e040697d443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f3f394deb4e84" /><Relationship Type="http://schemas.openxmlformats.org/officeDocument/2006/relationships/image" Target="/ppt/media/image2.png" Id="Rf2f62c84ec884b95" /><Relationship Type="http://schemas.openxmlformats.org/officeDocument/2006/relationships/notesSlide" Target="/ppt/notesSlides/notesSlide2.xml" Id="Refe94c9c000d49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e697850254d75" /><Relationship Type="http://schemas.openxmlformats.org/officeDocument/2006/relationships/image" Target="/ppt/media/image3.png" Id="R84c472920cd4469a" /><Relationship Type="http://schemas.openxmlformats.org/officeDocument/2006/relationships/notesSlide" Target="/ppt/notesSlides/notesSlide3.xml" Id="R7855535646cd43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e79c8c474445e" /><Relationship Type="http://schemas.openxmlformats.org/officeDocument/2006/relationships/image" Target="/ppt/media/image4.png" Id="Rc2c7e2e78dda4f23" /><Relationship Type="http://schemas.openxmlformats.org/officeDocument/2006/relationships/notesSlide" Target="/ppt/notesSlides/notesSlide4.xml" Id="R59691d39c0274b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af743f675483d" /><Relationship Type="http://schemas.openxmlformats.org/officeDocument/2006/relationships/image" Target="/ppt/media/image5.png" Id="Rc483a944cb774b06" /><Relationship Type="http://schemas.openxmlformats.org/officeDocument/2006/relationships/notesSlide" Target="/ppt/notesSlides/notesSlide5.xml" Id="R29320cd76bfc4d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d2097c0ce4bb6" /><Relationship Type="http://schemas.openxmlformats.org/officeDocument/2006/relationships/image" Target="/ppt/media/image6.png" Id="Rc7aa60e2fd50497b" /><Relationship Type="http://schemas.openxmlformats.org/officeDocument/2006/relationships/notesSlide" Target="/ppt/notesSlides/notesSlide6.xml" Id="R0829000541ac45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b4225276d4075" /><Relationship Type="http://schemas.openxmlformats.org/officeDocument/2006/relationships/image" Target="/ppt/media/image7.png" Id="R0783a1ac5c8e4df5" /><Relationship Type="http://schemas.openxmlformats.org/officeDocument/2006/relationships/notesSlide" Target="/ppt/notesSlides/notesSlide7.xml" Id="Re485322d5db04b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63ee67ce44f3b" /><Relationship Type="http://schemas.openxmlformats.org/officeDocument/2006/relationships/image" Target="/ppt/media/image8.png" Id="Ra7f883054c934f26" /><Relationship Type="http://schemas.openxmlformats.org/officeDocument/2006/relationships/notesSlide" Target="/ppt/notesSlides/notesSlide8.xml" Id="R6c5c7062e3f643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50085389043a1" /><Relationship Type="http://schemas.openxmlformats.org/officeDocument/2006/relationships/image" Target="/ppt/media/image9.png" Id="R33a3c4c73f154b5d" /><Relationship Type="http://schemas.openxmlformats.org/officeDocument/2006/relationships/notesSlide" Target="/ppt/notesSlides/notesSlide9.xml" Id="Rb667545c8d264e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1eafd5863469b" /><Relationship Type="http://schemas.openxmlformats.org/officeDocument/2006/relationships/image" Target="/ppt/media/image10.png" Id="R39441693b3c641de" /><Relationship Type="http://schemas.openxmlformats.org/officeDocument/2006/relationships/notesSlide" Target="/ppt/notesSlides/notesSlide10.xml" Id="Rf50e81ba69c744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b3663a12f4688" /><Relationship Type="http://schemas.openxmlformats.org/officeDocument/2006/relationships/image" Target="/ppt/media/image11.png" Id="Re151fed228574348" /><Relationship Type="http://schemas.openxmlformats.org/officeDocument/2006/relationships/notesSlide" Target="/ppt/notesSlides/notesSlide11.xml" Id="R6bfcac5d2e704a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65f69e73147de" /><Relationship Type="http://schemas.openxmlformats.org/officeDocument/2006/relationships/image" Target="/ppt/media/image12.png" Id="R9b880ad95a834004" /><Relationship Type="http://schemas.openxmlformats.org/officeDocument/2006/relationships/notesSlide" Target="/ppt/notesSlides/notesSlide12.xml" Id="R5aba9382e3e847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54ccf2088473f" /><Relationship Type="http://schemas.openxmlformats.org/officeDocument/2006/relationships/image" Target="/ppt/media/image13.png" Id="Raed8bf9bffd44da4" /><Relationship Type="http://schemas.openxmlformats.org/officeDocument/2006/relationships/notesSlide" Target="/ppt/notesSlides/notesSlide13.xml" Id="Re1557d8eae4e4c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077df1f734f57" /><Relationship Type="http://schemas.openxmlformats.org/officeDocument/2006/relationships/image" Target="/ppt/media/image14.png" Id="Reb7f527b636f40cf" /><Relationship Type="http://schemas.openxmlformats.org/officeDocument/2006/relationships/image" Target="/ppt/media/image.jpeg" Id="Reea3694049a14870" /><Relationship Type="http://schemas.openxmlformats.org/officeDocument/2006/relationships/notesSlide" Target="/ppt/notesSlides/notesSlide14.xml" Id="R7f60d156ceb044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61bf10e1641dd" /><Relationship Type="http://schemas.openxmlformats.org/officeDocument/2006/relationships/image" Target="/ppt/media/image15.png" Id="Rdd5b32b1fe0b495e" /><Relationship Type="http://schemas.openxmlformats.org/officeDocument/2006/relationships/notesSlide" Target="/ppt/notesSlides/notesSlide15.xml" Id="R7e7a88a706504a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db9a095bc4824" /><Relationship Type="http://schemas.openxmlformats.org/officeDocument/2006/relationships/image" Target="/ppt/media/image16.png" Id="Re045e5bb3ec84d57" /><Relationship Type="http://schemas.openxmlformats.org/officeDocument/2006/relationships/notesSlide" Target="/ppt/notesSlides/notesSlide16.xml" Id="Re58165f9dced44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8344ED-C05A-42E1-AAE6-239D9E43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B6076-462C-4B8C-ADEF-88261480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A933D-E137-4FAD-B05B-A2014EB6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2E979-A8C9-465E-B3B8-3FB822C9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5836B-7999-4D19-9C4D-F9FE5848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466B1-3B08-4FE6-A77E-B6BF38C2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CC91F-357A-4298-A1A8-0BC2D113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E5368-DDAD-469B-90B3-07EFDC9A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76962-BEAC-4A66-B10C-CCEC543C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3CE55-A233-4B0A-8E55-F44DC6B0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5F85A-C009-4EF6-831B-84C7922A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5788B-1A06-43BF-A36B-6FECD15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Sequence">
            <a:extLst xmlns:a="http://schemas.openxmlformats.org/drawingml/2006/main">
              <a:ext uri="{FF2B5EF4-FFF2-40B4-BE49-F238E27FC236}">
                <a16:creationId xmlns:a16="http://schemas.microsoft.com/office/drawing/2014/main" id="{D50C014F-E5E2-4191-900B-76D9E6EB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0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70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Sequence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a3364aa454645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9EE966D1-771C-43D8-910A-E66FE6A1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6A9D605-48AD-46FB-A80E-B3801F37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09F6380D-2681-4239-9FC2-4765C52B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cover-brand">
            <a:extLst xmlns:a="http://schemas.openxmlformats.org/drawingml/2006/main">
              <a:ext uri="{FF2B5EF4-FFF2-40B4-BE49-F238E27FC236}">
                <a16:creationId xmlns:a16="http://schemas.microsoft.com/office/drawing/2014/main" id="{4C926FF9-6A8F-4D70-8115-60EF010C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750" b="1">
                <a:solidFill>
                  <a:srgbClr val="C9A84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C9A84C"/>
                </a:solidFill>
                <a:latin typeface="Aptos Display"/>
                <a:ea typeface="Aptos Display"/>
                <a:cs typeface="Aptos Display"/>
              </a:rPr>
              <a:t>Kramaniti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19622FA1-D65C-4ACA-AF2C-33C6FF0D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38350"/>
            <a:ext cx="7200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45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Align how your brand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45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operates, thinks,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45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and shows up.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787F58B9-E315-446C-9157-706A79A2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0"/>
            <a:ext cx="510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Kramaniti aligns your operations, intelligence systems, and brand presence into one coherent growth pipeline.</a:t>
            </a:r>
          </a:p>
        </p:txBody>
      </p:sp>
      <p:sp>
        <p:nvSpPr>
          <p:cNvPr id="21" name="cover-cta-outer">
            <a:extLst xmlns:a="http://schemas.openxmlformats.org/drawingml/2006/main">
              <a:ext uri="{FF2B5EF4-FFF2-40B4-BE49-F238E27FC236}">
                <a16:creationId xmlns:a16="http://schemas.microsoft.com/office/drawing/2014/main" id="{372BA3BF-9715-4358-ACF6-B9EACCDD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048250"/>
            <a:ext cx="260985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2" name="cover-cta">
            <a:extLst xmlns:a="http://schemas.openxmlformats.org/drawingml/2006/main">
              <a:ext uri="{FF2B5EF4-FFF2-40B4-BE49-F238E27FC236}">
                <a16:creationId xmlns:a16="http://schemas.microsoft.com/office/drawing/2014/main" id="{89F1016D-5D54-419E-B368-8E62AEB2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95875"/>
            <a:ext cx="2514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3" name="cover-cta-text">
            <a:extLst xmlns:a="http://schemas.openxmlformats.org/drawingml/2006/main">
              <a:ext uri="{FF2B5EF4-FFF2-40B4-BE49-F238E27FC236}">
                <a16:creationId xmlns:a16="http://schemas.microsoft.com/office/drawing/2014/main" id="{0E20C906-E56A-4992-A593-C032EAF8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673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Founder Alignment Deck</a:t>
            </a:r>
          </a:p>
        </p:txBody>
      </p:sp>
    </p:spTree>
    <p:extLst>
      <p:ext uri="{BB962C8B-B14F-4D97-AF65-F5344CB8AC3E}">
        <p14:creationId xmlns:p14="http://schemas.microsoft.com/office/powerpoint/2010/main" val="542685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1272E7-A219-4817-81BF-6A63806A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F3568-6898-4102-B71A-657099AA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A171C-9CAA-4810-A5C0-CCA84077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35EBD-372E-49CF-A2F7-4AC8A56C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1995A-E43D-4FDD-A677-93DE7A0F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AAE29-E275-496E-B283-9ECA88DB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7BE75-01B6-45F7-AFBD-9562989A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E20F9-CF65-49E1-88D1-FFF1424A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E6076-8631-4A8F-B283-2A2A3AFC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27571-4856-478A-9F18-B9910499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6B0E5-BEFE-48A6-BB77-38FF2B61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ADF55-5064-44A1-A6F5-B06968C7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Focus">
            <a:extLst xmlns:a="http://schemas.openxmlformats.org/drawingml/2006/main">
              <a:ext uri="{FF2B5EF4-FFF2-40B4-BE49-F238E27FC236}">
                <a16:creationId xmlns:a16="http://schemas.microsoft.com/office/drawing/2014/main" id="{CFDAB345-7C90-47B3-BEB7-BA6F724A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11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0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960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Focus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62c84ec884b95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1361D6B7-9A79-4C04-BE7E-3718F4A7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FFCFEE2-FB6F-4543-A93E-18416B24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8F5D9F19-D626-4953-BE11-BA74EE0E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eyebrow-The problem">
            <a:extLst xmlns:a="http://schemas.openxmlformats.org/drawingml/2006/main">
              <a:ext uri="{FF2B5EF4-FFF2-40B4-BE49-F238E27FC236}">
                <a16:creationId xmlns:a16="http://schemas.microsoft.com/office/drawing/2014/main" id="{A2F6352C-AF89-4BFD-BAA4-E37E2896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192DFB56-9EEA-44C0-A07C-86742D3A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47800"/>
            <a:ext cx="838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Most brands do not have an AI problem.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0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They have a workflow alignment problem.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89BF842B-61EB-4D4C-B006-9BE8303A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672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Operations evolve one way. Tools get added another way. Content starts saying something the business cannot consistently deliver.</a:t>
            </a:r>
          </a:p>
        </p:txBody>
      </p:sp>
      <p:sp>
        <p:nvSpPr>
          <p:cNvPr id="21" name="origin-dot">
            <a:extLst xmlns:a="http://schemas.openxmlformats.org/drawingml/2006/main">
              <a:ext uri="{FF2B5EF4-FFF2-40B4-BE49-F238E27FC236}">
                <a16:creationId xmlns:a16="http://schemas.microsoft.com/office/drawing/2014/main" id="{17B59A7A-4F31-45CE-BE03-112149C8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86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22" name="origin-label">
            <a:extLst xmlns:a="http://schemas.openxmlformats.org/drawingml/2006/main">
              <a:ext uri="{FF2B5EF4-FFF2-40B4-BE49-F238E27FC236}">
                <a16:creationId xmlns:a16="http://schemas.microsoft.com/office/drawing/2014/main" id="{3280A805-3B3F-4B2D-9BEF-8370D261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YOUR BRAND</a:t>
            </a:r>
          </a:p>
        </p:txBody>
      </p:sp>
      <p:sp>
        <p:nvSpPr>
          <p:cNvPr id="23" name="branch-0">
            <a:extLst xmlns:a="http://schemas.openxmlformats.org/drawingml/2006/main">
              <a:ext uri="{FF2B5EF4-FFF2-40B4-BE49-F238E27FC236}">
                <a16:creationId xmlns:a16="http://schemas.microsoft.com/office/drawing/2014/main" id="{C5394831-6C6F-477A-A8D1-AD0A69B6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81550"/>
            <a:ext cx="2571750" cy="-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3020"/>
            </a:solidFill>
            <a:prstDash val="solid"/>
          </a:ln>
        </p:spPr>
      </p:sp>
      <p:sp>
        <p:nvSpPr>
          <p:cNvPr id="24" name="terminal-0">
            <a:extLst xmlns:a="http://schemas.openxmlformats.org/drawingml/2006/main">
              <a:ext uri="{FF2B5EF4-FFF2-40B4-BE49-F238E27FC236}">
                <a16:creationId xmlns:a16="http://schemas.microsoft.com/office/drawing/2014/main" id="{EBCACCAB-D7CA-47BA-9759-93AED807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38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25" name="branch-1">
            <a:extLst xmlns:a="http://schemas.openxmlformats.org/drawingml/2006/main">
              <a:ext uri="{FF2B5EF4-FFF2-40B4-BE49-F238E27FC236}">
                <a16:creationId xmlns:a16="http://schemas.microsoft.com/office/drawing/2014/main" id="{2DFAE05C-5A1C-45B9-9645-657577B4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815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3020"/>
            </a:solidFill>
            <a:prstDash val="solid"/>
          </a:ln>
        </p:spPr>
      </p:sp>
      <p:sp>
        <p:nvSpPr>
          <p:cNvPr id="26" name="terminal-1">
            <a:extLst xmlns:a="http://schemas.openxmlformats.org/drawingml/2006/main">
              <a:ext uri="{FF2B5EF4-FFF2-40B4-BE49-F238E27FC236}">
                <a16:creationId xmlns:a16="http://schemas.microsoft.com/office/drawing/2014/main" id="{FDC76F90-375D-4D95-A285-34735DB3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24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27" name="branch-2">
            <a:extLst xmlns:a="http://schemas.openxmlformats.org/drawingml/2006/main">
              <a:ext uri="{FF2B5EF4-FFF2-40B4-BE49-F238E27FC236}">
                <a16:creationId xmlns:a16="http://schemas.microsoft.com/office/drawing/2014/main" id="{15B7D0CF-3FE8-4473-A80F-A9850A10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81550"/>
            <a:ext cx="257175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3020"/>
            </a:solidFill>
            <a:prstDash val="solid"/>
          </a:ln>
        </p:spPr>
      </p:sp>
      <p:sp>
        <p:nvSpPr>
          <p:cNvPr id="28" name="terminal-2">
            <a:extLst xmlns:a="http://schemas.openxmlformats.org/drawingml/2006/main">
              <a:ext uri="{FF2B5EF4-FFF2-40B4-BE49-F238E27FC236}">
                <a16:creationId xmlns:a16="http://schemas.microsoft.com/office/drawing/2014/main" id="{A09BDAA8-75B4-488B-9558-61127F51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772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29" name="signal-title-0">
            <a:extLst xmlns:a="http://schemas.openxmlformats.org/drawingml/2006/main">
              <a:ext uri="{FF2B5EF4-FFF2-40B4-BE49-F238E27FC236}">
                <a16:creationId xmlns:a16="http://schemas.microsoft.com/office/drawing/2014/main" id="{B4E07C62-FC86-45C9-96B2-2CCB7950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95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Operations drift</a:t>
            </a:r>
          </a:p>
        </p:txBody>
      </p:sp>
      <p:sp>
        <p:nvSpPr>
          <p:cNvPr id="30" name="signal-copy-0">
            <a:extLst xmlns:a="http://schemas.openxmlformats.org/drawingml/2006/main">
              <a:ext uri="{FF2B5EF4-FFF2-40B4-BE49-F238E27FC236}">
                <a16:creationId xmlns:a16="http://schemas.microsoft.com/office/drawing/2014/main" id="{F4F62E78-3196-460B-9FCB-BEB1B86D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00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Important workflows live inside inboxes, meetings, memory, and manual handoffs.</a:t>
            </a:r>
          </a:p>
        </p:txBody>
      </p:sp>
      <p:sp>
        <p:nvSpPr>
          <p:cNvPr id="31" name="signal-title-1">
            <a:extLst xmlns:a="http://schemas.openxmlformats.org/drawingml/2006/main">
              <a:ext uri="{FF2B5EF4-FFF2-40B4-BE49-F238E27FC236}">
                <a16:creationId xmlns:a16="http://schemas.microsoft.com/office/drawing/2014/main" id="{AE2552E0-4B45-4FD6-AE4B-D2177EC8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Intelligence stays scattered</a:t>
            </a:r>
          </a:p>
        </p:txBody>
      </p:sp>
      <p:sp>
        <p:nvSpPr>
          <p:cNvPr id="32" name="signal-copy-1">
            <a:extLst xmlns:a="http://schemas.openxmlformats.org/drawingml/2006/main">
              <a:ext uri="{FF2B5EF4-FFF2-40B4-BE49-F238E27FC236}">
                <a16:creationId xmlns:a16="http://schemas.microsoft.com/office/drawing/2014/main" id="{FA0FBBA2-EACD-4B66-8B69-2BD8F5A1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05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Decisions, data, tools, and AI experiments do not connect to one operating rhythm.</a:t>
            </a:r>
          </a:p>
        </p:txBody>
      </p:sp>
      <p:sp>
        <p:nvSpPr>
          <p:cNvPr id="33" name="signal-title-2">
            <a:extLst xmlns:a="http://schemas.openxmlformats.org/drawingml/2006/main">
              <a:ext uri="{FF2B5EF4-FFF2-40B4-BE49-F238E27FC236}">
                <a16:creationId xmlns:a16="http://schemas.microsoft.com/office/drawing/2014/main" id="{17797135-D5EF-44D8-BFDD-FD0BA574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8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Presence becomes disconnected</a:t>
            </a:r>
          </a:p>
        </p:txBody>
      </p:sp>
      <p:sp>
        <p:nvSpPr>
          <p:cNvPr id="34" name="signal-copy-2">
            <a:extLst xmlns:a="http://schemas.openxmlformats.org/drawingml/2006/main">
              <a:ext uri="{FF2B5EF4-FFF2-40B4-BE49-F238E27FC236}">
                <a16:creationId xmlns:a16="http://schemas.microsoft.com/office/drawing/2014/main" id="{63783B00-9281-418D-B83D-11EBFB5E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912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Content keeps moving, but the message no longer reflects how the business creates value.</a:t>
            </a:r>
          </a:p>
        </p:txBody>
      </p:sp>
    </p:spTree>
    <p:extLst>
      <p:ext uri="{BB962C8B-B14F-4D97-AF65-F5344CB8AC3E}">
        <p14:creationId xmlns:p14="http://schemas.microsoft.com/office/powerpoint/2010/main" val="1816723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2B2970-F4C1-4A7F-B5CB-0E8EFEDD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DBC1F-C970-4D06-B6E8-C4AFF3C9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2B4F2-0918-4CA2-A890-9592A166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1353F-0081-4C91-8620-995B88AE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B9DFA-57C9-42FA-8F19-1A3D4B47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EF7DF-A5B0-444F-88AD-45836DCF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EC915-3964-4F59-92C4-06126FBA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DD36E-AEAF-4A84-B8EC-80D1828C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4C364-42C7-47D2-9040-D1D05A83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9A660-094E-4490-A5A1-148AFE5D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2C81D-C7AA-4F62-A312-75B096E9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A37B4-4928-4A47-9B16-97FA4251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Logic">
            <a:extLst xmlns:a="http://schemas.openxmlformats.org/drawingml/2006/main">
              <a:ext uri="{FF2B5EF4-FFF2-40B4-BE49-F238E27FC236}">
                <a16:creationId xmlns:a16="http://schemas.microsoft.com/office/drawing/2014/main" id="{9DD6DAB7-B5D8-4BD5-A96E-557105C9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4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0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870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Logic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472920cd4469a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0FE407F3-33CE-4134-BD07-1906D221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074FD59-B486-4789-A84D-A9830EA4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E559D8C0-99C6-49CE-8467-F8030C31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eyebrow-What Kramaniti is">
            <a:extLst xmlns:a="http://schemas.openxmlformats.org/drawingml/2006/main">
              <a:ext uri="{FF2B5EF4-FFF2-40B4-BE49-F238E27FC236}">
                <a16:creationId xmlns:a16="http://schemas.microsoft.com/office/drawing/2014/main" id="{E3281D13-DEDC-493E-915D-D1247D53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WHAT KRAMANITI IS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8538B592-6211-415D-B9DA-03FCDD08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685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A first-principles AI systems partner for brand growth.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02280D0C-3DD4-47B5-BCEB-5F937804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Kramaniti helps founders turn scattered operations, unclear AI ideas, and inconsistent content into one connected operating pipeline.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9EF1F1-7C9A-4785-9034-1969F828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2718"/>
            </a:solidFill>
            <a:prstDash val="solid"/>
          </a:ln>
        </p:spPr>
      </p:sp>
      <p:sp>
        <p:nvSpPr>
          <p:cNvPr id="22" name="pipe-node-0">
            <a:extLst xmlns:a="http://schemas.openxmlformats.org/drawingml/2006/main">
              <a:ext uri="{FF2B5EF4-FFF2-40B4-BE49-F238E27FC236}">
                <a16:creationId xmlns:a16="http://schemas.microsoft.com/office/drawing/2014/main" id="{E1DC36DC-E443-4255-A93D-BA42C6DB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57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9050">
            <a:solidFill>
              <a:srgbClr val="C9A84C"/>
            </a:solidFill>
            <a:prstDash val="solid"/>
          </a:ln>
        </p:spPr>
      </p:sp>
      <p:sp>
        <p:nvSpPr>
          <p:cNvPr id="23" name="pipe-title-0">
            <a:extLst xmlns:a="http://schemas.openxmlformats.org/drawingml/2006/main">
              <a:ext uri="{FF2B5EF4-FFF2-40B4-BE49-F238E27FC236}">
                <a16:creationId xmlns:a16="http://schemas.microsoft.com/office/drawing/2014/main" id="{1B2E3A3E-A72E-4A3B-9BCB-149392DC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Strategy</a:t>
            </a:r>
          </a:p>
        </p:txBody>
      </p:sp>
      <p:sp>
        <p:nvSpPr>
          <p:cNvPr id="24" name="pipe-copy-0">
            <a:extLst xmlns:a="http://schemas.openxmlformats.org/drawingml/2006/main">
              <a:ext uri="{FF2B5EF4-FFF2-40B4-BE49-F238E27FC236}">
                <a16:creationId xmlns:a16="http://schemas.microsoft.com/office/drawing/2014/main" id="{41D23707-4E70-458E-A557-F070E1D4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Clarity</a:t>
            </a:r>
          </a:p>
        </p:txBody>
      </p:sp>
      <p:sp>
        <p:nvSpPr>
          <p:cNvPr id="25" name="pipe-node-1">
            <a:extLst xmlns:a="http://schemas.openxmlformats.org/drawingml/2006/main">
              <a:ext uri="{FF2B5EF4-FFF2-40B4-BE49-F238E27FC236}">
                <a16:creationId xmlns:a16="http://schemas.microsoft.com/office/drawing/2014/main" id="{AEE029D3-5ED8-4763-A288-B7EF7D52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57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9050">
            <a:solidFill>
              <a:srgbClr val="C9A84C"/>
            </a:solidFill>
            <a:prstDash val="solid"/>
          </a:ln>
        </p:spPr>
      </p:sp>
      <p:sp>
        <p:nvSpPr>
          <p:cNvPr id="26" name="pipe-title-1">
            <a:extLst xmlns:a="http://schemas.openxmlformats.org/drawingml/2006/main">
              <a:ext uri="{FF2B5EF4-FFF2-40B4-BE49-F238E27FC236}">
                <a16:creationId xmlns:a16="http://schemas.microsoft.com/office/drawing/2014/main" id="{AE16B75A-44ED-427D-B442-12F197D6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624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Systems</a:t>
            </a:r>
          </a:p>
        </p:txBody>
      </p:sp>
      <p:sp>
        <p:nvSpPr>
          <p:cNvPr id="27" name="pipe-copy-1">
            <a:extLst xmlns:a="http://schemas.openxmlformats.org/drawingml/2006/main">
              <a:ext uri="{FF2B5EF4-FFF2-40B4-BE49-F238E27FC236}">
                <a16:creationId xmlns:a16="http://schemas.microsoft.com/office/drawing/2014/main" id="{873A405A-B8E2-414C-BCC6-F2D2F392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434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28" name="pipe-node-2">
            <a:extLst xmlns:a="http://schemas.openxmlformats.org/drawingml/2006/main">
              <a:ext uri="{FF2B5EF4-FFF2-40B4-BE49-F238E27FC236}">
                <a16:creationId xmlns:a16="http://schemas.microsoft.com/office/drawing/2014/main" id="{798B8AD8-39FD-4965-94C8-89E8B34E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857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9050">
            <a:solidFill>
              <a:srgbClr val="C9A84C"/>
            </a:solidFill>
            <a:prstDash val="solid"/>
          </a:ln>
        </p:spPr>
      </p:sp>
      <p:sp>
        <p:nvSpPr>
          <p:cNvPr id="29" name="pipe-title-2">
            <a:extLst xmlns:a="http://schemas.openxmlformats.org/drawingml/2006/main">
              <a:ext uri="{FF2B5EF4-FFF2-40B4-BE49-F238E27FC236}">
                <a16:creationId xmlns:a16="http://schemas.microsoft.com/office/drawing/2014/main" id="{16F3988A-C84C-4386-9D87-6FFCCB3E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624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Content</a:t>
            </a:r>
          </a:p>
        </p:txBody>
      </p:sp>
      <p:sp>
        <p:nvSpPr>
          <p:cNvPr id="30" name="pipe-copy-2">
            <a:extLst xmlns:a="http://schemas.openxmlformats.org/drawingml/2006/main">
              <a:ext uri="{FF2B5EF4-FFF2-40B4-BE49-F238E27FC236}">
                <a16:creationId xmlns:a16="http://schemas.microsoft.com/office/drawing/2014/main" id="{DFB3FA23-06FF-4A87-B270-22278244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Trust and distribution</a:t>
            </a:r>
          </a:p>
        </p:txBody>
      </p:sp>
      <p:sp>
        <p:nvSpPr>
          <p:cNvPr id="31" name="pipeline-outcome">
            <a:extLst xmlns:a="http://schemas.openxmlformats.org/drawingml/2006/main">
              <a:ext uri="{FF2B5EF4-FFF2-40B4-BE49-F238E27FC236}">
                <a16:creationId xmlns:a16="http://schemas.microsoft.com/office/drawing/2014/main" id="{4A051C33-77CA-4474-9BF5-D9D61919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9A84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9A84C"/>
                </a:solidFill>
                <a:latin typeface="Aptos Display"/>
                <a:ea typeface="Aptos Display"/>
                <a:cs typeface="Aptos Display"/>
              </a:rPr>
              <a:t>One connected growth system</a:t>
            </a:r>
          </a:p>
        </p:txBody>
      </p:sp>
    </p:spTree>
    <p:extLst>
      <p:ext uri="{BB962C8B-B14F-4D97-AF65-F5344CB8AC3E}">
        <p14:creationId xmlns:p14="http://schemas.microsoft.com/office/powerpoint/2010/main" val="10600972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069A6B-BA34-4E4C-9F6E-F7D78239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F03AB-0AE1-4FB6-94F7-C1A60DD6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E6A25-D2CB-47E3-AA63-F46C5472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DB793-6EFD-49EC-86D0-84C39ECE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0178E-03F5-4366-A7E0-B21DB0AF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8393A-00E0-4429-8536-BB9B188D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E3045-AC8A-4480-A1CB-D0B7E1F2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62D15-AF41-4FDB-9428-B04835D0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0C987-5CD2-4B84-866F-8C1B7501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91A57-8AE6-436E-8171-23E31868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A23EF-C5F5-402A-A2C1-5AEBE0A4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6C1A1-4820-4054-91C0-A94EF296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Clarity">
            <a:extLst xmlns:a="http://schemas.openxmlformats.org/drawingml/2006/main">
              <a:ext uri="{FF2B5EF4-FFF2-40B4-BE49-F238E27FC236}">
                <a16:creationId xmlns:a16="http://schemas.microsoft.com/office/drawing/2014/main" id="{03C2885E-7F59-4B03-9538-B4F8D788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7200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900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Clarity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7e2e78dda4f23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04111233-04F1-470A-B8A7-4621A90A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E9FDF4C-0CC0-498B-AC8F-E27B9B4C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2C71A065-905B-4CBA-89CB-810C39C2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eyebrow-Core belief">
            <a:extLst xmlns:a="http://schemas.openxmlformats.org/drawingml/2006/main">
              <a:ext uri="{FF2B5EF4-FFF2-40B4-BE49-F238E27FC236}">
                <a16:creationId xmlns:a16="http://schemas.microsoft.com/office/drawing/2014/main" id="{92396B7C-D912-442E-A44A-B8AC2A42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CORE BELIEF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AA7338C4-728B-41ED-9B70-C0DE559B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Clarity before scale.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4B4D1F3F-0BD4-4D52-9FB5-93A5800C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A brand does not need automation everywhere. It needs better thinking, better workflows, and better systems in the right places.</a:t>
            </a:r>
          </a:p>
        </p:txBody>
      </p:sp>
      <p:sp>
        <p:nvSpPr>
          <p:cNvPr id="21" name="belief-num-0">
            <a:extLst xmlns:a="http://schemas.openxmlformats.org/drawingml/2006/main">
              <a:ext uri="{FF2B5EF4-FFF2-40B4-BE49-F238E27FC236}">
                <a16:creationId xmlns:a16="http://schemas.microsoft.com/office/drawing/2014/main" id="{5BACB9C5-01D0-42A8-BCBE-1625D94E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04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2" name="belief-title-0">
            <a:extLst xmlns:a="http://schemas.openxmlformats.org/drawingml/2006/main">
              <a:ext uri="{FF2B5EF4-FFF2-40B4-BE49-F238E27FC236}">
                <a16:creationId xmlns:a16="http://schemas.microsoft.com/office/drawing/2014/main" id="{E5F4708C-815E-4518-85F8-09DC0E6B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62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Strategy before tools</a:t>
            </a:r>
          </a:p>
        </p:txBody>
      </p:sp>
      <p:sp>
        <p:nvSpPr>
          <p:cNvPr id="23" name="belief-copy-0">
            <a:extLst xmlns:a="http://schemas.openxmlformats.org/drawingml/2006/main">
              <a:ext uri="{FF2B5EF4-FFF2-40B4-BE49-F238E27FC236}">
                <a16:creationId xmlns:a16="http://schemas.microsoft.com/office/drawing/2014/main" id="{08ED0256-4EFC-4067-9FC5-B2983A89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Clarify the business logic before selecting AI, software, workflows, or content formats.</a:t>
            </a:r>
          </a:p>
        </p:txBody>
      </p:sp>
      <p:sp>
        <p:nvSpPr>
          <p:cNvPr id="24" name="belief-line-0">
            <a:extLst xmlns:a="http://schemas.openxmlformats.org/drawingml/2006/main">
              <a:ext uri="{FF2B5EF4-FFF2-40B4-BE49-F238E27FC236}">
                <a16:creationId xmlns:a16="http://schemas.microsoft.com/office/drawing/2014/main" id="{089C41A1-2F6F-4213-9F1D-63A3BEAE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76700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1A11"/>
            </a:solidFill>
            <a:prstDash val="solid"/>
          </a:ln>
        </p:spPr>
      </p:sp>
      <p:sp>
        <p:nvSpPr>
          <p:cNvPr id="25" name="belief-num-1">
            <a:extLst xmlns:a="http://schemas.openxmlformats.org/drawingml/2006/main">
              <a:ext uri="{FF2B5EF4-FFF2-40B4-BE49-F238E27FC236}">
                <a16:creationId xmlns:a16="http://schemas.microsoft.com/office/drawing/2014/main" id="{9E5876F2-9177-4655-A1AB-E5A2AA09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6" name="belief-title-1">
            <a:extLst xmlns:a="http://schemas.openxmlformats.org/drawingml/2006/main">
              <a:ext uri="{FF2B5EF4-FFF2-40B4-BE49-F238E27FC236}">
                <a16:creationId xmlns:a16="http://schemas.microsoft.com/office/drawing/2014/main" id="{C612E9C3-CF01-44EC-B6C1-94DD94D2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05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Systems before scale</a:t>
            </a:r>
          </a:p>
        </p:txBody>
      </p:sp>
      <p:sp>
        <p:nvSpPr>
          <p:cNvPr id="27" name="belief-copy-1">
            <a:extLst xmlns:a="http://schemas.openxmlformats.org/drawingml/2006/main">
              <a:ext uri="{FF2B5EF4-FFF2-40B4-BE49-F238E27FC236}">
                <a16:creationId xmlns:a16="http://schemas.microsoft.com/office/drawing/2014/main" id="{23A0C786-3A2C-42F0-A9BD-8E034578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434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Build operating support around the highest-friction workflow instead of adding more disconnected tools.</a:t>
            </a:r>
          </a:p>
        </p:txBody>
      </p:sp>
      <p:sp>
        <p:nvSpPr>
          <p:cNvPr id="28" name="belief-line-1">
            <a:extLst xmlns:a="http://schemas.openxmlformats.org/drawingml/2006/main">
              <a:ext uri="{FF2B5EF4-FFF2-40B4-BE49-F238E27FC236}">
                <a16:creationId xmlns:a16="http://schemas.microsoft.com/office/drawing/2014/main" id="{56FE0298-E77A-4664-BA2B-293B4935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19650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1A11"/>
            </a:solidFill>
            <a:prstDash val="solid"/>
          </a:ln>
        </p:spPr>
      </p:sp>
      <p:sp>
        <p:nvSpPr>
          <p:cNvPr id="29" name="belief-num-2">
            <a:extLst xmlns:a="http://schemas.openxmlformats.org/drawingml/2006/main">
              <a:ext uri="{FF2B5EF4-FFF2-40B4-BE49-F238E27FC236}">
                <a16:creationId xmlns:a16="http://schemas.microsoft.com/office/drawing/2014/main" id="{EE2EAE73-FBE9-4E1A-8C10-4927D4FB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0" name="belief-title-2">
            <a:extLst xmlns:a="http://schemas.openxmlformats.org/drawingml/2006/main">
              <a:ext uri="{FF2B5EF4-FFF2-40B4-BE49-F238E27FC236}">
                <a16:creationId xmlns:a16="http://schemas.microsoft.com/office/drawing/2014/main" id="{45281B2A-C451-4633-97C1-102A4C48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48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Content after clarity</a:t>
            </a:r>
          </a:p>
        </p:txBody>
      </p:sp>
      <p:sp>
        <p:nvSpPr>
          <p:cNvPr id="31" name="belief-copy-2">
            <a:extLst xmlns:a="http://schemas.openxmlformats.org/drawingml/2006/main">
              <a:ext uri="{FF2B5EF4-FFF2-40B4-BE49-F238E27FC236}">
                <a16:creationId xmlns:a16="http://schemas.microsoft.com/office/drawing/2014/main" id="{484FA27E-2FBE-4DDD-B790-6CB72DCA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86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Communicate from what the business can consistently deliver, not from generic campaign pressure.</a:t>
            </a:r>
          </a:p>
        </p:txBody>
      </p:sp>
      <p:sp>
        <p:nvSpPr>
          <p:cNvPr id="32" name="belief-line-2">
            <a:extLst xmlns:a="http://schemas.openxmlformats.org/drawingml/2006/main">
              <a:ext uri="{FF2B5EF4-FFF2-40B4-BE49-F238E27FC236}">
                <a16:creationId xmlns:a16="http://schemas.microsoft.com/office/drawing/2014/main" id="{970B0C55-AAD6-499E-AF82-C106BE93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62600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1A1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2455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B87322-26E5-4D32-9DF2-5BC244D5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172CB-669A-41F8-B4E5-A0C0F222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FE430-1494-41CC-9124-4BEAC578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C2C5E-023D-4F49-B836-A41F2F87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F4D5E-B128-4504-9DA9-23B327F0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723C1-FB58-4DAD-84D9-DB8E52BD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AB5E0-4666-4ECB-AD95-81BCD95E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6297F-9FCB-447A-B68F-3CD755F2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E0949-6B40-494F-9EBD-724FE436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4D110-BC9E-4417-9B29-E934D9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6B964-4052-4DAF-8E3B-854C2763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B4416-E80E-4F65-9B3E-F2BE45DD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Layers">
            <a:extLst xmlns:a="http://schemas.openxmlformats.org/drawingml/2006/main">
              <a:ext uri="{FF2B5EF4-FFF2-40B4-BE49-F238E27FC236}">
                <a16:creationId xmlns:a16="http://schemas.microsoft.com/office/drawing/2014/main" id="{98DFD447-B6CC-455A-9882-F007610F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6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1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91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Layers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3a944cb774b06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B9E6BE92-C765-41E4-908D-D4338D5B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5D4D89E-0291-41C0-BECF-CD4D0B31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CAA0E179-2464-41A5-B315-F2DBC839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eyebrow-The method">
            <a:extLst xmlns:a="http://schemas.openxmlformats.org/drawingml/2006/main">
              <a:ext uri="{FF2B5EF4-FFF2-40B4-BE49-F238E27FC236}">
                <a16:creationId xmlns:a16="http://schemas.microsoft.com/office/drawing/2014/main" id="{56B48CC2-3572-46E1-8DF1-AE309E97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71550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THE METHOD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D31A5BDC-EC11-4E51-A8F3-432253B3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31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One foundation. Three connected layers.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073250C1-F091-42DA-8AB2-3E12834C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Every system, tool, and piece of communication is tied back to how the business actually creates value.</a:t>
            </a:r>
          </a:p>
        </p:txBody>
      </p:sp>
      <p:sp>
        <p:nvSpPr>
          <p:cNvPr id="21" name="method-ring-0">
            <a:extLst xmlns:a="http://schemas.openxmlformats.org/drawingml/2006/main">
              <a:ext uri="{FF2B5EF4-FFF2-40B4-BE49-F238E27FC236}">
                <a16:creationId xmlns:a16="http://schemas.microsoft.com/office/drawing/2014/main" id="{0492E9A2-9000-4F0A-BBB9-6C7A50BA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95550"/>
            <a:ext cx="3619500" cy="3619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2713"/>
            </a:solidFill>
            <a:prstDash val="solid"/>
          </a:ln>
        </p:spPr>
      </p:sp>
      <p:sp>
        <p:nvSpPr>
          <p:cNvPr id="22" name="method-ring-1">
            <a:extLst xmlns:a="http://schemas.openxmlformats.org/drawingml/2006/main">
              <a:ext uri="{FF2B5EF4-FFF2-40B4-BE49-F238E27FC236}">
                <a16:creationId xmlns:a16="http://schemas.microsoft.com/office/drawing/2014/main" id="{70645B73-0D25-4AF0-AEAF-8BF3513F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09900"/>
            <a:ext cx="2590800" cy="2590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2351A"/>
            </a:solidFill>
            <a:prstDash val="solid"/>
          </a:ln>
        </p:spPr>
      </p:sp>
      <p:sp>
        <p:nvSpPr>
          <p:cNvPr id="23" name="method-ring-2">
            <a:extLst xmlns:a="http://schemas.openxmlformats.org/drawingml/2006/main">
              <a:ext uri="{FF2B5EF4-FFF2-40B4-BE49-F238E27FC236}">
                <a16:creationId xmlns:a16="http://schemas.microsoft.com/office/drawing/2014/main" id="{F85F2D2A-747D-4D4F-B4E9-8E00B0C6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5200"/>
            <a:ext cx="1600200" cy="1600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A84C"/>
            </a:solidFill>
            <a:prstDash val="solid"/>
          </a:ln>
        </p:spPr>
      </p:sp>
      <p:sp>
        <p:nvSpPr>
          <p:cNvPr id="24" name="foundation-core">
            <a:extLst xmlns:a="http://schemas.openxmlformats.org/drawingml/2006/main">
              <a:ext uri="{FF2B5EF4-FFF2-40B4-BE49-F238E27FC236}">
                <a16:creationId xmlns:a16="http://schemas.microsoft.com/office/drawing/2014/main" id="{06983F84-6E6F-43A5-B5EE-C4DE1CBE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00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215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25" name="foundation-label">
            <a:extLst xmlns:a="http://schemas.openxmlformats.org/drawingml/2006/main">
              <a:ext uri="{FF2B5EF4-FFF2-40B4-BE49-F238E27FC236}">
                <a16:creationId xmlns:a16="http://schemas.microsoft.com/office/drawing/2014/main" id="{5F541527-1DD7-4C21-8A14-2038FFAD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100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26" name="method-index-0">
            <a:extLst xmlns:a="http://schemas.openxmlformats.org/drawingml/2006/main">
              <a:ext uri="{FF2B5EF4-FFF2-40B4-BE49-F238E27FC236}">
                <a16:creationId xmlns:a16="http://schemas.microsoft.com/office/drawing/2014/main" id="{86AE1437-2F10-4D68-A9B0-6249297F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57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7" name="method-title-0">
            <a:extLst xmlns:a="http://schemas.openxmlformats.org/drawingml/2006/main">
              <a:ext uri="{FF2B5EF4-FFF2-40B4-BE49-F238E27FC236}">
                <a16:creationId xmlns:a16="http://schemas.microsoft.com/office/drawing/2014/main" id="{4D94854C-6004-4189-ACDB-4A76A4DD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Operations</a:t>
            </a:r>
          </a:p>
        </p:txBody>
      </p:sp>
      <p:sp>
        <p:nvSpPr>
          <p:cNvPr id="28" name="method-copy-0">
            <a:extLst xmlns:a="http://schemas.openxmlformats.org/drawingml/2006/main">
              <a:ext uri="{FF2B5EF4-FFF2-40B4-BE49-F238E27FC236}">
                <a16:creationId xmlns:a16="http://schemas.microsoft.com/office/drawing/2014/main" id="{956390C3-C879-4199-AE87-901C9F27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Workflows, handoffs, bottlenecks, decisions, people, and priorities.</a:t>
            </a:r>
          </a:p>
        </p:txBody>
      </p:sp>
      <p:sp>
        <p:nvSpPr>
          <p:cNvPr id="29" name="method-row-line-0">
            <a:extLst xmlns:a="http://schemas.openxmlformats.org/drawingml/2006/main">
              <a:ext uri="{FF2B5EF4-FFF2-40B4-BE49-F238E27FC236}">
                <a16:creationId xmlns:a16="http://schemas.microsoft.com/office/drawing/2014/main" id="{72046E03-807F-41C3-9A65-C8F696EF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81450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1A11"/>
            </a:solidFill>
            <a:prstDash val="solid"/>
          </a:ln>
        </p:spPr>
      </p:sp>
      <p:sp>
        <p:nvSpPr>
          <p:cNvPr id="30" name="method-index-1">
            <a:extLst xmlns:a="http://schemas.openxmlformats.org/drawingml/2006/main">
              <a:ext uri="{FF2B5EF4-FFF2-40B4-BE49-F238E27FC236}">
                <a16:creationId xmlns:a16="http://schemas.microsoft.com/office/drawing/2014/main" id="{50A73832-C35F-494E-83E7-E1115ED1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33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1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1736A38F-DA60-4D1E-9083-8FB972D6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Intelligence</a:t>
            </a:r>
          </a:p>
        </p:txBody>
      </p:sp>
      <p:sp>
        <p:nvSpPr>
          <p:cNvPr id="32" name="method-copy-1">
            <a:extLst xmlns:a="http://schemas.openxmlformats.org/drawingml/2006/main">
              <a:ext uri="{FF2B5EF4-FFF2-40B4-BE49-F238E27FC236}">
                <a16:creationId xmlns:a16="http://schemas.microsoft.com/office/drawing/2014/main" id="{9E0C225A-158E-4E61-A015-94812B5A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386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Practical systems, AI support, documentation, and decision loops.</a:t>
            </a:r>
          </a:p>
        </p:txBody>
      </p:sp>
      <p:sp>
        <p:nvSpPr>
          <p:cNvPr id="33" name="method-row-line-1">
            <a:extLst xmlns:a="http://schemas.openxmlformats.org/drawingml/2006/main">
              <a:ext uri="{FF2B5EF4-FFF2-40B4-BE49-F238E27FC236}">
                <a16:creationId xmlns:a16="http://schemas.microsoft.com/office/drawing/2014/main" id="{E6782A9D-611A-40CE-BBF2-BEBFC81C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57750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1A11"/>
            </a:solidFill>
            <a:prstDash val="solid"/>
          </a:ln>
        </p:spPr>
      </p:sp>
      <p:sp>
        <p:nvSpPr>
          <p:cNvPr id="34" name="method-index-2">
            <a:extLst xmlns:a="http://schemas.openxmlformats.org/drawingml/2006/main">
              <a:ext uri="{FF2B5EF4-FFF2-40B4-BE49-F238E27FC236}">
                <a16:creationId xmlns:a16="http://schemas.microsoft.com/office/drawing/2014/main" id="{82822E79-BD85-464C-AE3F-5009CE86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10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5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526276AF-E4B4-4F7B-A61F-602B4213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Presence</a:t>
            </a:r>
          </a:p>
        </p:txBody>
      </p:sp>
      <p:sp>
        <p:nvSpPr>
          <p:cNvPr id="36" name="method-copy-2">
            <a:extLst xmlns:a="http://schemas.openxmlformats.org/drawingml/2006/main">
              <a:ext uri="{FF2B5EF4-FFF2-40B4-BE49-F238E27FC236}">
                <a16:creationId xmlns:a16="http://schemas.microsoft.com/office/drawing/2014/main" id="{255BC86F-C088-4975-ADC8-5B10A8AB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4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Content, narrative, and communication that reflect real business value.</a:t>
            </a:r>
          </a:p>
        </p:txBody>
      </p:sp>
      <p:sp>
        <p:nvSpPr>
          <p:cNvPr id="37" name="method-row-line-2">
            <a:extLst xmlns:a="http://schemas.openxmlformats.org/drawingml/2006/main">
              <a:ext uri="{FF2B5EF4-FFF2-40B4-BE49-F238E27FC236}">
                <a16:creationId xmlns:a16="http://schemas.microsoft.com/office/drawing/2014/main" id="{25B5F646-0303-4AF2-B068-CB1D82A9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734050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1A1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19847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D903D-ED9B-4CDA-BE40-C6ECFF6E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DD411-684E-4E6D-A1D2-812413AB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29D38-33B7-4626-B3B4-1A10F692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451C8-DE0C-40C7-B675-ECD4420F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3DDEA-8D23-4904-8CB4-523A4A5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BCF0D-176D-45E1-9CD2-F04BEEB4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AB585-9F53-4FF7-886C-F9B105FB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C4E36-5393-42B3-9D15-FB40B3E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3AA16-2A5A-41E1-98BB-C368E43B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EB06F-31B2-4389-942F-17E0C1BE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DBDD8-F5F1-4C49-9EAD-07DB978B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BC78B-B9B7-4E00-B7E1-660CA416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Reality">
            <a:extLst xmlns:a="http://schemas.openxmlformats.org/drawingml/2006/main">
              <a:ext uri="{FF2B5EF4-FFF2-40B4-BE49-F238E27FC236}">
                <a16:creationId xmlns:a16="http://schemas.microsoft.com/office/drawing/2014/main" id="{3534772A-911E-4587-9921-19CA0A3D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7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82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Reality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a60e2fd50497b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71A77C47-211E-4A00-885E-4DE201BB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B1A983F-6BC3-4B8D-96E9-3ACC9597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1A21CB8E-8864-4553-9A3A-BB68771D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eyebrow-Layer 01 / Operations">
            <a:extLst xmlns:a="http://schemas.openxmlformats.org/drawingml/2006/main">
              <a:ext uri="{FF2B5EF4-FFF2-40B4-BE49-F238E27FC236}">
                <a16:creationId xmlns:a16="http://schemas.microsoft.com/office/drawing/2014/main" id="{F5258A4A-DCBF-4F6F-81E3-A5961828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LAYER 01 / OPERATIONS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FECBCAB8-630F-4D11-838D-D358C4F7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Diagnose how the business actually works.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ABE00A77-A935-41BB-A149-DC8A2A35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The first layer turns founder intuition and team habits into a clear map of workflows, decisions, bottlenecks, handoffs, and priorities.</a:t>
            </a:r>
          </a:p>
        </p:txBody>
      </p:sp>
      <p:sp>
        <p:nvSpPr>
          <p:cNvPr id="21" name="card-1-outer">
            <a:extLst xmlns:a="http://schemas.openxmlformats.org/drawingml/2006/main">
              <a:ext uri="{FF2B5EF4-FFF2-40B4-BE49-F238E27FC236}">
                <a16:creationId xmlns:a16="http://schemas.microsoft.com/office/drawing/2014/main" id="{CE785320-7096-4CC3-9D8F-3838D87A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57625"/>
            <a:ext cx="3067050" cy="163830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2" name="card-1">
            <a:extLst xmlns:a="http://schemas.openxmlformats.org/drawingml/2006/main">
              <a:ext uri="{FF2B5EF4-FFF2-40B4-BE49-F238E27FC236}">
                <a16:creationId xmlns:a16="http://schemas.microsoft.com/office/drawing/2014/main" id="{BB5E2E7A-4363-426C-8E75-A8B0A04B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9718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3" name="card-index-1">
            <a:extLst xmlns:a="http://schemas.openxmlformats.org/drawingml/2006/main">
              <a:ext uri="{FF2B5EF4-FFF2-40B4-BE49-F238E27FC236}">
                <a16:creationId xmlns:a16="http://schemas.microsoft.com/office/drawing/2014/main" id="{20B7B10C-FA81-4AA3-9162-100DD1D2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14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[01]</a:t>
            </a:r>
          </a:p>
        </p:txBody>
      </p:sp>
      <p:sp>
        <p:nvSpPr>
          <p:cNvPr id="24" name="card-label-1">
            <a:extLst xmlns:a="http://schemas.openxmlformats.org/drawingml/2006/main">
              <a:ext uri="{FF2B5EF4-FFF2-40B4-BE49-F238E27FC236}">
                <a16:creationId xmlns:a16="http://schemas.microsoft.com/office/drawing/2014/main" id="{E8992CF9-9BB1-4D47-8AF8-870986BA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148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25" name="card-heading-1">
            <a:extLst xmlns:a="http://schemas.openxmlformats.org/drawingml/2006/main">
              <a:ext uri="{FF2B5EF4-FFF2-40B4-BE49-F238E27FC236}">
                <a16:creationId xmlns:a16="http://schemas.microsoft.com/office/drawing/2014/main" id="{19493CE1-BC98-4033-9BA4-A1A9174C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577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Observe</a:t>
            </a:r>
          </a:p>
        </p:txBody>
      </p:sp>
      <p:sp>
        <p:nvSpPr>
          <p:cNvPr id="26" name="card-copy-1">
            <a:extLst xmlns:a="http://schemas.openxmlformats.org/drawingml/2006/main">
              <a:ext uri="{FF2B5EF4-FFF2-40B4-BE49-F238E27FC236}">
                <a16:creationId xmlns:a16="http://schemas.microsoft.com/office/drawing/2014/main" id="{FCEA385D-0B77-4FCB-BCC0-FBF2F2E1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05400"/>
            <a:ext cx="2552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74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Where work really happens: inboxes, meetings, memory, sheets, tools, approvals.</a:t>
            </a:r>
          </a:p>
        </p:txBody>
      </p:sp>
      <p:sp>
        <p:nvSpPr>
          <p:cNvPr id="27" name="card-2-outer">
            <a:extLst xmlns:a="http://schemas.openxmlformats.org/drawingml/2006/main">
              <a:ext uri="{FF2B5EF4-FFF2-40B4-BE49-F238E27FC236}">
                <a16:creationId xmlns:a16="http://schemas.microsoft.com/office/drawing/2014/main" id="{8D2CC515-E0E4-483D-BBBD-CD7C9714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57625"/>
            <a:ext cx="3067050" cy="163830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8" name="card-2">
            <a:extLst xmlns:a="http://schemas.openxmlformats.org/drawingml/2006/main">
              <a:ext uri="{FF2B5EF4-FFF2-40B4-BE49-F238E27FC236}">
                <a16:creationId xmlns:a16="http://schemas.microsoft.com/office/drawing/2014/main" id="{E7A54DCB-2EAB-47C2-9042-16A1EE7B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9718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9" name="card-index-2">
            <a:extLst xmlns:a="http://schemas.openxmlformats.org/drawingml/2006/main">
              <a:ext uri="{FF2B5EF4-FFF2-40B4-BE49-F238E27FC236}">
                <a16:creationId xmlns:a16="http://schemas.microsoft.com/office/drawing/2014/main" id="{6E0CA2B3-3864-40F9-976E-5FEDDCF0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[02]</a:t>
            </a:r>
          </a:p>
        </p:txBody>
      </p:sp>
      <p:sp>
        <p:nvSpPr>
          <p:cNvPr id="30" name="card-label-2">
            <a:extLst xmlns:a="http://schemas.openxmlformats.org/drawingml/2006/main">
              <a:ext uri="{FF2B5EF4-FFF2-40B4-BE49-F238E27FC236}">
                <a16:creationId xmlns:a16="http://schemas.microsoft.com/office/drawing/2014/main" id="{E56CA63D-9B8A-407F-9E08-3970F114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148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31" name="card-heading-2">
            <a:extLst xmlns:a="http://schemas.openxmlformats.org/drawingml/2006/main">
              <a:ext uri="{FF2B5EF4-FFF2-40B4-BE49-F238E27FC236}">
                <a16:creationId xmlns:a16="http://schemas.microsoft.com/office/drawing/2014/main" id="{E3A2AD68-D650-4644-BA06-50A80F64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577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32" name="card-copy-2">
            <a:extLst xmlns:a="http://schemas.openxmlformats.org/drawingml/2006/main">
              <a:ext uri="{FF2B5EF4-FFF2-40B4-BE49-F238E27FC236}">
                <a16:creationId xmlns:a16="http://schemas.microsoft.com/office/drawing/2014/main" id="{1E4155E5-D32A-4182-A06B-8ECED2E0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552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01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The critical workflow, decision owner, handoff points, exceptions, and delays.</a:t>
            </a:r>
          </a:p>
        </p:txBody>
      </p:sp>
      <p:sp>
        <p:nvSpPr>
          <p:cNvPr id="33" name="card-3-outer">
            <a:extLst xmlns:a="http://schemas.openxmlformats.org/drawingml/2006/main">
              <a:ext uri="{FF2B5EF4-FFF2-40B4-BE49-F238E27FC236}">
                <a16:creationId xmlns:a16="http://schemas.microsoft.com/office/drawing/2014/main" id="{33F578A0-97AA-40B1-882F-99DE1A01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857625"/>
            <a:ext cx="3067050" cy="163830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34" name="card-3">
            <a:extLst xmlns:a="http://schemas.openxmlformats.org/drawingml/2006/main">
              <a:ext uri="{FF2B5EF4-FFF2-40B4-BE49-F238E27FC236}">
                <a16:creationId xmlns:a16="http://schemas.microsoft.com/office/drawing/2014/main" id="{20D4443B-D2FF-4824-B4EF-ABEF7B3C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29718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35" name="card-index-3">
            <a:extLst xmlns:a="http://schemas.openxmlformats.org/drawingml/2006/main">
              <a:ext uri="{FF2B5EF4-FFF2-40B4-BE49-F238E27FC236}">
                <a16:creationId xmlns:a16="http://schemas.microsoft.com/office/drawing/2014/main" id="{779B5F9C-67CE-449D-BD4F-20082310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4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[03]</a:t>
            </a:r>
          </a:p>
        </p:txBody>
      </p:sp>
      <p:sp>
        <p:nvSpPr>
          <p:cNvPr id="36" name="card-label-3">
            <a:extLst xmlns:a="http://schemas.openxmlformats.org/drawingml/2006/main">
              <a:ext uri="{FF2B5EF4-FFF2-40B4-BE49-F238E27FC236}">
                <a16:creationId xmlns:a16="http://schemas.microsoft.com/office/drawing/2014/main" id="{8BDB6105-43DD-4EAF-A5DD-D6466A6A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PRIORITIZE</a:t>
            </a:r>
          </a:p>
        </p:txBody>
      </p:sp>
      <p:sp>
        <p:nvSpPr>
          <p:cNvPr id="37" name="card-heading-3">
            <a:extLst xmlns:a="http://schemas.openxmlformats.org/drawingml/2006/main">
              <a:ext uri="{FF2B5EF4-FFF2-40B4-BE49-F238E27FC236}">
                <a16:creationId xmlns:a16="http://schemas.microsoft.com/office/drawing/2014/main" id="{46810837-CD0A-4DEB-86C8-9ABE4F72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577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Prioritize</a:t>
            </a:r>
          </a:p>
        </p:txBody>
      </p:sp>
      <p:sp>
        <p:nvSpPr>
          <p:cNvPr id="38" name="card-copy-3">
            <a:extLst xmlns:a="http://schemas.openxmlformats.org/drawingml/2006/main">
              <a:ext uri="{FF2B5EF4-FFF2-40B4-BE49-F238E27FC236}">
                <a16:creationId xmlns:a16="http://schemas.microsoft.com/office/drawing/2014/main" id="{0589471E-6B3C-424A-89E0-7E089CEB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05400"/>
            <a:ext cx="2552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64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The first system worth building based on friction, leverage, and adoption readiness.</a:t>
            </a:r>
          </a:p>
        </p:txBody>
      </p:sp>
    </p:spTree>
    <p:extLst>
      <p:ext uri="{BB962C8B-B14F-4D97-AF65-F5344CB8AC3E}">
        <p14:creationId xmlns:p14="http://schemas.microsoft.com/office/powerpoint/2010/main" val="750638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0B176E-1376-4F90-B8CE-95936F95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8910A-BACB-4992-A794-7308095D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84338-062F-4159-A231-C1EED4A1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47DA8-46C0-47F9-BE53-22EE0F9D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BF80B-8DAD-41BB-81B6-CCC54399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6CB7D-8055-4382-847E-0E36A673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67DAC-6205-4580-A919-39B11B4A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5B605-C7A5-4AA5-821E-8B50083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7168B-BEDE-4F70-B4E7-2D27AC53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F7E07-F008-4232-BEB3-1621BC77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03F30-6886-40CC-A17C-DD41E524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89648-812F-4369-B3D5-94A4F62B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Build">
            <a:extLst xmlns:a="http://schemas.openxmlformats.org/drawingml/2006/main">
              <a:ext uri="{FF2B5EF4-FFF2-40B4-BE49-F238E27FC236}">
                <a16:creationId xmlns:a16="http://schemas.microsoft.com/office/drawing/2014/main" id="{7316D8D7-A07E-4F3E-8A85-6DEC929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2440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4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0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870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3a1ac5c8e4df5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55097603-8055-47F7-8A38-1D0F1B1F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50B2EC-EEA0-471D-A4B0-A79A744B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23136879-4AF3-4304-B439-B9069715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eyebrow-Layer 02 / Intelligence">
            <a:extLst xmlns:a="http://schemas.openxmlformats.org/drawingml/2006/main">
              <a:ext uri="{FF2B5EF4-FFF2-40B4-BE49-F238E27FC236}">
                <a16:creationId xmlns:a16="http://schemas.microsoft.com/office/drawing/2014/main" id="{E032095C-7E2E-47CD-AB4F-C31F2BEA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LAYER 02 / INTELLIGENCE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C990E682-649B-40BC-A964-E7E8676C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Design practical systems around the work that matters.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3340D726-44A3-4230-937B-E3D1D725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The second layer turns the priority workflow into usable operating infrastructure: AI-assisted tools, documentation, integrations, decision support, and review checkpoints.</a:t>
            </a:r>
          </a:p>
        </p:txBody>
      </p:sp>
      <p:sp>
        <p:nvSpPr>
          <p:cNvPr id="21" name="intel-node-0">
            <a:extLst xmlns:a="http://schemas.openxmlformats.org/drawingml/2006/main">
              <a:ext uri="{FF2B5EF4-FFF2-40B4-BE49-F238E27FC236}">
                <a16:creationId xmlns:a16="http://schemas.microsoft.com/office/drawing/2014/main" id="{77E42E6D-3FE2-4EC1-8526-8AB85D3A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4288">
            <a:solidFill>
              <a:srgbClr val="C9A84C"/>
            </a:solidFill>
            <a:prstDash val="solid"/>
          </a:ln>
        </p:spPr>
      </p:sp>
      <p:sp>
        <p:nvSpPr>
          <p:cNvPr id="22" name="intel-label-0">
            <a:extLst xmlns:a="http://schemas.openxmlformats.org/drawingml/2006/main">
              <a:ext uri="{FF2B5EF4-FFF2-40B4-BE49-F238E27FC236}">
                <a16:creationId xmlns:a16="http://schemas.microsoft.com/office/drawing/2014/main" id="{3C475847-BDE7-4E18-B326-84DBE999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23" name="intel-copy-0">
            <a:extLst xmlns:a="http://schemas.openxmlformats.org/drawingml/2006/main">
              <a:ext uri="{FF2B5EF4-FFF2-40B4-BE49-F238E27FC236}">
                <a16:creationId xmlns:a16="http://schemas.microsoft.com/office/drawing/2014/main" id="{3DA745B1-F461-4E2A-96F0-EA45831E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Business reality</a:t>
            </a:r>
          </a:p>
        </p:txBody>
      </p:sp>
      <p:sp>
        <p:nvSpPr>
          <p:cNvPr id="24" name="intel-line-0">
            <a:extLst xmlns:a="http://schemas.openxmlformats.org/drawingml/2006/main">
              <a:ext uri="{FF2B5EF4-FFF2-40B4-BE49-F238E27FC236}">
                <a16:creationId xmlns:a16="http://schemas.microsoft.com/office/drawing/2014/main" id="{F617FAE8-AF1B-4313-818F-F9A67516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1480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311A"/>
            </a:solidFill>
            <a:prstDash val="solid"/>
          </a:ln>
        </p:spPr>
      </p:sp>
      <p:sp>
        <p:nvSpPr>
          <p:cNvPr id="25" name="intel-node-1">
            <a:extLst xmlns:a="http://schemas.openxmlformats.org/drawingml/2006/main">
              <a:ext uri="{FF2B5EF4-FFF2-40B4-BE49-F238E27FC236}">
                <a16:creationId xmlns:a16="http://schemas.microsoft.com/office/drawing/2014/main" id="{8DF148E2-F460-489D-9AC3-7704475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4288">
            <a:solidFill>
              <a:srgbClr val="C9A84C"/>
            </a:solidFill>
            <a:prstDash val="solid"/>
          </a:ln>
        </p:spPr>
      </p:sp>
      <p:sp>
        <p:nvSpPr>
          <p:cNvPr id="26" name="intel-label-1">
            <a:extLst xmlns:a="http://schemas.openxmlformats.org/drawingml/2006/main">
              <a:ext uri="{FF2B5EF4-FFF2-40B4-BE49-F238E27FC236}">
                <a16:creationId xmlns:a16="http://schemas.microsoft.com/office/drawing/2014/main" id="{E6672AAC-39F0-4784-884A-449A9CDE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339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LOGIC</a:t>
            </a:r>
          </a:p>
        </p:txBody>
      </p:sp>
      <p:sp>
        <p:nvSpPr>
          <p:cNvPr id="27" name="intel-copy-1">
            <a:extLst xmlns:a="http://schemas.openxmlformats.org/drawingml/2006/main">
              <a:ext uri="{FF2B5EF4-FFF2-40B4-BE49-F238E27FC236}">
                <a16:creationId xmlns:a16="http://schemas.microsoft.com/office/drawing/2014/main" id="{21F12957-69C1-4917-AA02-14363262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Workflow rules</a:t>
            </a:r>
          </a:p>
        </p:txBody>
      </p:sp>
      <p:sp>
        <p:nvSpPr>
          <p:cNvPr id="28" name="intel-line-1">
            <a:extLst xmlns:a="http://schemas.openxmlformats.org/drawingml/2006/main">
              <a:ext uri="{FF2B5EF4-FFF2-40B4-BE49-F238E27FC236}">
                <a16:creationId xmlns:a16="http://schemas.microsoft.com/office/drawing/2014/main" id="{537CDC7C-94CB-48A4-A15C-95941437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1480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311A"/>
            </a:solidFill>
            <a:prstDash val="solid"/>
          </a:ln>
        </p:spPr>
      </p:sp>
      <p:sp>
        <p:nvSpPr>
          <p:cNvPr id="29" name="intel-node-2">
            <a:extLst xmlns:a="http://schemas.openxmlformats.org/drawingml/2006/main">
              <a:ext uri="{FF2B5EF4-FFF2-40B4-BE49-F238E27FC236}">
                <a16:creationId xmlns:a16="http://schemas.microsoft.com/office/drawing/2014/main" id="{5A45DAAE-7445-4BFA-BB47-D01137C4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86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1F14"/>
          </a:solidFill>
          <a:ln xmlns:a="http://schemas.openxmlformats.org/drawingml/2006/main" w="14288">
            <a:solidFill>
              <a:srgbClr val="C9A84C"/>
            </a:solidFill>
            <a:prstDash val="solid"/>
          </a:ln>
        </p:spPr>
      </p:sp>
      <p:sp>
        <p:nvSpPr>
          <p:cNvPr id="30" name="intel-label-2">
            <a:extLst xmlns:a="http://schemas.openxmlformats.org/drawingml/2006/main">
              <a:ext uri="{FF2B5EF4-FFF2-40B4-BE49-F238E27FC236}">
                <a16:creationId xmlns:a16="http://schemas.microsoft.com/office/drawing/2014/main" id="{602F1798-1302-4EB2-8FC5-757F10F7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339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31" name="intel-copy-2">
            <a:extLst xmlns:a="http://schemas.openxmlformats.org/drawingml/2006/main">
              <a:ext uri="{FF2B5EF4-FFF2-40B4-BE49-F238E27FC236}">
                <a16:creationId xmlns:a16="http://schemas.microsoft.com/office/drawing/2014/main" id="{BDDF4675-CF51-4B97-91BB-C97EAA58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AI + tools</a:t>
            </a:r>
          </a:p>
        </p:txBody>
      </p:sp>
      <p:sp>
        <p:nvSpPr>
          <p:cNvPr id="32" name="intel-line-2">
            <a:extLst xmlns:a="http://schemas.openxmlformats.org/drawingml/2006/main">
              <a:ext uri="{FF2B5EF4-FFF2-40B4-BE49-F238E27FC236}">
                <a16:creationId xmlns:a16="http://schemas.microsoft.com/office/drawing/2014/main" id="{F8EB9B41-8A42-4AD5-9B79-9225C137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1480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311A"/>
            </a:solidFill>
            <a:prstDash val="solid"/>
          </a:ln>
        </p:spPr>
      </p:sp>
      <p:sp>
        <p:nvSpPr>
          <p:cNvPr id="33" name="intel-node-3">
            <a:extLst xmlns:a="http://schemas.openxmlformats.org/drawingml/2006/main">
              <a:ext uri="{FF2B5EF4-FFF2-40B4-BE49-F238E27FC236}">
                <a16:creationId xmlns:a16="http://schemas.microsoft.com/office/drawing/2014/main" id="{970DD556-25FC-4174-BEEC-7CBBC6F6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86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4288">
            <a:solidFill>
              <a:srgbClr val="C9A84C"/>
            </a:solidFill>
            <a:prstDash val="solid"/>
          </a:ln>
        </p:spPr>
      </p:sp>
      <p:sp>
        <p:nvSpPr>
          <p:cNvPr id="34" name="intel-label-3">
            <a:extLst xmlns:a="http://schemas.openxmlformats.org/drawingml/2006/main">
              <a:ext uri="{FF2B5EF4-FFF2-40B4-BE49-F238E27FC236}">
                <a16:creationId xmlns:a16="http://schemas.microsoft.com/office/drawing/2014/main" id="{5CDCD550-3F9A-4650-9D6B-E7C4A3DF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5" name="intel-copy-3">
            <a:extLst xmlns:a="http://schemas.openxmlformats.org/drawingml/2006/main">
              <a:ext uri="{FF2B5EF4-FFF2-40B4-BE49-F238E27FC236}">
                <a16:creationId xmlns:a16="http://schemas.microsoft.com/office/drawing/2014/main" id="{66EE010F-735D-4BCD-B1DC-B7C38DF2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625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Human checkpoints</a:t>
            </a:r>
          </a:p>
        </p:txBody>
      </p:sp>
      <p:sp>
        <p:nvSpPr>
          <p:cNvPr id="36" name="intel-line-3">
            <a:extLst xmlns:a="http://schemas.openxmlformats.org/drawingml/2006/main">
              <a:ext uri="{FF2B5EF4-FFF2-40B4-BE49-F238E27FC236}">
                <a16:creationId xmlns:a16="http://schemas.microsoft.com/office/drawing/2014/main" id="{320B795F-71A1-4F1B-BCA4-3DA46EAB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1480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311A"/>
            </a:solidFill>
            <a:prstDash val="solid"/>
          </a:ln>
        </p:spPr>
      </p:sp>
      <p:sp>
        <p:nvSpPr>
          <p:cNvPr id="37" name="intel-node-4">
            <a:extLst xmlns:a="http://schemas.openxmlformats.org/drawingml/2006/main">
              <a:ext uri="{FF2B5EF4-FFF2-40B4-BE49-F238E27FC236}">
                <a16:creationId xmlns:a16="http://schemas.microsoft.com/office/drawing/2014/main" id="{C7032D7C-8932-4FC6-8EA0-F0847FC0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86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4288">
            <a:solidFill>
              <a:srgbClr val="C9A84C"/>
            </a:solidFill>
            <a:prstDash val="solid"/>
          </a:ln>
        </p:spPr>
      </p:sp>
      <p:sp>
        <p:nvSpPr>
          <p:cNvPr id="38" name="intel-label-4">
            <a:extLst xmlns:a="http://schemas.openxmlformats.org/drawingml/2006/main">
              <a:ext uri="{FF2B5EF4-FFF2-40B4-BE49-F238E27FC236}">
                <a16:creationId xmlns:a16="http://schemas.microsoft.com/office/drawing/2014/main" id="{26B3A223-6DB2-4E57-B6B5-4337B408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339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9" name="intel-copy-4">
            <a:extLst xmlns:a="http://schemas.openxmlformats.org/drawingml/2006/main">
              <a:ext uri="{FF2B5EF4-FFF2-40B4-BE49-F238E27FC236}">
                <a16:creationId xmlns:a16="http://schemas.microsoft.com/office/drawing/2014/main" id="{B50A3DA1-5AEE-41C5-B30C-995A94D0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Usable system</a:t>
            </a:r>
          </a:p>
        </p:txBody>
      </p:sp>
      <p:sp>
        <p:nvSpPr>
          <p:cNvPr id="40" name="intel-bottom">
            <a:extLst xmlns:a="http://schemas.openxmlformats.org/drawingml/2006/main">
              <a:ext uri="{FF2B5EF4-FFF2-40B4-BE49-F238E27FC236}">
                <a16:creationId xmlns:a16="http://schemas.microsoft.com/office/drawing/2014/main" id="{075593E1-B1F0-4043-AAEC-82641657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72150"/>
            <a:ext cx="662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The system is designed so people know when AI assists, when humans review, and where ownership lives.</a:t>
            </a:r>
          </a:p>
        </p:txBody>
      </p:sp>
    </p:spTree>
    <p:extLst>
      <p:ext uri="{BB962C8B-B14F-4D97-AF65-F5344CB8AC3E}">
        <p14:creationId xmlns:p14="http://schemas.microsoft.com/office/powerpoint/2010/main" val="2089377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CE083B-CAEF-47FF-96B4-0D58DEE2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CFF1F-B32B-439D-8788-88CA25C8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825CA-4F46-4DE5-AAAA-EFCF9FE2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D1D8A-65FB-4C25-8460-23F03A86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7F449-E359-4773-ABDB-7F66472D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5CE03-3B7E-450A-9228-07163E48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70F60-D7D3-4DA1-90D6-9184955A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E67A3-F03D-4467-BB54-FD80B588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8E082-55CC-4BA6-8A10-78DB3D49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C08D6-0384-4816-B5BD-2DA5E013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A71DA-94F0-495F-AB79-D51764FD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013E9-D7F9-450F-B6C5-3A2DCFA9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Presence">
            <a:extLst xmlns:a="http://schemas.openxmlformats.org/drawingml/2006/main">
              <a:ext uri="{FF2B5EF4-FFF2-40B4-BE49-F238E27FC236}">
                <a16:creationId xmlns:a16="http://schemas.microsoft.com/office/drawing/2014/main" id="{A5294684-4446-45F1-86D8-B505B35C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6250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3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10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810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Presence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883054c934f26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CC4C807C-09C2-4CF3-9DBE-6BA5BA42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1A15300-00D8-4A53-B380-5EC32946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EF4B2499-2426-43E1-A3F3-B6C113B2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eyebrow-Layer 03 / Presence">
            <a:extLst xmlns:a="http://schemas.openxmlformats.org/drawingml/2006/main">
              <a:ext uri="{FF2B5EF4-FFF2-40B4-BE49-F238E27FC236}">
                <a16:creationId xmlns:a16="http://schemas.microsoft.com/office/drawing/2014/main" id="{B33DE04A-7AC0-4796-BAB8-8815C5CC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LAYER 03 / PRESENCE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9F2FB6F4-1075-4ABD-9892-42695C29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Translate internal clarity into external communication.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6FA576B2-CF6D-4217-889D-3F22AC4A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The third layer makes sure the brand presence reflects how the business actually creates value. Content becomes a system of trust, not just output volume.</a:t>
            </a:r>
          </a:p>
        </p:txBody>
      </p:sp>
      <p:sp>
        <p:nvSpPr>
          <p:cNvPr id="21" name="presence-rail-0">
            <a:extLst xmlns:a="http://schemas.openxmlformats.org/drawingml/2006/main">
              <a:ext uri="{FF2B5EF4-FFF2-40B4-BE49-F238E27FC236}">
                <a16:creationId xmlns:a16="http://schemas.microsoft.com/office/drawing/2014/main" id="{5B191BA5-CEA1-4D28-A5B1-0035FA8A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11A"/>
            </a:solidFill>
            <a:prstDash val="solid"/>
          </a:ln>
        </p:spPr>
      </p:sp>
      <p:sp>
        <p:nvSpPr>
          <p:cNvPr id="22" name="presence-node-0">
            <a:extLst xmlns:a="http://schemas.openxmlformats.org/drawingml/2006/main">
              <a:ext uri="{FF2B5EF4-FFF2-40B4-BE49-F238E27FC236}">
                <a16:creationId xmlns:a16="http://schemas.microsoft.com/office/drawing/2014/main" id="{EC76293D-E610-459B-B5F7-F2EC64E3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38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23" name="presence-title-0">
            <a:extLst xmlns:a="http://schemas.openxmlformats.org/drawingml/2006/main">
              <a:ext uri="{FF2B5EF4-FFF2-40B4-BE49-F238E27FC236}">
                <a16:creationId xmlns:a16="http://schemas.microsoft.com/office/drawing/2014/main" id="{001B9946-B411-49B7-A9C2-777F1FA4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52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Narrative</a:t>
            </a:r>
          </a:p>
        </p:txBody>
      </p:sp>
      <p:sp>
        <p:nvSpPr>
          <p:cNvPr id="24" name="presence-copy-0">
            <a:extLst xmlns:a="http://schemas.openxmlformats.org/drawingml/2006/main">
              <a:ext uri="{FF2B5EF4-FFF2-40B4-BE49-F238E27FC236}">
                <a16:creationId xmlns:a16="http://schemas.microsoft.com/office/drawing/2014/main" id="{F00E6924-94D6-44F5-88BA-1703D523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7190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Founder story, offer language, category framing, and market point of view.</a:t>
            </a:r>
          </a:p>
        </p:txBody>
      </p:sp>
      <p:sp>
        <p:nvSpPr>
          <p:cNvPr id="25" name="presence-rail-1">
            <a:extLst xmlns:a="http://schemas.openxmlformats.org/drawingml/2006/main">
              <a:ext uri="{FF2B5EF4-FFF2-40B4-BE49-F238E27FC236}">
                <a16:creationId xmlns:a16="http://schemas.microsoft.com/office/drawing/2014/main" id="{6B68774F-C1BF-42AB-A968-19C3629F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38675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A84C"/>
            </a:solidFill>
            <a:prstDash val="solid"/>
          </a:ln>
        </p:spPr>
      </p:sp>
      <p:sp>
        <p:nvSpPr>
          <p:cNvPr id="26" name="presence-node-1">
            <a:extLst xmlns:a="http://schemas.openxmlformats.org/drawingml/2006/main">
              <a:ext uri="{FF2B5EF4-FFF2-40B4-BE49-F238E27FC236}">
                <a16:creationId xmlns:a16="http://schemas.microsoft.com/office/drawing/2014/main" id="{FD3536F0-14CC-4EB7-BBE3-E7E96566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62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27" name="presence-title-1">
            <a:extLst xmlns:a="http://schemas.openxmlformats.org/drawingml/2006/main">
              <a:ext uri="{FF2B5EF4-FFF2-40B4-BE49-F238E27FC236}">
                <a16:creationId xmlns:a16="http://schemas.microsoft.com/office/drawing/2014/main" id="{17303CC9-4657-4CAC-BE1B-86255A33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76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Content system</a:t>
            </a:r>
          </a:p>
        </p:txBody>
      </p:sp>
      <p:sp>
        <p:nvSpPr>
          <p:cNvPr id="28" name="presence-copy-1">
            <a:extLst xmlns:a="http://schemas.openxmlformats.org/drawingml/2006/main">
              <a:ext uri="{FF2B5EF4-FFF2-40B4-BE49-F238E27FC236}">
                <a16:creationId xmlns:a16="http://schemas.microsoft.com/office/drawing/2014/main" id="{906A5BFE-08F2-47A7-B72E-91E6220E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Formats, channels, cadence, repurposing logic, and useful distribution assets.</a:t>
            </a:r>
          </a:p>
        </p:txBody>
      </p:sp>
      <p:sp>
        <p:nvSpPr>
          <p:cNvPr id="29" name="presence-rail-2">
            <a:extLst xmlns:a="http://schemas.openxmlformats.org/drawingml/2006/main">
              <a:ext uri="{FF2B5EF4-FFF2-40B4-BE49-F238E27FC236}">
                <a16:creationId xmlns:a16="http://schemas.microsoft.com/office/drawing/2014/main" id="{87EE3C7D-F3BD-42F4-A5CD-E5A33F18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62575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11A"/>
            </a:solidFill>
            <a:prstDash val="solid"/>
          </a:ln>
        </p:spPr>
      </p:sp>
      <p:sp>
        <p:nvSpPr>
          <p:cNvPr id="30" name="presence-node-2">
            <a:extLst xmlns:a="http://schemas.openxmlformats.org/drawingml/2006/main">
              <a:ext uri="{FF2B5EF4-FFF2-40B4-BE49-F238E27FC236}">
                <a16:creationId xmlns:a16="http://schemas.microsoft.com/office/drawing/2014/main" id="{D3F65206-0935-4D6E-8E01-0CC98C27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86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31" name="presence-title-2">
            <a:extLst xmlns:a="http://schemas.openxmlformats.org/drawingml/2006/main">
              <a:ext uri="{FF2B5EF4-FFF2-40B4-BE49-F238E27FC236}">
                <a16:creationId xmlns:a16="http://schemas.microsoft.com/office/drawing/2014/main" id="{7F6D0559-0115-4327-B0DA-6776EE8B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Governance</a:t>
            </a:r>
          </a:p>
        </p:txBody>
      </p:sp>
      <p:sp>
        <p:nvSpPr>
          <p:cNvPr id="32" name="presence-copy-2">
            <a:extLst xmlns:a="http://schemas.openxmlformats.org/drawingml/2006/main">
              <a:ext uri="{FF2B5EF4-FFF2-40B4-BE49-F238E27FC236}">
                <a16:creationId xmlns:a16="http://schemas.microsoft.com/office/drawing/2014/main" id="{070973B0-5FB7-469B-88DC-8B1F28FA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1970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Review rhythm, ownership, standards, maintenance, and what should be removed.</a:t>
            </a:r>
          </a:p>
        </p:txBody>
      </p:sp>
    </p:spTree>
    <p:extLst>
      <p:ext uri="{BB962C8B-B14F-4D97-AF65-F5344CB8AC3E}">
        <p14:creationId xmlns:p14="http://schemas.microsoft.com/office/powerpoint/2010/main" val="6057100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CE155E-E716-4230-B439-BBA05814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E771E-FDF4-4F9A-AF4C-A94396CA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6EEBA-A1B1-4CE2-8CFF-DCAA5A9E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35E75-99B4-459E-9721-3EA07F7A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AFEED-08E4-445A-B421-4155CA5A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42CD1-8752-4DE5-90CE-8DE39A2D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53648-984E-4237-A24F-435D7F6F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424B7-FE14-4D8C-B093-DB65A0FD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8BCEC-68D7-45C2-9AC1-378A7D1A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A9C5D-D488-4E4A-9DAD-0D7550B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901CE-48CE-4EFE-9F01-734FAEEB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B37CA-B5B1-4E67-8E0F-137645CE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Trust">
            <a:extLst xmlns:a="http://schemas.openxmlformats.org/drawingml/2006/main">
              <a:ext uri="{FF2B5EF4-FFF2-40B4-BE49-F238E27FC236}">
                <a16:creationId xmlns:a16="http://schemas.microsoft.com/office/drawing/2014/main" id="{1D105E8F-849C-4838-B0BD-7AB06722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2440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900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Trust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3c4c73f154b5d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A0BC06DA-2A71-4EFE-A0B1-FA7BE1A1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C31AF50-8900-47A4-A9CF-BF72EAED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CF630AB4-CFAA-47DC-BCF7-B29B5247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eyebrow-AI Enablement and Adoption">
            <a:extLst xmlns:a="http://schemas.openxmlformats.org/drawingml/2006/main">
              <a:ext uri="{FF2B5EF4-FFF2-40B4-BE49-F238E27FC236}">
                <a16:creationId xmlns:a16="http://schemas.microsoft.com/office/drawing/2014/main" id="{64DE066C-CAD4-45EB-9884-A194144B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AI ENABLEMENT AND ADOPTION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372A83CE-5402-41F9-8F45-7BF1B55E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Human-collaborative, not fully automated.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DD7BCB0B-2172-4FFA-8D17-2FCD613D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609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Kramaniti defines where AI should assist, where people should override, and which decisions must remain human-led.</a:t>
            </a:r>
          </a:p>
        </p:txBody>
      </p:sp>
      <p:sp>
        <p:nvSpPr>
          <p:cNvPr id="21" name="lane-0-outer">
            <a:extLst xmlns:a="http://schemas.openxmlformats.org/drawingml/2006/main">
              <a:ext uri="{FF2B5EF4-FFF2-40B4-BE49-F238E27FC236}">
                <a16:creationId xmlns:a16="http://schemas.microsoft.com/office/drawing/2014/main" id="{AD4AA8DF-73BE-46A9-8755-D5DD383B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43325"/>
            <a:ext cx="30861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2" name="lane-0">
            <a:extLst xmlns:a="http://schemas.openxmlformats.org/drawingml/2006/main">
              <a:ext uri="{FF2B5EF4-FFF2-40B4-BE49-F238E27FC236}">
                <a16:creationId xmlns:a16="http://schemas.microsoft.com/office/drawing/2014/main" id="{1A5C1A0D-9C80-480E-A4AA-3EFF6FB0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29908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3" name="lane-title-0">
            <a:extLst xmlns:a="http://schemas.openxmlformats.org/drawingml/2006/main">
              <a:ext uri="{FF2B5EF4-FFF2-40B4-BE49-F238E27FC236}">
                <a16:creationId xmlns:a16="http://schemas.microsoft.com/office/drawing/2014/main" id="{E76FC737-4765-4466-8017-3057889E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386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AUTOMATED</a:t>
            </a:r>
          </a:p>
        </p:txBody>
      </p:sp>
      <p:sp>
        <p:nvSpPr>
          <p:cNvPr id="24" name="lane-copy-0">
            <a:extLst xmlns:a="http://schemas.openxmlformats.org/drawingml/2006/main">
              <a:ext uri="{FF2B5EF4-FFF2-40B4-BE49-F238E27FC236}">
                <a16:creationId xmlns:a16="http://schemas.microsoft.com/office/drawing/2014/main" id="{36171C76-6692-4C7A-A7A0-9FE5DD30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2419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Useful for repeatable, low-risk steps with clear rules and reversible outcomes.</a:t>
            </a:r>
          </a:p>
        </p:txBody>
      </p:sp>
      <p:sp>
        <p:nvSpPr>
          <p:cNvPr id="25" name="lane-1-outer">
            <a:extLst xmlns:a="http://schemas.openxmlformats.org/drawingml/2006/main">
              <a:ext uri="{FF2B5EF4-FFF2-40B4-BE49-F238E27FC236}">
                <a16:creationId xmlns:a16="http://schemas.microsoft.com/office/drawing/2014/main" id="{CF7C650A-7A02-470A-B055-6A29C853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43325"/>
            <a:ext cx="30861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6" name="lane-1">
            <a:extLst xmlns:a="http://schemas.openxmlformats.org/drawingml/2006/main">
              <a:ext uri="{FF2B5EF4-FFF2-40B4-BE49-F238E27FC236}">
                <a16:creationId xmlns:a16="http://schemas.microsoft.com/office/drawing/2014/main" id="{91DF621F-38CB-4655-9BDD-3E54A994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90950"/>
            <a:ext cx="29908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7" name="lane-title-1">
            <a:extLst xmlns:a="http://schemas.openxmlformats.org/drawingml/2006/main">
              <a:ext uri="{FF2B5EF4-FFF2-40B4-BE49-F238E27FC236}">
                <a16:creationId xmlns:a16="http://schemas.microsoft.com/office/drawing/2014/main" id="{B3E24AEC-D554-4B00-9067-7947F143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386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AI-ASSISTED</a:t>
            </a:r>
          </a:p>
        </p:txBody>
      </p:sp>
      <p:sp>
        <p:nvSpPr>
          <p:cNvPr id="28" name="lane-copy-1">
            <a:extLst xmlns:a="http://schemas.openxmlformats.org/drawingml/2006/main">
              <a:ext uri="{FF2B5EF4-FFF2-40B4-BE49-F238E27FC236}">
                <a16:creationId xmlns:a16="http://schemas.microsoft.com/office/drawing/2014/main" id="{1A7207A8-7674-4483-88F0-E695F314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38650"/>
            <a:ext cx="2419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Useful when judgment needs research, drafting, synthesis, or decision support.</a:t>
            </a:r>
          </a:p>
        </p:txBody>
      </p:sp>
      <p:sp>
        <p:nvSpPr>
          <p:cNvPr id="29" name="lane-2-outer">
            <a:extLst xmlns:a="http://schemas.openxmlformats.org/drawingml/2006/main">
              <a:ext uri="{FF2B5EF4-FFF2-40B4-BE49-F238E27FC236}">
                <a16:creationId xmlns:a16="http://schemas.microsoft.com/office/drawing/2014/main" id="{B5B9B83D-C7C7-44CB-8073-8E6AE2BD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743325"/>
            <a:ext cx="30861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30" name="lane-2">
            <a:extLst xmlns:a="http://schemas.openxmlformats.org/drawingml/2006/main">
              <a:ext uri="{FF2B5EF4-FFF2-40B4-BE49-F238E27FC236}">
                <a16:creationId xmlns:a16="http://schemas.microsoft.com/office/drawing/2014/main" id="{F6EEC81F-8CA1-4C1E-BD16-D81ED4C7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29908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31" name="lane-title-2">
            <a:extLst xmlns:a="http://schemas.openxmlformats.org/drawingml/2006/main">
              <a:ext uri="{FF2B5EF4-FFF2-40B4-BE49-F238E27FC236}">
                <a16:creationId xmlns:a16="http://schemas.microsoft.com/office/drawing/2014/main" id="{B25A61D1-3699-43A4-B364-95EB2763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HUMAN-LED</a:t>
            </a:r>
          </a:p>
        </p:txBody>
      </p:sp>
      <p:sp>
        <p:nvSpPr>
          <p:cNvPr id="32" name="lane-copy-2">
            <a:extLst xmlns:a="http://schemas.openxmlformats.org/drawingml/2006/main">
              <a:ext uri="{FF2B5EF4-FFF2-40B4-BE49-F238E27FC236}">
                <a16:creationId xmlns:a16="http://schemas.microsoft.com/office/drawing/2014/main" id="{5CD569FA-DEC0-418D-8D88-7220C05E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38650"/>
            <a:ext cx="2419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Required where trust, context, taste, risk, or accountability matters.</a:t>
            </a:r>
          </a:p>
        </p:txBody>
      </p:sp>
    </p:spTree>
    <p:extLst>
      <p:ext uri="{BB962C8B-B14F-4D97-AF65-F5344CB8AC3E}">
        <p14:creationId xmlns:p14="http://schemas.microsoft.com/office/powerpoint/2010/main" val="1933246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B715C1-244B-48EA-AB22-493B7759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7C716-6560-450A-9D2D-2DAA233A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212AF-5E84-4433-82D2-6EE0980E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DEA18-91AA-4036-BE2E-DA59CFA8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8FDC5-76A7-4C76-97AC-D3FB53E0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ACAAF-B212-498A-BBEE-1DA80340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1A85B-DCBC-4323-9F1A-14D33F9B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C9A0B-4F9A-47C4-BD8B-53E9F16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040EC-ABBE-4109-8CAC-8E35E6CE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A44D5-2D60-46CB-87C8-E1FD34F6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DD991-56C4-4CB9-B849-D47102C4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70118-8436-4E02-89F2-EF63265A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Offer">
            <a:extLst xmlns:a="http://schemas.openxmlformats.org/drawingml/2006/main">
              <a:ext uri="{FF2B5EF4-FFF2-40B4-BE49-F238E27FC236}">
                <a16:creationId xmlns:a16="http://schemas.microsoft.com/office/drawing/2014/main" id="{BEA6182A-8340-40F9-864A-D6762FA2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1930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4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Offer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41693b3c641de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0246D236-D04F-4919-A7B0-6DF01DB7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BF3D56A-9F3D-4CA5-9471-A9A2D171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EBD3C684-F1FD-4305-BBC7-2374A36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eyebrow-Services">
            <a:extLst xmlns:a="http://schemas.openxmlformats.org/drawingml/2006/main">
              <a:ext uri="{FF2B5EF4-FFF2-40B4-BE49-F238E27FC236}">
                <a16:creationId xmlns:a16="http://schemas.microsoft.com/office/drawing/2014/main" id="{FAD2C385-7B24-4C2C-8391-87941900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71550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117AEE7C-C7D2-42D8-9A82-6DE6E5CB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30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Choose the level of alignment your brand needs.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24B04046-1F20-4F0C-AB13-F495CA5D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1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Start by clarifying how the business works, then build the systems and communication layer that help it operate and grow with coherence.</a:t>
            </a:r>
          </a:p>
        </p:txBody>
      </p:sp>
      <p:sp>
        <p:nvSpPr>
          <p:cNvPr id="21" name="service-0-outer">
            <a:extLst xmlns:a="http://schemas.openxmlformats.org/drawingml/2006/main">
              <a:ext uri="{FF2B5EF4-FFF2-40B4-BE49-F238E27FC236}">
                <a16:creationId xmlns:a16="http://schemas.microsoft.com/office/drawing/2014/main" id="{6C20E049-4EC2-4BA9-AD6B-9A1CE2CF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95625"/>
            <a:ext cx="32385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2" name="service-0">
            <a:extLst xmlns:a="http://schemas.openxmlformats.org/drawingml/2006/main">
              <a:ext uri="{FF2B5EF4-FFF2-40B4-BE49-F238E27FC236}">
                <a16:creationId xmlns:a16="http://schemas.microsoft.com/office/drawing/2014/main" id="{16DA642C-CF59-440C-B790-3EC57234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143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3" name="service-coord-0">
            <a:extLst xmlns:a="http://schemas.openxmlformats.org/drawingml/2006/main">
              <a:ext uri="{FF2B5EF4-FFF2-40B4-BE49-F238E27FC236}">
                <a16:creationId xmlns:a16="http://schemas.microsoft.com/office/drawing/2014/main" id="{01F2CC13-550B-4166-94CF-5C7B875F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[01/CLARITY]</a:t>
            </a:r>
          </a:p>
        </p:txBody>
      </p:sp>
      <p:sp>
        <p:nvSpPr>
          <p:cNvPr id="24" name="service-title-0">
            <a:extLst xmlns:a="http://schemas.openxmlformats.org/drawingml/2006/main">
              <a:ext uri="{FF2B5EF4-FFF2-40B4-BE49-F238E27FC236}">
                <a16:creationId xmlns:a16="http://schemas.microsoft.com/office/drawing/2014/main" id="{295A0F02-1054-4766-8BBA-E8F9CEC7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7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Foundation Alignment Audit</a:t>
            </a:r>
          </a:p>
        </p:txBody>
      </p:sp>
      <p:sp>
        <p:nvSpPr>
          <p:cNvPr id="25" name="service-copy-0">
            <a:extLst xmlns:a="http://schemas.openxmlformats.org/drawingml/2006/main">
              <a:ext uri="{FF2B5EF4-FFF2-40B4-BE49-F238E27FC236}">
                <a16:creationId xmlns:a16="http://schemas.microsoft.com/office/drawing/2014/main" id="{A927CF7E-59BF-4618-8A41-6EC6C22E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For brands that need clarity before adding tools, AI, or content volume.</a:t>
            </a:r>
          </a:p>
        </p:txBody>
      </p:sp>
      <p:sp>
        <p:nvSpPr>
          <p:cNvPr id="26" name="bullet-list">
            <a:extLst xmlns:a="http://schemas.openxmlformats.org/drawingml/2006/main">
              <a:ext uri="{FF2B5EF4-FFF2-40B4-BE49-F238E27FC236}">
                <a16:creationId xmlns:a16="http://schemas.microsoft.com/office/drawing/2014/main" id="{A1FC3595-E84D-492B-9F29-6A875E56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249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2" algn="l">
              <a:lnSpc>
                <a:spcPct val="122000"/>
              </a:lnSpc>
              <a:buNone/>
              <a:defRPr sz="93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Business and workflow deep-dive</a:t>
            </a:r>
          </a:p>
          <a:p xmlns:a="http://schemas.openxmlformats.org/drawingml/2006/main">
            <a:pPr marL="18" indent="-12" algn="l">
              <a:lnSpc>
                <a:spcPct val="122000"/>
              </a:lnSpc>
              <a:buNone/>
              <a:defRPr sz="93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Operational bottleneck mapping</a:t>
            </a:r>
          </a:p>
          <a:p xmlns:a="http://schemas.openxmlformats.org/drawingml/2006/main">
            <a:pPr marL="18" indent="-12" algn="l">
              <a:lnSpc>
                <a:spcPct val="122000"/>
              </a:lnSpc>
              <a:buNone/>
              <a:defRPr sz="93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AI and tool readiness review</a:t>
            </a:r>
          </a:p>
        </p:txBody>
      </p:sp>
      <p:sp>
        <p:nvSpPr>
          <p:cNvPr id="27" name="service-1-outer">
            <a:extLst xmlns:a="http://schemas.openxmlformats.org/drawingml/2006/main">
              <a:ext uri="{FF2B5EF4-FFF2-40B4-BE49-F238E27FC236}">
                <a16:creationId xmlns:a16="http://schemas.microsoft.com/office/drawing/2014/main" id="{23A773CE-6EAB-47F5-84DC-DEC3B023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95625"/>
            <a:ext cx="32385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8" name="service-1">
            <a:extLst xmlns:a="http://schemas.openxmlformats.org/drawingml/2006/main">
              <a:ext uri="{FF2B5EF4-FFF2-40B4-BE49-F238E27FC236}">
                <a16:creationId xmlns:a16="http://schemas.microsoft.com/office/drawing/2014/main" id="{93C883BE-B080-47F1-A223-04FDAFE6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143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9" name="recommended">
            <a:extLst xmlns:a="http://schemas.openxmlformats.org/drawingml/2006/main">
              <a:ext uri="{FF2B5EF4-FFF2-40B4-BE49-F238E27FC236}">
                <a16:creationId xmlns:a16="http://schemas.microsoft.com/office/drawing/2014/main" id="{D5EA37CB-A80B-41E7-8F5F-AE5C8E83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1009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30" name="recommended-label">
            <a:extLst xmlns:a="http://schemas.openxmlformats.org/drawingml/2006/main">
              <a:ext uri="{FF2B5EF4-FFF2-40B4-BE49-F238E27FC236}">
                <a16:creationId xmlns:a16="http://schemas.microsoft.com/office/drawing/2014/main" id="{A106D58B-034B-41BA-B902-1AEFCE14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9900"/>
            <a:ext cx="1009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0A0A0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A0A0F"/>
                </a:solidFill>
                <a:latin typeface="Aptos"/>
                <a:ea typeface="Aptos"/>
                <a:cs typeface="Aptos"/>
              </a:rPr>
              <a:t>RECOMMENDED</a:t>
            </a:r>
          </a:p>
        </p:txBody>
      </p:sp>
      <p:sp>
        <p:nvSpPr>
          <p:cNvPr id="31" name="service-coord-1">
            <a:extLst xmlns:a="http://schemas.openxmlformats.org/drawingml/2006/main">
              <a:ext uri="{FF2B5EF4-FFF2-40B4-BE49-F238E27FC236}">
                <a16:creationId xmlns:a16="http://schemas.microsoft.com/office/drawing/2014/main" id="{D25F48B2-0827-404C-9EA5-998E87EC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52800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[02/PRACTICAL BUILD]</a:t>
            </a:r>
          </a:p>
        </p:txBody>
      </p:sp>
      <p:sp>
        <p:nvSpPr>
          <p:cNvPr id="32" name="service-title-1">
            <a:extLst xmlns:a="http://schemas.openxmlformats.org/drawingml/2006/main">
              <a:ext uri="{FF2B5EF4-FFF2-40B4-BE49-F238E27FC236}">
                <a16:creationId xmlns:a16="http://schemas.microsoft.com/office/drawing/2014/main" id="{8BE74FB8-07A7-484C-A2C8-3580DD0E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Intelligence System Build</a:t>
            </a:r>
          </a:p>
        </p:txBody>
      </p:sp>
      <p:sp>
        <p:nvSpPr>
          <p:cNvPr id="33" name="service-copy-1">
            <a:extLst xmlns:a="http://schemas.openxmlformats.org/drawingml/2006/main">
              <a:ext uri="{FF2B5EF4-FFF2-40B4-BE49-F238E27FC236}">
                <a16:creationId xmlns:a16="http://schemas.microsoft.com/office/drawing/2014/main" id="{5681BDBE-DACE-498E-B5B9-BF7DE4DE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8625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For brands ready to turn clarity into practical workflows and internal systems people can use.</a:t>
            </a:r>
          </a:p>
        </p:txBody>
      </p:sp>
      <p:sp>
        <p:nvSpPr>
          <p:cNvPr id="34" name="bullet-list">
            <a:extLst xmlns:a="http://schemas.openxmlformats.org/drawingml/2006/main">
              <a:ext uri="{FF2B5EF4-FFF2-40B4-BE49-F238E27FC236}">
                <a16:creationId xmlns:a16="http://schemas.microsoft.com/office/drawing/2014/main" id="{EC9320F1-CC6D-46CE-8E70-272FF35A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53000"/>
            <a:ext cx="249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2" algn="l">
              <a:lnSpc>
                <a:spcPct val="122000"/>
              </a:lnSpc>
              <a:buNone/>
              <a:defRPr sz="93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Workflow architecture</a:t>
            </a:r>
          </a:p>
          <a:p xmlns:a="http://schemas.openxmlformats.org/drawingml/2006/main">
            <a:pPr marL="18" indent="-12" algn="l">
              <a:lnSpc>
                <a:spcPct val="122000"/>
              </a:lnSpc>
              <a:buNone/>
              <a:defRPr sz="93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Practical AI-assisted systems</a:t>
            </a:r>
          </a:p>
          <a:p xmlns:a="http://schemas.openxmlformats.org/drawingml/2006/main">
            <a:pPr marL="18" indent="-12" algn="l">
              <a:lnSpc>
                <a:spcPct val="122000"/>
              </a:lnSpc>
              <a:buNone/>
              <a:defRPr sz="93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Usage docs and review checkpoints</a:t>
            </a:r>
          </a:p>
        </p:txBody>
      </p:sp>
      <p:sp>
        <p:nvSpPr>
          <p:cNvPr id="35" name="service-2-outer">
            <a:extLst xmlns:a="http://schemas.openxmlformats.org/drawingml/2006/main">
              <a:ext uri="{FF2B5EF4-FFF2-40B4-BE49-F238E27FC236}">
                <a16:creationId xmlns:a16="http://schemas.microsoft.com/office/drawing/2014/main" id="{E4A4928D-6C06-43E3-B5C1-BA7247A1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95625"/>
            <a:ext cx="32385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36" name="service-2">
            <a:extLst xmlns:a="http://schemas.openxmlformats.org/drawingml/2006/main">
              <a:ext uri="{FF2B5EF4-FFF2-40B4-BE49-F238E27FC236}">
                <a16:creationId xmlns:a16="http://schemas.microsoft.com/office/drawing/2014/main" id="{697B8380-15F1-4EA0-AF23-7A3036A5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3143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37" name="service-coord-2">
            <a:extLst xmlns:a="http://schemas.openxmlformats.org/drawingml/2006/main">
              <a:ext uri="{FF2B5EF4-FFF2-40B4-BE49-F238E27FC236}">
                <a16:creationId xmlns:a16="http://schemas.microsoft.com/office/drawing/2014/main" id="{CD610355-5375-4308-A7E1-237A97AE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[03/CONTINUITY]</a:t>
            </a:r>
          </a:p>
        </p:txBody>
      </p:sp>
      <p:sp>
        <p:nvSpPr>
          <p:cNvPr id="38" name="service-title-2">
            <a:extLst xmlns:a="http://schemas.openxmlformats.org/drawingml/2006/main">
              <a:ext uri="{FF2B5EF4-FFF2-40B4-BE49-F238E27FC236}">
                <a16:creationId xmlns:a16="http://schemas.microsoft.com/office/drawing/2014/main" id="{B2F535C5-0768-4317-ADFF-D7487528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766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Alignment Retainer</a:t>
            </a:r>
          </a:p>
        </p:txBody>
      </p:sp>
      <p:sp>
        <p:nvSpPr>
          <p:cNvPr id="39" name="service-copy-2">
            <a:extLst xmlns:a="http://schemas.openxmlformats.org/drawingml/2006/main">
              <a:ext uri="{FF2B5EF4-FFF2-40B4-BE49-F238E27FC236}">
                <a16:creationId xmlns:a16="http://schemas.microsoft.com/office/drawing/2014/main" id="{CC1DD098-6D88-4658-930E-BCA31A96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8625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For brands that want systems, adoption habits, and brand communication to keep improving together.</a:t>
            </a:r>
          </a:p>
        </p:txBody>
      </p:sp>
      <p:sp>
        <p:nvSpPr>
          <p:cNvPr id="40" name="bullet-list">
            <a:extLst xmlns:a="http://schemas.openxmlformats.org/drawingml/2006/main">
              <a:ext uri="{FF2B5EF4-FFF2-40B4-BE49-F238E27FC236}">
                <a16:creationId xmlns:a16="http://schemas.microsoft.com/office/drawing/2014/main" id="{20F28B41-637F-432B-AB2F-D5F9BDC6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53000"/>
            <a:ext cx="249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2" algn="l">
              <a:lnSpc>
                <a:spcPct val="122000"/>
              </a:lnSpc>
              <a:buNone/>
              <a:defRPr sz="93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System refinement</a:t>
            </a:r>
          </a:p>
          <a:p xmlns:a="http://schemas.openxmlformats.org/drawingml/2006/main">
            <a:pPr marL="18" indent="-12" algn="l">
              <a:lnSpc>
                <a:spcPct val="122000"/>
              </a:lnSpc>
              <a:buNone/>
              <a:defRPr sz="93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Adoption support</a:t>
            </a:r>
          </a:p>
          <a:p xmlns:a="http://schemas.openxmlformats.org/drawingml/2006/main">
            <a:pPr marL="18" indent="-12" algn="l">
              <a:lnSpc>
                <a:spcPct val="122000"/>
              </a:lnSpc>
              <a:buNone/>
              <a:defRPr sz="93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Monthly alignment review</a:t>
            </a:r>
          </a:p>
        </p:txBody>
      </p:sp>
    </p:spTree>
    <p:extLst>
      <p:ext uri="{BB962C8B-B14F-4D97-AF65-F5344CB8AC3E}">
        <p14:creationId xmlns:p14="http://schemas.microsoft.com/office/powerpoint/2010/main" val="12437128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73E3F2-0C62-4E90-9705-7CB61A40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0EB74-8B16-4469-AAB3-E5EE872F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3BE8B-E86C-4348-A27C-450A1BF2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F1607-B366-4802-8893-FBADE8EA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3EAA5-8440-4805-9D42-D0011A4A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BA55C-FAF1-472D-969D-4BCC6FA8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2B6CE-169F-4EC8-892C-EF20DB3C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09CAC-A01D-4BE5-9B3F-34DD4C93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F99A4-7481-4C61-AE93-58A5018E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DC3E9-BEFB-4396-B8A5-660F9A4F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8413B-84EA-40F5-BE5E-59254DB3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CF8B1-03B6-49C5-BA25-B76E7F14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Run">
            <a:extLst xmlns:a="http://schemas.openxmlformats.org/drawingml/2006/main">
              <a:ext uri="{FF2B5EF4-FFF2-40B4-BE49-F238E27FC236}">
                <a16:creationId xmlns:a16="http://schemas.microsoft.com/office/drawing/2014/main" id="{BB26D967-3930-4213-AA2D-7C88289B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6250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0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97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Run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1fed228574348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A63A5853-F016-49AD-88FB-3CD05A57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EE0AEEA-AD24-4755-BCB7-572716FA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B3704A34-F8EF-4CED-B5E8-FB5CFD0A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eyebrow-Process">
            <a:extLst xmlns:a="http://schemas.openxmlformats.org/drawingml/2006/main">
              <a:ext uri="{FF2B5EF4-FFF2-40B4-BE49-F238E27FC236}">
                <a16:creationId xmlns:a16="http://schemas.microsoft.com/office/drawing/2014/main" id="{B0900355-A2B0-4BEF-A459-F373DF99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71550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3670B3C5-53A9-435A-9C2B-847D5235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30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From business reality to aligned growth system.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E5FD9CE4-B8A3-4049-8D22-9224272F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1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Every engagement begins with how the business actually works. Only then do we design the systems, intelligence, and communication layer around it.</a:t>
            </a:r>
          </a:p>
        </p:txBody>
      </p:sp>
      <p:sp>
        <p:nvSpPr>
          <p:cNvPr id="21" name="flow-summary-outer">
            <a:extLst xmlns:a="http://schemas.openxmlformats.org/drawingml/2006/main">
              <a:ext uri="{FF2B5EF4-FFF2-40B4-BE49-F238E27FC236}">
                <a16:creationId xmlns:a16="http://schemas.microsoft.com/office/drawing/2014/main" id="{4C1502C4-50E0-4190-B0C3-CFD4B71F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95625"/>
            <a:ext cx="92011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2" name="flow-summary">
            <a:extLst xmlns:a="http://schemas.openxmlformats.org/drawingml/2006/main">
              <a:ext uri="{FF2B5EF4-FFF2-40B4-BE49-F238E27FC236}">
                <a16:creationId xmlns:a16="http://schemas.microsoft.com/office/drawing/2014/main" id="{7C2D6C19-906F-4B36-AE82-578B321C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9105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3" name="summary-label-0">
            <a:extLst xmlns:a="http://schemas.openxmlformats.org/drawingml/2006/main">
              <a:ext uri="{FF2B5EF4-FFF2-40B4-BE49-F238E27FC236}">
                <a16:creationId xmlns:a16="http://schemas.microsoft.com/office/drawing/2014/main" id="{53B4986F-A0C7-47A4-A842-12DCCBE6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528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24" name="summary-value-0">
            <a:extLst xmlns:a="http://schemas.openxmlformats.org/drawingml/2006/main">
              <a:ext uri="{FF2B5EF4-FFF2-40B4-BE49-F238E27FC236}">
                <a16:creationId xmlns:a16="http://schemas.microsoft.com/office/drawing/2014/main" id="{7B58B300-8A19-41BB-9320-2946C539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62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Business Reality</a:t>
            </a:r>
          </a:p>
        </p:txBody>
      </p:sp>
      <p:sp>
        <p:nvSpPr>
          <p:cNvPr id="25" name="summary-div-0">
            <a:extLst xmlns:a="http://schemas.openxmlformats.org/drawingml/2006/main">
              <a:ext uri="{FF2B5EF4-FFF2-40B4-BE49-F238E27FC236}">
                <a16:creationId xmlns:a16="http://schemas.microsoft.com/office/drawing/2014/main" id="{AF0DA58B-64E3-4ADE-BEE1-1C5103C7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B311A"/>
            </a:solidFill>
            <a:prstDash val="solid"/>
          </a:ln>
        </p:spPr>
      </p:sp>
      <p:sp>
        <p:nvSpPr>
          <p:cNvPr id="26" name="summary-label-1">
            <a:extLst xmlns:a="http://schemas.openxmlformats.org/drawingml/2006/main">
              <a:ext uri="{FF2B5EF4-FFF2-40B4-BE49-F238E27FC236}">
                <a16:creationId xmlns:a16="http://schemas.microsoft.com/office/drawing/2014/main" id="{2703FFCA-C0F5-4470-B1BD-C2A7059B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528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27" name="summary-value-1">
            <a:extLst xmlns:a="http://schemas.openxmlformats.org/drawingml/2006/main">
              <a:ext uri="{FF2B5EF4-FFF2-40B4-BE49-F238E27FC236}">
                <a16:creationId xmlns:a16="http://schemas.microsoft.com/office/drawing/2014/main" id="{BECCB5DB-AD88-4EEA-B59F-F126A11C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62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Aligned Systems</a:t>
            </a:r>
          </a:p>
        </p:txBody>
      </p:sp>
      <p:sp>
        <p:nvSpPr>
          <p:cNvPr id="28" name="summary-div-1">
            <a:extLst xmlns:a="http://schemas.openxmlformats.org/drawingml/2006/main">
              <a:ext uri="{FF2B5EF4-FFF2-40B4-BE49-F238E27FC236}">
                <a16:creationId xmlns:a16="http://schemas.microsoft.com/office/drawing/2014/main" id="{2714834F-2DCF-42FA-BAA7-5A01F416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B311A"/>
            </a:solidFill>
            <a:prstDash val="solid"/>
          </a:ln>
        </p:spPr>
      </p:sp>
      <p:sp>
        <p:nvSpPr>
          <p:cNvPr id="29" name="summary-label-2">
            <a:extLst xmlns:a="http://schemas.openxmlformats.org/drawingml/2006/main">
              <a:ext uri="{FF2B5EF4-FFF2-40B4-BE49-F238E27FC236}">
                <a16:creationId xmlns:a16="http://schemas.microsoft.com/office/drawing/2014/main" id="{305CB985-F42D-43E5-8370-1EA08566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0" name="summary-value-2">
            <a:extLst xmlns:a="http://schemas.openxmlformats.org/drawingml/2006/main">
              <a:ext uri="{FF2B5EF4-FFF2-40B4-BE49-F238E27FC236}">
                <a16:creationId xmlns:a16="http://schemas.microsoft.com/office/drawing/2014/main" id="{13435BD3-5540-46E1-ADD6-65CD599F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Coherent Growth</a:t>
            </a:r>
          </a:p>
        </p:txBody>
      </p:sp>
      <p:sp>
        <p:nvSpPr>
          <p:cNvPr id="31" name="process-node-0">
            <a:extLst xmlns:a="http://schemas.openxmlformats.org/drawingml/2006/main">
              <a:ext uri="{FF2B5EF4-FFF2-40B4-BE49-F238E27FC236}">
                <a16:creationId xmlns:a16="http://schemas.microsoft.com/office/drawing/2014/main" id="{155A6C49-1B49-4F3F-86E8-B3A77419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32" name="process-num-0">
            <a:extLst xmlns:a="http://schemas.openxmlformats.org/drawingml/2006/main">
              <a:ext uri="{FF2B5EF4-FFF2-40B4-BE49-F238E27FC236}">
                <a16:creationId xmlns:a16="http://schemas.microsoft.com/office/drawing/2014/main" id="{84E0C1C9-41B0-49DE-8336-D13B17AF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910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3" name="process-line-0">
            <a:extLst xmlns:a="http://schemas.openxmlformats.org/drawingml/2006/main">
              <a:ext uri="{FF2B5EF4-FFF2-40B4-BE49-F238E27FC236}">
                <a16:creationId xmlns:a16="http://schemas.microsoft.com/office/drawing/2014/main" id="{82CE5B53-0C3C-43DC-93B3-D914B497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577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311A"/>
            </a:solidFill>
            <a:prstDash val="solid"/>
          </a:ln>
        </p:spPr>
      </p:sp>
      <p:sp>
        <p:nvSpPr>
          <p:cNvPr id="34" name="process-title-0">
            <a:extLst xmlns:a="http://schemas.openxmlformats.org/drawingml/2006/main">
              <a:ext uri="{FF2B5EF4-FFF2-40B4-BE49-F238E27FC236}">
                <a16:creationId xmlns:a16="http://schemas.microsoft.com/office/drawing/2014/main" id="{C71B97B7-5288-4600-A33D-282AB82A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197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Diagnose reality</a:t>
            </a:r>
          </a:p>
        </p:txBody>
      </p:sp>
      <p:sp>
        <p:nvSpPr>
          <p:cNvPr id="35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D0EA645E-BBAC-4DD5-9F9A-FC3FE55B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86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36" name="process-num-1">
            <a:extLst xmlns:a="http://schemas.openxmlformats.org/drawingml/2006/main">
              <a:ext uri="{FF2B5EF4-FFF2-40B4-BE49-F238E27FC236}">
                <a16:creationId xmlns:a16="http://schemas.microsoft.com/office/drawing/2014/main" id="{E1E79E78-260D-4203-92AD-9BE4A025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910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7" name="process-line-1">
            <a:extLst xmlns:a="http://schemas.openxmlformats.org/drawingml/2006/main">
              <a:ext uri="{FF2B5EF4-FFF2-40B4-BE49-F238E27FC236}">
                <a16:creationId xmlns:a16="http://schemas.microsoft.com/office/drawing/2014/main" id="{07C7142B-C1B4-4783-B022-53ABD161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311A"/>
            </a:solidFill>
            <a:prstDash val="solid"/>
          </a:ln>
        </p:spPr>
      </p:sp>
      <p:sp>
        <p:nvSpPr>
          <p:cNvPr id="38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0E3C84B8-5FD4-4238-9756-214DEE04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197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Define operating logic</a:t>
            </a:r>
          </a:p>
        </p:txBody>
      </p:sp>
      <p:sp>
        <p:nvSpPr>
          <p:cNvPr id="39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0C866BB9-D374-4B25-A29A-18562B41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86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215"/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40" name="process-num-2">
            <a:extLst xmlns:a="http://schemas.openxmlformats.org/drawingml/2006/main">
              <a:ext uri="{FF2B5EF4-FFF2-40B4-BE49-F238E27FC236}">
                <a16:creationId xmlns:a16="http://schemas.microsoft.com/office/drawing/2014/main" id="{B6B6F14E-BAA8-4F11-A20B-567D28A2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910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1" name="process-line-2">
            <a:extLst xmlns:a="http://schemas.openxmlformats.org/drawingml/2006/main">
              <a:ext uri="{FF2B5EF4-FFF2-40B4-BE49-F238E27FC236}">
                <a16:creationId xmlns:a16="http://schemas.microsoft.com/office/drawing/2014/main" id="{95A59D58-F178-4D66-9E86-6E9040B7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577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311A"/>
            </a:solidFill>
            <a:prstDash val="solid"/>
          </a:ln>
        </p:spPr>
      </p:sp>
      <p:sp>
        <p:nvSpPr>
          <p:cNvPr id="42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A93832BB-ECB6-4A96-ACA7-EB64BBEC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2197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Design the system</a:t>
            </a:r>
          </a:p>
        </p:txBody>
      </p:sp>
      <p:sp>
        <p:nvSpPr>
          <p:cNvPr id="43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29D6587A-1490-4271-A2D0-BFB61497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86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44" name="process-num-3">
            <a:extLst xmlns:a="http://schemas.openxmlformats.org/drawingml/2006/main">
              <a:ext uri="{FF2B5EF4-FFF2-40B4-BE49-F238E27FC236}">
                <a16:creationId xmlns:a16="http://schemas.microsoft.com/office/drawing/2014/main" id="{B408DBF8-5164-4020-B895-34C77E4D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910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5" name="process-line-3">
            <a:extLst xmlns:a="http://schemas.openxmlformats.org/drawingml/2006/main">
              <a:ext uri="{FF2B5EF4-FFF2-40B4-BE49-F238E27FC236}">
                <a16:creationId xmlns:a16="http://schemas.microsoft.com/office/drawing/2014/main" id="{47CA7888-6538-4C75-B027-4E447416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577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311A"/>
            </a:solidFill>
            <a:prstDash val="solid"/>
          </a:ln>
        </p:spPr>
      </p:sp>
      <p:sp>
        <p:nvSpPr>
          <p:cNvPr id="46" name="process-title-3">
            <a:extLst xmlns:a="http://schemas.openxmlformats.org/drawingml/2006/main">
              <a:ext uri="{FF2B5EF4-FFF2-40B4-BE49-F238E27FC236}">
                <a16:creationId xmlns:a16="http://schemas.microsoft.com/office/drawing/2014/main" id="{602D6E08-C676-4468-975E-AD05EDB8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2197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Build practical support</a:t>
            </a:r>
          </a:p>
        </p:txBody>
      </p:sp>
      <p:sp>
        <p:nvSpPr>
          <p:cNvPr id="47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DCBD3D77-0275-4BFD-A81B-87E4FF83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86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48" name="process-num-4">
            <a:extLst xmlns:a="http://schemas.openxmlformats.org/drawingml/2006/main">
              <a:ext uri="{FF2B5EF4-FFF2-40B4-BE49-F238E27FC236}">
                <a16:creationId xmlns:a16="http://schemas.microsoft.com/office/drawing/2014/main" id="{B4B4211E-1435-4898-89DE-589A1A7C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910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9" name="process-line-4">
            <a:extLst xmlns:a="http://schemas.openxmlformats.org/drawingml/2006/main">
              <a:ext uri="{FF2B5EF4-FFF2-40B4-BE49-F238E27FC236}">
                <a16:creationId xmlns:a16="http://schemas.microsoft.com/office/drawing/2014/main" id="{FF15B5F4-AC1F-48F4-9762-ABE9ECE9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577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311A"/>
            </a:solidFill>
            <a:prstDash val="solid"/>
          </a:ln>
        </p:spPr>
      </p:sp>
      <p:sp>
        <p:nvSpPr>
          <p:cNvPr id="50" name="process-title-4">
            <a:extLst xmlns:a="http://schemas.openxmlformats.org/drawingml/2006/main">
              <a:ext uri="{FF2B5EF4-FFF2-40B4-BE49-F238E27FC236}">
                <a16:creationId xmlns:a16="http://schemas.microsoft.com/office/drawing/2014/main" id="{1D8F8812-18BA-43D1-8071-AA32E0FE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2197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Enable adoption</a:t>
            </a:r>
          </a:p>
        </p:txBody>
      </p:sp>
      <p:sp>
        <p:nvSpPr>
          <p:cNvPr id="51" name="process-node-5">
            <a:extLst xmlns:a="http://schemas.openxmlformats.org/drawingml/2006/main">
              <a:ext uri="{FF2B5EF4-FFF2-40B4-BE49-F238E27FC236}">
                <a16:creationId xmlns:a16="http://schemas.microsoft.com/office/drawing/2014/main" id="{488743AE-7244-40FF-982C-F7A0F7BD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52" name="process-num-5">
            <a:extLst xmlns:a="http://schemas.openxmlformats.org/drawingml/2006/main">
              <a:ext uri="{FF2B5EF4-FFF2-40B4-BE49-F238E27FC236}">
                <a16:creationId xmlns:a16="http://schemas.microsoft.com/office/drawing/2014/main" id="{78136AA9-710E-41E7-8F32-4FA06DB4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910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3" name="process-line-5">
            <a:extLst xmlns:a="http://schemas.openxmlformats.org/drawingml/2006/main">
              <a:ext uri="{FF2B5EF4-FFF2-40B4-BE49-F238E27FC236}">
                <a16:creationId xmlns:a16="http://schemas.microsoft.com/office/drawing/2014/main" id="{04DCF985-B127-4020-8861-75E970B2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577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311A"/>
            </a:solidFill>
            <a:prstDash val="solid"/>
          </a:ln>
        </p:spPr>
      </p:sp>
      <p:sp>
        <p:nvSpPr>
          <p:cNvPr id="54" name="process-title-5">
            <a:extLst xmlns:a="http://schemas.openxmlformats.org/drawingml/2006/main">
              <a:ext uri="{FF2B5EF4-FFF2-40B4-BE49-F238E27FC236}">
                <a16:creationId xmlns:a16="http://schemas.microsoft.com/office/drawing/2014/main" id="{6125C851-F99D-4DE2-BE71-A9F148F9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197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Translate into presence</a:t>
            </a:r>
          </a:p>
        </p:txBody>
      </p:sp>
      <p:sp>
        <p:nvSpPr>
          <p:cNvPr id="55" name="process-node-6">
            <a:extLst xmlns:a="http://schemas.openxmlformats.org/drawingml/2006/main">
              <a:ext uri="{FF2B5EF4-FFF2-40B4-BE49-F238E27FC236}">
                <a16:creationId xmlns:a16="http://schemas.microsoft.com/office/drawing/2014/main" id="{D5D4238C-6112-433A-B2FD-AA925A3E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86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56" name="process-num-6">
            <a:extLst xmlns:a="http://schemas.openxmlformats.org/drawingml/2006/main">
              <a:ext uri="{FF2B5EF4-FFF2-40B4-BE49-F238E27FC236}">
                <a16:creationId xmlns:a16="http://schemas.microsoft.com/office/drawing/2014/main" id="{55A21AF0-643A-4716-9269-DCEF8EFA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910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7" name="process-title-6">
            <a:extLst xmlns:a="http://schemas.openxmlformats.org/drawingml/2006/main">
              <a:ext uri="{FF2B5EF4-FFF2-40B4-BE49-F238E27FC236}">
                <a16:creationId xmlns:a16="http://schemas.microsoft.com/office/drawing/2014/main" id="{DB1E32E2-78A5-4454-BD8B-B2651D3F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2197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Refine continuously</a:t>
            </a:r>
          </a:p>
        </p:txBody>
      </p:sp>
    </p:spTree>
    <p:extLst>
      <p:ext uri="{BB962C8B-B14F-4D97-AF65-F5344CB8AC3E}">
        <p14:creationId xmlns:p14="http://schemas.microsoft.com/office/powerpoint/2010/main" val="11329894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8C1D65-957B-49B3-BBD3-5D40CE02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FE238-82C1-44AA-AE23-E76B0013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52742-D554-44A2-B052-9166F15E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67ABF-D524-45EE-AA06-9BA2160E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0026B-4503-4AC8-B786-AE572C41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304D3-D62E-4F6A-A7AF-BB8A4DC9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BDF5B-1EF4-4BC5-AEE1-724470CB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A0FA2-9D76-49EC-87A3-8E63BC61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86EDD-8436-44E0-A96B-E2EB2DD3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3946C-DFA1-4D0A-ADB5-9397A8DB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608DE-B691-40D8-AC2F-2D8A476E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D3D4B-FC57-43CA-BF57-28301A55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Start">
            <a:extLst xmlns:a="http://schemas.openxmlformats.org/drawingml/2006/main">
              <a:ext uri="{FF2B5EF4-FFF2-40B4-BE49-F238E27FC236}">
                <a16:creationId xmlns:a16="http://schemas.microsoft.com/office/drawing/2014/main" id="{8EDCEFC8-ABF6-416A-8235-E7C45AA6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6250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900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Start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80ad95a834004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8C4E9E7C-44DA-48DB-9BD0-E84E4687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09C10E8-81EA-48C9-A954-386C69DE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2D670403-CF06-4B31-8BDE-B17F3D05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eyebrow-First engagement output">
            <a:extLst xmlns:a="http://schemas.openxmlformats.org/drawingml/2006/main">
              <a:ext uri="{FF2B5EF4-FFF2-40B4-BE49-F238E27FC236}">
                <a16:creationId xmlns:a16="http://schemas.microsoft.com/office/drawing/2014/main" id="{02FC8E77-ECE0-41DE-A41D-1E0BF2BB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FIRST ENGAGEMENT OUTPUT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A2DAAF71-9673-409B-BBA5-5D018E2E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Find the first system worth building.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CFB0E2B7-8E15-46FE-BE58-300EA985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A useful audit should leave the founder with clearer business logic, a priority workflow, and a practical next step across operations, intelligence, and presence.</a:t>
            </a:r>
          </a:p>
        </p:txBody>
      </p:sp>
      <p:sp>
        <p:nvSpPr>
          <p:cNvPr id="21" name="card-1-outer">
            <a:extLst xmlns:a="http://schemas.openxmlformats.org/drawingml/2006/main">
              <a:ext uri="{FF2B5EF4-FFF2-40B4-BE49-F238E27FC236}">
                <a16:creationId xmlns:a16="http://schemas.microsoft.com/office/drawing/2014/main" id="{8F705C56-F45A-42C7-89FA-670C3066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57625"/>
            <a:ext cx="30670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2" name="card-1">
            <a:extLst xmlns:a="http://schemas.openxmlformats.org/drawingml/2006/main">
              <a:ext uri="{FF2B5EF4-FFF2-40B4-BE49-F238E27FC236}">
                <a16:creationId xmlns:a16="http://schemas.microsoft.com/office/drawing/2014/main" id="{EF61839A-9588-4D7F-A548-363F1411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9718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3" name="card-index-1">
            <a:extLst xmlns:a="http://schemas.openxmlformats.org/drawingml/2006/main">
              <a:ext uri="{FF2B5EF4-FFF2-40B4-BE49-F238E27FC236}">
                <a16:creationId xmlns:a16="http://schemas.microsoft.com/office/drawing/2014/main" id="{388C2F3E-8F5F-450F-9461-7730DEA1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14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[01]</a:t>
            </a:r>
          </a:p>
        </p:txBody>
      </p:sp>
      <p:sp>
        <p:nvSpPr>
          <p:cNvPr id="24" name="card-label-1">
            <a:extLst xmlns:a="http://schemas.openxmlformats.org/drawingml/2006/main">
              <a:ext uri="{FF2B5EF4-FFF2-40B4-BE49-F238E27FC236}">
                <a16:creationId xmlns:a16="http://schemas.microsoft.com/office/drawing/2014/main" id="{AED56CAD-CD88-4C62-9868-7C26A9A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148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OPERATIONAL CLARITY</a:t>
            </a:r>
          </a:p>
        </p:txBody>
      </p:sp>
      <p:sp>
        <p:nvSpPr>
          <p:cNvPr id="25" name="card-heading-1">
            <a:extLst xmlns:a="http://schemas.openxmlformats.org/drawingml/2006/main">
              <a:ext uri="{FF2B5EF4-FFF2-40B4-BE49-F238E27FC236}">
                <a16:creationId xmlns:a16="http://schemas.microsoft.com/office/drawing/2014/main" id="{B326C002-49C1-4D85-80FE-E6EA1DD9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577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Operational clarity</a:t>
            </a:r>
          </a:p>
        </p:txBody>
      </p:sp>
      <p:sp>
        <p:nvSpPr>
          <p:cNvPr id="26" name="card-copy-1">
            <a:extLst xmlns:a="http://schemas.openxmlformats.org/drawingml/2006/main">
              <a:ext uri="{FF2B5EF4-FFF2-40B4-BE49-F238E27FC236}">
                <a16:creationId xmlns:a16="http://schemas.microsoft.com/office/drawing/2014/main" id="{623F7BEE-D56E-4DE5-878B-4F38E872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05400"/>
            <a:ext cx="2552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85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What is actually happening, where friction lives, and what must stay human-led.</a:t>
            </a:r>
          </a:p>
        </p:txBody>
      </p:sp>
      <p:sp>
        <p:nvSpPr>
          <p:cNvPr id="27" name="card-2-outer">
            <a:extLst xmlns:a="http://schemas.openxmlformats.org/drawingml/2006/main">
              <a:ext uri="{FF2B5EF4-FFF2-40B4-BE49-F238E27FC236}">
                <a16:creationId xmlns:a16="http://schemas.microsoft.com/office/drawing/2014/main" id="{633CD768-38DF-487F-95DB-27ECC2AC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57625"/>
            <a:ext cx="30670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8" name="card-2">
            <a:extLst xmlns:a="http://schemas.openxmlformats.org/drawingml/2006/main">
              <a:ext uri="{FF2B5EF4-FFF2-40B4-BE49-F238E27FC236}">
                <a16:creationId xmlns:a16="http://schemas.microsoft.com/office/drawing/2014/main" id="{DEC30193-4846-4A1A-976A-3FB7EBFF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9718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9" name="card-index-2">
            <a:extLst xmlns:a="http://schemas.openxmlformats.org/drawingml/2006/main">
              <a:ext uri="{FF2B5EF4-FFF2-40B4-BE49-F238E27FC236}">
                <a16:creationId xmlns:a16="http://schemas.microsoft.com/office/drawing/2014/main" id="{7DD5B00A-6E32-4A0B-82D4-8FFDC013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[02]</a:t>
            </a:r>
          </a:p>
        </p:txBody>
      </p:sp>
      <p:sp>
        <p:nvSpPr>
          <p:cNvPr id="30" name="card-label-2">
            <a:extLst xmlns:a="http://schemas.openxmlformats.org/drawingml/2006/main">
              <a:ext uri="{FF2B5EF4-FFF2-40B4-BE49-F238E27FC236}">
                <a16:creationId xmlns:a16="http://schemas.microsoft.com/office/drawing/2014/main" id="{ADD70EC9-DF85-40CF-96F8-2A55BD1A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148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PRIORITY WORKFLOW</a:t>
            </a:r>
          </a:p>
        </p:txBody>
      </p:sp>
      <p:sp>
        <p:nvSpPr>
          <p:cNvPr id="31" name="card-heading-2">
            <a:extLst xmlns:a="http://schemas.openxmlformats.org/drawingml/2006/main">
              <a:ext uri="{FF2B5EF4-FFF2-40B4-BE49-F238E27FC236}">
                <a16:creationId xmlns:a16="http://schemas.microsoft.com/office/drawing/2014/main" id="{18DBD6DE-530C-4246-92E6-765885BD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577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Priority workflow</a:t>
            </a:r>
          </a:p>
        </p:txBody>
      </p:sp>
      <p:sp>
        <p:nvSpPr>
          <p:cNvPr id="32" name="card-copy-2">
            <a:extLst xmlns:a="http://schemas.openxmlformats.org/drawingml/2006/main">
              <a:ext uri="{FF2B5EF4-FFF2-40B4-BE49-F238E27FC236}">
                <a16:creationId xmlns:a16="http://schemas.microsoft.com/office/drawing/2014/main" id="{595E8D8B-88C9-4032-B1B3-A77E7A8F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552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25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The first workflow with enough value, pain, and adoption readiness to justify systemization.</a:t>
            </a:r>
          </a:p>
        </p:txBody>
      </p:sp>
      <p:sp>
        <p:nvSpPr>
          <p:cNvPr id="33" name="card-3-outer">
            <a:extLst xmlns:a="http://schemas.openxmlformats.org/drawingml/2006/main">
              <a:ext uri="{FF2B5EF4-FFF2-40B4-BE49-F238E27FC236}">
                <a16:creationId xmlns:a16="http://schemas.microsoft.com/office/drawing/2014/main" id="{215FA68D-152A-4CC6-84F9-27D71ED5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857625"/>
            <a:ext cx="30670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34" name="card-3">
            <a:extLst xmlns:a="http://schemas.openxmlformats.org/drawingml/2006/main">
              <a:ext uri="{FF2B5EF4-FFF2-40B4-BE49-F238E27FC236}">
                <a16:creationId xmlns:a16="http://schemas.microsoft.com/office/drawing/2014/main" id="{32163770-03E2-42BA-ACC4-BC4D3A00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29718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35" name="card-index-3">
            <a:extLst xmlns:a="http://schemas.openxmlformats.org/drawingml/2006/main">
              <a:ext uri="{FF2B5EF4-FFF2-40B4-BE49-F238E27FC236}">
                <a16:creationId xmlns:a16="http://schemas.microsoft.com/office/drawing/2014/main" id="{42612D53-D6A2-4338-BD02-E3094752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4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[03]</a:t>
            </a:r>
          </a:p>
        </p:txBody>
      </p:sp>
      <p:sp>
        <p:nvSpPr>
          <p:cNvPr id="36" name="card-label-3">
            <a:extLst xmlns:a="http://schemas.openxmlformats.org/drawingml/2006/main">
              <a:ext uri="{FF2B5EF4-FFF2-40B4-BE49-F238E27FC236}">
                <a16:creationId xmlns:a16="http://schemas.microsoft.com/office/drawing/2014/main" id="{1F36B567-9448-4C6C-9BF5-D8556EF0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PRACTICAL NEXT STEP</a:t>
            </a:r>
          </a:p>
        </p:txBody>
      </p:sp>
      <p:sp>
        <p:nvSpPr>
          <p:cNvPr id="37" name="card-heading-3">
            <a:extLst xmlns:a="http://schemas.openxmlformats.org/drawingml/2006/main">
              <a:ext uri="{FF2B5EF4-FFF2-40B4-BE49-F238E27FC236}">
                <a16:creationId xmlns:a16="http://schemas.microsoft.com/office/drawing/2014/main" id="{71E2D221-198E-49D9-BF2E-56A14E07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577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Practical next step</a:t>
            </a:r>
          </a:p>
        </p:txBody>
      </p:sp>
      <p:sp>
        <p:nvSpPr>
          <p:cNvPr id="38" name="card-copy-3">
            <a:extLst xmlns:a="http://schemas.openxmlformats.org/drawingml/2006/main">
              <a:ext uri="{FF2B5EF4-FFF2-40B4-BE49-F238E27FC236}">
                <a16:creationId xmlns:a16="http://schemas.microsoft.com/office/drawing/2014/main" id="{6D596B23-4CB6-4EBF-A6AF-3C167F98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05400"/>
            <a:ext cx="2552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63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6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A clear build path: what to document, automate, integrate, review, or communicate.</a:t>
            </a:r>
          </a:p>
        </p:txBody>
      </p:sp>
    </p:spTree>
    <p:extLst>
      <p:ext uri="{BB962C8B-B14F-4D97-AF65-F5344CB8AC3E}">
        <p14:creationId xmlns:p14="http://schemas.microsoft.com/office/powerpoint/2010/main" val="6057478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24B1C2-0CDD-4625-A674-868EE38B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EB8DD-1787-47CB-99D7-2D363873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CEB66-1365-43A3-9AE2-83AF1187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2D218-20A3-4A3D-B69D-637F1374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C59AA-6B23-4502-B133-16FFB19F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85AF0-A4E7-4ADA-A543-F3BD2B2B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615B0-0C2E-4FDE-A0DB-95B708A6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0ED89-36BC-461A-810F-77C90091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80C1A-5443-4565-92E4-F60F2506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34812-025F-499F-AD89-849D72B1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09BAF-EBB5-49C1-A77F-EFE5C3E4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AB5BF-3F6B-41B7-8F30-6E62579E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System">
            <a:extLst xmlns:a="http://schemas.openxmlformats.org/drawingml/2006/main">
              <a:ext uri="{FF2B5EF4-FFF2-40B4-BE49-F238E27FC236}">
                <a16:creationId xmlns:a16="http://schemas.microsoft.com/office/drawing/2014/main" id="{3E69071B-BAC8-4C66-B8D9-574CF9C5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8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5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85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System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8bf9bffd44da4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12F03833-D280-49A2-9D0A-E0D9F79D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6CD51B6-1DE2-46AD-8603-1DA0197D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CD047863-4448-412C-A8DB-DE79B82D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eyebrow-Build output">
            <a:extLst xmlns:a="http://schemas.openxmlformats.org/drawingml/2006/main">
              <a:ext uri="{FF2B5EF4-FFF2-40B4-BE49-F238E27FC236}">
                <a16:creationId xmlns:a16="http://schemas.microsoft.com/office/drawing/2014/main" id="{6D261DC3-C682-4A43-997C-2BB4A4BD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BUILD OUTPUT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88214D7B-8B1D-4964-830D-489F0C69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From workflow map to usable operating infrastructure.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686D7059-D7D4-4298-BE18-B7808A66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The build is not only a tool. It is the workflow, documentation, adoption logic, review points, and communication layer required to make the system useful in daily work.</a:t>
            </a:r>
          </a:p>
        </p:txBody>
      </p:sp>
      <p:sp>
        <p:nvSpPr>
          <p:cNvPr id="21" name="build-card-0-outer">
            <a:extLst xmlns:a="http://schemas.openxmlformats.org/drawingml/2006/main">
              <a:ext uri="{FF2B5EF4-FFF2-40B4-BE49-F238E27FC236}">
                <a16:creationId xmlns:a16="http://schemas.microsoft.com/office/drawing/2014/main" id="{F070B458-E5B3-480F-AE28-D146DD35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43325"/>
            <a:ext cx="4095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2" name="build-card-0">
            <a:extLst xmlns:a="http://schemas.openxmlformats.org/drawingml/2006/main">
              <a:ext uri="{FF2B5EF4-FFF2-40B4-BE49-F238E27FC236}">
                <a16:creationId xmlns:a16="http://schemas.microsoft.com/office/drawing/2014/main" id="{78E74F77-B129-420C-BCB8-E398EE5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90950"/>
            <a:ext cx="400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3" name="build-title-0">
            <a:extLst xmlns:a="http://schemas.openxmlformats.org/drawingml/2006/main">
              <a:ext uri="{FF2B5EF4-FFF2-40B4-BE49-F238E27FC236}">
                <a16:creationId xmlns:a16="http://schemas.microsoft.com/office/drawing/2014/main" id="{1621A49C-34C1-455F-B2F9-04B9A604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43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1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Workflow architecture</a:t>
            </a:r>
          </a:p>
        </p:txBody>
      </p:sp>
      <p:sp>
        <p:nvSpPr>
          <p:cNvPr id="24" name="build-copy-0">
            <a:extLst xmlns:a="http://schemas.openxmlformats.org/drawingml/2006/main">
              <a:ext uri="{FF2B5EF4-FFF2-40B4-BE49-F238E27FC236}">
                <a16:creationId xmlns:a16="http://schemas.microsoft.com/office/drawing/2014/main" id="{3B1A1DDD-64E9-47DF-B422-3E09695A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Process map, roles, inputs, outputs, exceptions.</a:t>
            </a:r>
          </a:p>
        </p:txBody>
      </p:sp>
      <p:sp>
        <p:nvSpPr>
          <p:cNvPr id="25" name="build-card-1-outer">
            <a:extLst xmlns:a="http://schemas.openxmlformats.org/drawingml/2006/main">
              <a:ext uri="{FF2B5EF4-FFF2-40B4-BE49-F238E27FC236}">
                <a16:creationId xmlns:a16="http://schemas.microsoft.com/office/drawing/2014/main" id="{DD38B701-D531-4CF6-BD51-57ACB92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743325"/>
            <a:ext cx="4095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6" name="build-card-1">
            <a:extLst xmlns:a="http://schemas.openxmlformats.org/drawingml/2006/main">
              <a:ext uri="{FF2B5EF4-FFF2-40B4-BE49-F238E27FC236}">
                <a16:creationId xmlns:a16="http://schemas.microsoft.com/office/drawing/2014/main" id="{BFC950CC-926C-4A9E-AF01-F64B4C2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90950"/>
            <a:ext cx="400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7" name="build-title-1">
            <a:extLst xmlns:a="http://schemas.openxmlformats.org/drawingml/2006/main">
              <a:ext uri="{FF2B5EF4-FFF2-40B4-BE49-F238E27FC236}">
                <a16:creationId xmlns:a16="http://schemas.microsoft.com/office/drawing/2014/main" id="{38F9B417-9D7F-47DB-AE6E-2DBBB7D7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7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Internal tool or assistant</a:t>
            </a:r>
          </a:p>
        </p:txBody>
      </p:sp>
      <p:sp>
        <p:nvSpPr>
          <p:cNvPr id="28" name="build-copy-1">
            <a:extLst xmlns:a="http://schemas.openxmlformats.org/drawingml/2006/main">
              <a:ext uri="{FF2B5EF4-FFF2-40B4-BE49-F238E27FC236}">
                <a16:creationId xmlns:a16="http://schemas.microsoft.com/office/drawing/2014/main" id="{5EB3EFA9-9B86-4813-B318-233C5E81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Simple support around the highest-value workflow.</a:t>
            </a:r>
          </a:p>
        </p:txBody>
      </p:sp>
      <p:sp>
        <p:nvSpPr>
          <p:cNvPr id="29" name="build-card-2-outer">
            <a:extLst xmlns:a="http://schemas.openxmlformats.org/drawingml/2006/main">
              <a:ext uri="{FF2B5EF4-FFF2-40B4-BE49-F238E27FC236}">
                <a16:creationId xmlns:a16="http://schemas.microsoft.com/office/drawing/2014/main" id="{A2E4974F-CE81-4BB2-94AC-0DF52D56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52975"/>
            <a:ext cx="4095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30" name="build-card-2">
            <a:extLst xmlns:a="http://schemas.openxmlformats.org/drawingml/2006/main">
              <a:ext uri="{FF2B5EF4-FFF2-40B4-BE49-F238E27FC236}">
                <a16:creationId xmlns:a16="http://schemas.microsoft.com/office/drawing/2014/main" id="{960282BF-EF88-4AD8-AC64-5DF9F098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00600"/>
            <a:ext cx="400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31" name="build-title-2">
            <a:extLst xmlns:a="http://schemas.openxmlformats.org/drawingml/2006/main">
              <a:ext uri="{FF2B5EF4-FFF2-40B4-BE49-F238E27FC236}">
                <a16:creationId xmlns:a16="http://schemas.microsoft.com/office/drawing/2014/main" id="{2CEF63A0-6ACE-46AF-A02F-321684F4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Documentation</a:t>
            </a:r>
          </a:p>
        </p:txBody>
      </p:sp>
      <p:sp>
        <p:nvSpPr>
          <p:cNvPr id="32" name="build-copy-2">
            <a:extLst xmlns:a="http://schemas.openxmlformats.org/drawingml/2006/main">
              <a:ext uri="{FF2B5EF4-FFF2-40B4-BE49-F238E27FC236}">
                <a16:creationId xmlns:a16="http://schemas.microsoft.com/office/drawing/2014/main" id="{4BD45199-9110-40B6-8145-C4CF12F3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720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1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Usage rules, handoff notes, override paths, maintenance.</a:t>
            </a:r>
          </a:p>
        </p:txBody>
      </p:sp>
      <p:sp>
        <p:nvSpPr>
          <p:cNvPr id="33" name="build-card-3-outer">
            <a:extLst xmlns:a="http://schemas.openxmlformats.org/drawingml/2006/main">
              <a:ext uri="{FF2B5EF4-FFF2-40B4-BE49-F238E27FC236}">
                <a16:creationId xmlns:a16="http://schemas.microsoft.com/office/drawing/2014/main" id="{F1B59B65-AFCE-4DA1-8C36-5184D32A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752975"/>
            <a:ext cx="4095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34" name="build-card-3">
            <a:extLst xmlns:a="http://schemas.openxmlformats.org/drawingml/2006/main">
              <a:ext uri="{FF2B5EF4-FFF2-40B4-BE49-F238E27FC236}">
                <a16:creationId xmlns:a16="http://schemas.microsoft.com/office/drawing/2014/main" id="{68B5331E-7FAA-4582-BBCF-0A3437F7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00600"/>
            <a:ext cx="400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35" name="build-title-3">
            <a:extLst xmlns:a="http://schemas.openxmlformats.org/drawingml/2006/main">
              <a:ext uri="{FF2B5EF4-FFF2-40B4-BE49-F238E27FC236}">
                <a16:creationId xmlns:a16="http://schemas.microsoft.com/office/drawing/2014/main" id="{1BC88A8D-02AA-4340-A6E9-8E9C5F43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Adoption support</a:t>
            </a:r>
          </a:p>
        </p:txBody>
      </p:sp>
      <p:sp>
        <p:nvSpPr>
          <p:cNvPr id="36" name="build-copy-3">
            <a:extLst xmlns:a="http://schemas.openxmlformats.org/drawingml/2006/main">
              <a:ext uri="{FF2B5EF4-FFF2-40B4-BE49-F238E27FC236}">
                <a16:creationId xmlns:a16="http://schemas.microsoft.com/office/drawing/2014/main" id="{DA855E18-0977-4C6F-AA36-D315E436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720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Training, review rhythm, feedback, refinement.</a:t>
            </a:r>
          </a:p>
        </p:txBody>
      </p:sp>
    </p:spTree>
    <p:extLst>
      <p:ext uri="{BB962C8B-B14F-4D97-AF65-F5344CB8AC3E}">
        <p14:creationId xmlns:p14="http://schemas.microsoft.com/office/powerpoint/2010/main" val="17894507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761C35-5C3F-4398-A3B1-CC9381CF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DB684-D264-4B97-965E-CC989055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19CA1-2CDE-417E-851A-B7A60B43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C14AF-72F4-4891-8E66-B8C934BA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C326A-75E3-4FCF-87CF-AFD37EE1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10A4D-4957-4793-9F55-2EC7332A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6FE4C-BF70-4E8B-A7B2-724ADC15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6FC12-1DA9-46A4-82F7-52ECA957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D2484-2DCC-4AFA-9483-1A656FC3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F7D74-8D79-4C4E-8D6D-CD63D3BD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48911-1BAC-4D35-8F05-8DE77598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020CC-816F-4F00-8C3B-F3EDD4CB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Founder">
            <a:extLst xmlns:a="http://schemas.openxmlformats.org/drawingml/2006/main">
              <a:ext uri="{FF2B5EF4-FFF2-40B4-BE49-F238E27FC236}">
                <a16:creationId xmlns:a16="http://schemas.microsoft.com/office/drawing/2014/main" id="{898650F4-28A1-43E8-8111-2C0ECAC6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76250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4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Founder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f527b636f40cf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FE3CFAF6-BA4A-420A-B4F4-1D6601EA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43B4097-87D6-430E-825D-A843B846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E861ED37-D7DD-4FC1-835F-E740A430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founder-image-frame">
            <a:extLst xmlns:a="http://schemas.openxmlformats.org/drawingml/2006/main">
              <a:ext uri="{FF2B5EF4-FFF2-40B4-BE49-F238E27FC236}">
                <a16:creationId xmlns:a16="http://schemas.microsoft.com/office/drawing/2014/main" id="{45F73C91-6BAE-44D8-9666-9F4F145E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71600"/>
            <a:ext cx="3257550" cy="38671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3694049a14870"/>
          <a:srcRect xmlns:a="http://schemas.openxmlformats.org/drawingml/2006/main" l="8290" t="0" r="82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1466850"/>
            <a:ext cx="3067050" cy="367665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sp>
        <p:nvSpPr>
          <p:cNvPr id="20" name="eyebrow-Founder-led">
            <a:extLst xmlns:a="http://schemas.openxmlformats.org/drawingml/2006/main">
              <a:ext uri="{FF2B5EF4-FFF2-40B4-BE49-F238E27FC236}">
                <a16:creationId xmlns:a16="http://schemas.microsoft.com/office/drawing/2014/main" id="{1839DBEF-EF40-4B95-AF54-5967A50F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90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FOUNDER-LED</a:t>
            </a:r>
          </a:p>
        </p:txBody>
      </p:sp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3B9369F8-C5CD-47B2-AA20-F9BF09B6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52600"/>
            <a:ext cx="5334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Founder-led by someone who understands both systems and perception.</a:t>
            </a:r>
          </a:p>
        </p:txBody>
      </p:sp>
      <p:sp>
        <p:nvSpPr>
          <p:cNvPr id="22" name="body">
            <a:extLst xmlns:a="http://schemas.openxmlformats.org/drawingml/2006/main">
              <a:ext uri="{FF2B5EF4-FFF2-40B4-BE49-F238E27FC236}">
                <a16:creationId xmlns:a16="http://schemas.microsoft.com/office/drawing/2014/main" id="{01E5A5EA-1ABB-48F8-9573-2663818D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051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Kramaniti is shaped by Karan Chordia's path from commercial media and spatial storytelling into workflow design and practical AI infrastructure.</a:t>
            </a:r>
          </a:p>
        </p:txBody>
      </p:sp>
      <p:sp>
        <p:nvSpPr>
          <p:cNvPr id="23" name="body">
            <a:extLst xmlns:a="http://schemas.openxmlformats.org/drawingml/2006/main">
              <a:ext uri="{FF2B5EF4-FFF2-40B4-BE49-F238E27FC236}">
                <a16:creationId xmlns:a16="http://schemas.microsoft.com/office/drawing/2014/main" id="{9BF3855E-7CFF-4036-B4D1-4127DDF6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4335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That combination matters: the work is not only about making businesses more efficient, but making sure the brand's external presence reflects how the business actually creates value.</a:t>
            </a:r>
          </a:p>
        </p:txBody>
      </p:sp>
      <p:sp>
        <p:nvSpPr>
          <p:cNvPr id="24" name="founder-belief-outer">
            <a:extLst xmlns:a="http://schemas.openxmlformats.org/drawingml/2006/main">
              <a:ext uri="{FF2B5EF4-FFF2-40B4-BE49-F238E27FC236}">
                <a16:creationId xmlns:a16="http://schemas.microsoft.com/office/drawing/2014/main" id="{384D89DA-46F0-4722-B1E4-66700775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000625"/>
            <a:ext cx="42672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5" name="founder-belief">
            <a:extLst xmlns:a="http://schemas.openxmlformats.org/drawingml/2006/main">
              <a:ext uri="{FF2B5EF4-FFF2-40B4-BE49-F238E27FC236}">
                <a16:creationId xmlns:a16="http://schemas.microsoft.com/office/drawing/2014/main" id="{2919F23F-4FC2-470E-B404-BE129ABF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48250"/>
            <a:ext cx="4171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6" name="founder-belief-text">
            <a:extLst xmlns:a="http://schemas.openxmlformats.org/drawingml/2006/main">
              <a:ext uri="{FF2B5EF4-FFF2-40B4-BE49-F238E27FC236}">
                <a16:creationId xmlns:a16="http://schemas.microsoft.com/office/drawing/2014/main" id="{E50F5C5A-8AF8-4136-BE7E-3C681426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006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0F0F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F0F5"/>
                </a:solidFill>
                <a:latin typeface="Aptos"/>
                <a:ea typeface="Aptos"/>
                <a:cs typeface="Aptos"/>
              </a:rPr>
              <a:t>Business clarity. Practical systems. Precise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7255810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940912-0528-4250-800A-A435935C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087CE-20C8-470F-AE7E-BCD27C50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BD944-E02D-43B8-8DCD-55625098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5359C-5276-47A5-BB07-CD45AAFB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49168-D721-4C3C-B2D5-F5C15781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1BBCC-068C-49E5-8B9C-2C464EA0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D4D6F-389C-4AF8-8811-312928A9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4281D-5ABC-4BF8-A34B-833D3210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8484D-BD72-4915-BC49-57290488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EB8DB-7A4D-4353-A84B-8E5C4AA0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5C0AE-CA79-4F22-A53E-4F666D4D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EF68D-DBF0-4C60-A615-2A33D80D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Value">
            <a:extLst xmlns:a="http://schemas.openxmlformats.org/drawingml/2006/main">
              <a:ext uri="{FF2B5EF4-FFF2-40B4-BE49-F238E27FC236}">
                <a16:creationId xmlns:a16="http://schemas.microsoft.com/office/drawing/2014/main" id="{2A67EB62-B45D-47F6-B0A6-150EAB1A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4345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6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1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91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Value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b32b1fe0b495e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CDCE5BE0-532F-4C1C-BFFB-0D366DDA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185D9E0-3EA4-4934-ACBD-A18BAC6A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725CA052-B090-49AB-8BC8-BE24B14F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eyebrow-Why founders choose Kramaniti">
            <a:extLst xmlns:a="http://schemas.openxmlformats.org/drawingml/2006/main">
              <a:ext uri="{FF2B5EF4-FFF2-40B4-BE49-F238E27FC236}">
                <a16:creationId xmlns:a16="http://schemas.microsoft.com/office/drawing/2014/main" id="{A87FFE0D-F4A9-46BA-8006-C9A6ABD9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WHY FOUNDERS CHOOSE KRAMANITI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0CD19B43-78FD-45DF-8D76-42F5EC03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The value is not more tools.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4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The value is coherence.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02A7966C-1E7A-45E9-A7BE-699D1EA4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When operations, intelligence, and presence align, a founder can make sharper decisions, reduce wasted effort, and show up with a clearer market signal.</a:t>
            </a:r>
          </a:p>
        </p:txBody>
      </p:sp>
      <p:sp>
        <p:nvSpPr>
          <p:cNvPr id="21" name="value-0-outer">
            <a:extLst xmlns:a="http://schemas.openxmlformats.org/drawingml/2006/main">
              <a:ext uri="{FF2B5EF4-FFF2-40B4-BE49-F238E27FC236}">
                <a16:creationId xmlns:a16="http://schemas.microsoft.com/office/drawing/2014/main" id="{A13EBC15-EC11-41F9-B343-C9AE58E5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43375"/>
            <a:ext cx="2286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2" name="value-0">
            <a:extLst xmlns:a="http://schemas.openxmlformats.org/drawingml/2006/main">
              <a:ext uri="{FF2B5EF4-FFF2-40B4-BE49-F238E27FC236}">
                <a16:creationId xmlns:a16="http://schemas.microsoft.com/office/drawing/2014/main" id="{3FEE46B7-077C-417D-9034-EA2EE902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2190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3" name="value-title-0">
            <a:extLst xmlns:a="http://schemas.openxmlformats.org/drawingml/2006/main">
              <a:ext uri="{FF2B5EF4-FFF2-40B4-BE49-F238E27FC236}">
                <a16:creationId xmlns:a16="http://schemas.microsoft.com/office/drawing/2014/main" id="{7F0D7D7B-CD98-4729-A466-D6AEC10D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9A84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9A84C"/>
                </a:solidFill>
                <a:latin typeface="Aptos Display"/>
                <a:ea typeface="Aptos Display"/>
                <a:cs typeface="Aptos Display"/>
              </a:rPr>
              <a:t>Clarity</a:t>
            </a:r>
          </a:p>
        </p:txBody>
      </p:sp>
      <p:sp>
        <p:nvSpPr>
          <p:cNvPr id="24" name="value-copy-0">
            <a:extLst xmlns:a="http://schemas.openxmlformats.org/drawingml/2006/main">
              <a:ext uri="{FF2B5EF4-FFF2-40B4-BE49-F238E27FC236}">
                <a16:creationId xmlns:a16="http://schemas.microsoft.com/office/drawing/2014/main" id="{CFE79887-2262-4AFA-9990-E49438D3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Know what matters first.</a:t>
            </a:r>
          </a:p>
        </p:txBody>
      </p:sp>
      <p:sp>
        <p:nvSpPr>
          <p:cNvPr id="25" name="value-1-outer">
            <a:extLst xmlns:a="http://schemas.openxmlformats.org/drawingml/2006/main">
              <a:ext uri="{FF2B5EF4-FFF2-40B4-BE49-F238E27FC236}">
                <a16:creationId xmlns:a16="http://schemas.microsoft.com/office/drawing/2014/main" id="{34DFB411-999A-4BAC-8F18-397B0299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43375"/>
            <a:ext cx="2286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6" name="value-1">
            <a:extLst xmlns:a="http://schemas.openxmlformats.org/drawingml/2006/main">
              <a:ext uri="{FF2B5EF4-FFF2-40B4-BE49-F238E27FC236}">
                <a16:creationId xmlns:a16="http://schemas.microsoft.com/office/drawing/2014/main" id="{865B9E67-B0BE-4CA1-AEE8-5F6A20D1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91000"/>
            <a:ext cx="2190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7" name="value-title-1">
            <a:extLst xmlns:a="http://schemas.openxmlformats.org/drawingml/2006/main">
              <a:ext uri="{FF2B5EF4-FFF2-40B4-BE49-F238E27FC236}">
                <a16:creationId xmlns:a16="http://schemas.microsoft.com/office/drawing/2014/main" id="{3A88DFC2-08DD-45D7-B7BF-FFDBF327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38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Less waste</a:t>
            </a:r>
          </a:p>
        </p:txBody>
      </p:sp>
      <p:sp>
        <p:nvSpPr>
          <p:cNvPr id="28" name="value-copy-1">
            <a:extLst xmlns:a="http://schemas.openxmlformats.org/drawingml/2006/main">
              <a:ext uri="{FF2B5EF4-FFF2-40B4-BE49-F238E27FC236}">
                <a16:creationId xmlns:a16="http://schemas.microsoft.com/office/drawing/2014/main" id="{7FD2CF73-26AA-4912-9793-CD5AEFB3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768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Stop building around vague friction.</a:t>
            </a:r>
          </a:p>
        </p:txBody>
      </p:sp>
      <p:sp>
        <p:nvSpPr>
          <p:cNvPr id="29" name="value-2-outer">
            <a:extLst xmlns:a="http://schemas.openxmlformats.org/drawingml/2006/main">
              <a:ext uri="{FF2B5EF4-FFF2-40B4-BE49-F238E27FC236}">
                <a16:creationId xmlns:a16="http://schemas.microsoft.com/office/drawing/2014/main" id="{1948C4FB-6293-4933-8A1E-2C3EA3CC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143375"/>
            <a:ext cx="2286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30" name="value-2">
            <a:extLst xmlns:a="http://schemas.openxmlformats.org/drawingml/2006/main">
              <a:ext uri="{FF2B5EF4-FFF2-40B4-BE49-F238E27FC236}">
                <a16:creationId xmlns:a16="http://schemas.microsoft.com/office/drawing/2014/main" id="{87678549-36A1-4171-9B25-A5CD24B2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91000"/>
            <a:ext cx="2190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31" name="value-title-2">
            <a:extLst xmlns:a="http://schemas.openxmlformats.org/drawingml/2006/main">
              <a:ext uri="{FF2B5EF4-FFF2-40B4-BE49-F238E27FC236}">
                <a16:creationId xmlns:a16="http://schemas.microsoft.com/office/drawing/2014/main" id="{0DD181FB-92C6-4633-937C-B24B3A6D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8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Usable systems</a:t>
            </a:r>
          </a:p>
        </p:txBody>
      </p:sp>
      <p:sp>
        <p:nvSpPr>
          <p:cNvPr id="32" name="value-copy-2">
            <a:extLst xmlns:a="http://schemas.openxmlformats.org/drawingml/2006/main">
              <a:ext uri="{FF2B5EF4-FFF2-40B4-BE49-F238E27FC236}">
                <a16:creationId xmlns:a16="http://schemas.microsoft.com/office/drawing/2014/main" id="{4A98975D-17D8-4E91-9F5E-F4BE3989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Give teams support they can adopt.</a:t>
            </a:r>
          </a:p>
        </p:txBody>
      </p:sp>
      <p:sp>
        <p:nvSpPr>
          <p:cNvPr id="33" name="value-3-outer">
            <a:extLst xmlns:a="http://schemas.openxmlformats.org/drawingml/2006/main">
              <a:ext uri="{FF2B5EF4-FFF2-40B4-BE49-F238E27FC236}">
                <a16:creationId xmlns:a16="http://schemas.microsoft.com/office/drawing/2014/main" id="{0D465E6B-0653-4995-9008-E9066EE9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143375"/>
            <a:ext cx="2286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34" name="value-3">
            <a:extLst xmlns:a="http://schemas.openxmlformats.org/drawingml/2006/main">
              <a:ext uri="{FF2B5EF4-FFF2-40B4-BE49-F238E27FC236}">
                <a16:creationId xmlns:a16="http://schemas.microsoft.com/office/drawing/2014/main" id="{E4A5BF0B-F214-446B-872C-F83E6563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91000"/>
            <a:ext cx="2190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35" name="value-title-3">
            <a:extLst xmlns:a="http://schemas.openxmlformats.org/drawingml/2006/main">
              <a:ext uri="{FF2B5EF4-FFF2-40B4-BE49-F238E27FC236}">
                <a16:creationId xmlns:a16="http://schemas.microsoft.com/office/drawing/2014/main" id="{970C8D86-16A9-486F-BAA1-2B5B38C3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38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Aligned presence</a:t>
            </a:r>
          </a:p>
        </p:txBody>
      </p:sp>
      <p:sp>
        <p:nvSpPr>
          <p:cNvPr id="36" name="value-copy-3">
            <a:extLst xmlns:a="http://schemas.openxmlformats.org/drawingml/2006/main">
              <a:ext uri="{FF2B5EF4-FFF2-40B4-BE49-F238E27FC236}">
                <a16:creationId xmlns:a16="http://schemas.microsoft.com/office/drawing/2014/main" id="{4375971A-915B-4780-BB8A-8B2A77B4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768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Communicate what the business can deliver.</a:t>
            </a:r>
          </a:p>
        </p:txBody>
      </p:sp>
    </p:spTree>
    <p:extLst>
      <p:ext uri="{BB962C8B-B14F-4D97-AF65-F5344CB8AC3E}">
        <p14:creationId xmlns:p14="http://schemas.microsoft.com/office/powerpoint/2010/main" val="14709018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75F94-5321-47BC-9320-660E9C7B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FB72D-A30C-41C1-AFF9-04BB3EEA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D0A62-E5EB-4E9D-974D-28392276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B3CF3-B952-43F9-8B8E-3DDAC74D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0256C-6D47-454A-87FD-3AF68283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E15EA-0F9D-4AEA-A85D-DB93C907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0" cy="613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65B69-1763-44B5-92F2-0A10CA70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875C6-B56E-4842-A085-36F0CDC7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FB48D-E6B5-4E44-9394-043EF228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38BA8-0CE4-4982-B180-B1C7426C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5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384AF-5AC8-4A5A-BED3-32CF1C31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C7FD2-C0D9-44EC-AFC9-7D4303D6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1A13"/>
            </a:solidFill>
            <a:prstDash val="solid"/>
          </a:ln>
        </p:spPr>
      </p:sp>
      <p:sp>
        <p:nvSpPr>
          <p:cNvPr id="13" name="atmos-Connect">
            <a:extLst xmlns:a="http://schemas.openxmlformats.org/drawingml/2006/main">
              <a:ext uri="{FF2B5EF4-FFF2-40B4-BE49-F238E27FC236}">
                <a16:creationId xmlns:a16="http://schemas.microsoft.com/office/drawing/2014/main" id="{5A3A7A56-40BC-4077-9678-DB959B31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4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191712"/>
                </a:solidFill>
                <a:latin typeface="Aptos Display"/>
                <a:ea typeface="Aptos Display"/>
                <a:cs typeface="Aptos Display"/>
              </a:rPr>
              <a:t>Connect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5e5bb3ec84d57"/>
          <a:stretch xmlns:a="http://schemas.openxmlformats.org/drawingml/2006/main"/>
        </p:blipFill>
        <p:spPr>
          <a:xfrm xmlns:a="http://schemas.openxmlformats.org/drawingml/2006/main">
            <a:off x="742950" y="400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3DBE19F3-B90E-4412-B0EE-5112464B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97567E-09F8-4215-9827-0AC1E855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06A92ABB-348F-4D53-8234-2FAB7121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B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B78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  <p:sp>
        <p:nvSpPr>
          <p:cNvPr id="18" name="eyebrow-Start here">
            <a:extLst xmlns:a="http://schemas.openxmlformats.org/drawingml/2006/main">
              <a:ext uri="{FF2B5EF4-FFF2-40B4-BE49-F238E27FC236}">
                <a16:creationId xmlns:a16="http://schemas.microsoft.com/office/drawing/2014/main" id="{FFFE8BB3-07C6-4826-8CA0-57846699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969C9B8E-D874-4732-A0E2-F8C63B85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668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37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Start with an Alignment Audit.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FED20A16-C5C1-4B1D-913C-68803F72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6324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B9BA8"/>
                </a:solidFill>
                <a:latin typeface="Aptos"/>
                <a:ea typeface="Aptos"/>
                <a:cs typeface="Aptos"/>
              </a:rPr>
              <a:t>Share the workflow, handoff, decision loop, or communication gap you want to clarify. The first conversation is about finding the highest-impact system to build first.</a:t>
            </a:r>
          </a:p>
        </p:txBody>
      </p:sp>
      <p:sp>
        <p:nvSpPr>
          <p:cNvPr id="21" name="close-focus-outer">
            <a:extLst xmlns:a="http://schemas.openxmlformats.org/drawingml/2006/main">
              <a:ext uri="{FF2B5EF4-FFF2-40B4-BE49-F238E27FC236}">
                <a16:creationId xmlns:a16="http://schemas.microsoft.com/office/drawing/2014/main" id="{C23B48E5-67C8-4F9B-AB4E-62B632EC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590925"/>
            <a:ext cx="62674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2" name="close-focus">
            <a:extLst xmlns:a="http://schemas.openxmlformats.org/drawingml/2006/main">
              <a:ext uri="{FF2B5EF4-FFF2-40B4-BE49-F238E27FC236}">
                <a16:creationId xmlns:a16="http://schemas.microsoft.com/office/drawing/2014/main" id="{62F7A27C-D7E2-4562-B728-A7F1F5A1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38550"/>
            <a:ext cx="6172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5151B"/>
          </a:solidFill>
          <a:ln xmlns:a="http://schemas.openxmlformats.org/drawingml/2006/main" w="9525">
            <a:solidFill>
              <a:srgbClr val="2A2A32"/>
            </a:solidFill>
            <a:prstDash val="solid"/>
          </a:ln>
        </p:spPr>
      </p:sp>
      <p:sp>
        <p:nvSpPr>
          <p:cNvPr id="23" name="close-label">
            <a:extLst xmlns:a="http://schemas.openxmlformats.org/drawingml/2006/main">
              <a:ext uri="{FF2B5EF4-FFF2-40B4-BE49-F238E27FC236}">
                <a16:creationId xmlns:a16="http://schemas.microsoft.com/office/drawing/2014/main" id="{C31390CC-D5DC-42F7-86CB-1DFCBEB2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86200"/>
            <a:ext cx="617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ALIGNMENT FOCUS</a:t>
            </a:r>
          </a:p>
        </p:txBody>
      </p:sp>
      <p:sp>
        <p:nvSpPr>
          <p:cNvPr id="2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30B9D12-3BAD-4856-9588-22E8E3D3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71950"/>
            <a:ext cx="617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6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0F0F5"/>
                </a:solidFill>
                <a:latin typeface="Aptos Display"/>
                <a:ea typeface="Aptos Display"/>
                <a:cs typeface="Aptos Display"/>
              </a:rPr>
              <a:t>Find the first system worth building.</a:t>
            </a:r>
          </a:p>
        </p:txBody>
      </p:sp>
      <p:sp>
        <p:nvSpPr>
          <p:cNvPr id="25" name="close-pill-0">
            <a:extLst xmlns:a="http://schemas.openxmlformats.org/drawingml/2006/main">
              <a:ext uri="{FF2B5EF4-FFF2-40B4-BE49-F238E27FC236}">
                <a16:creationId xmlns:a16="http://schemas.microsoft.com/office/drawing/2014/main" id="{CF8ED647-551A-4E98-8410-B351D75E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14900"/>
            <a:ext cx="12954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201B13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6" name="close-pill-text-0">
            <a:extLst xmlns:a="http://schemas.openxmlformats.org/drawingml/2006/main">
              <a:ext uri="{FF2B5EF4-FFF2-40B4-BE49-F238E27FC236}">
                <a16:creationId xmlns:a16="http://schemas.microsoft.com/office/drawing/2014/main" id="{C9807C6B-9E02-485F-9CD5-9A3DAD01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010150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B9BA8"/>
                </a:solidFill>
                <a:latin typeface="Aptos"/>
                <a:ea typeface="Aptos"/>
                <a:cs typeface="Aptos"/>
              </a:rPr>
              <a:t>Operational clarity</a:t>
            </a:r>
          </a:p>
        </p:txBody>
      </p:sp>
      <p:sp>
        <p:nvSpPr>
          <p:cNvPr id="27" name="close-pill-1">
            <a:extLst xmlns:a="http://schemas.openxmlformats.org/drawingml/2006/main">
              <a:ext uri="{FF2B5EF4-FFF2-40B4-BE49-F238E27FC236}">
                <a16:creationId xmlns:a16="http://schemas.microsoft.com/office/drawing/2014/main" id="{F2455ADE-2E21-4492-BABC-2C74CD4A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14900"/>
            <a:ext cx="12954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201B13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28" name="close-pill-text-1">
            <a:extLst xmlns:a="http://schemas.openxmlformats.org/drawingml/2006/main">
              <a:ext uri="{FF2B5EF4-FFF2-40B4-BE49-F238E27FC236}">
                <a16:creationId xmlns:a16="http://schemas.microsoft.com/office/drawing/2014/main" id="{AA2271BE-C751-41F0-BAEE-E9800787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10150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B9BA8"/>
                </a:solidFill>
                <a:latin typeface="Aptos"/>
                <a:ea typeface="Aptos"/>
                <a:cs typeface="Aptos"/>
              </a:rPr>
              <a:t>Priority workflow</a:t>
            </a:r>
          </a:p>
        </p:txBody>
      </p:sp>
      <p:sp>
        <p:nvSpPr>
          <p:cNvPr id="29" name="close-pill-2">
            <a:extLst xmlns:a="http://schemas.openxmlformats.org/drawingml/2006/main">
              <a:ext uri="{FF2B5EF4-FFF2-40B4-BE49-F238E27FC236}">
                <a16:creationId xmlns:a16="http://schemas.microsoft.com/office/drawing/2014/main" id="{35CC063B-6502-46A3-B1F3-0242ADBB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14900"/>
            <a:ext cx="12954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201B13"/>
          </a:solidFill>
          <a:ln xmlns:a="http://schemas.openxmlformats.org/drawingml/2006/main" w="9525">
            <a:solidFill>
              <a:srgbClr val="2C2718"/>
            </a:solidFill>
            <a:prstDash val="solid"/>
          </a:ln>
        </p:spPr>
      </p:sp>
      <p:sp>
        <p:nvSpPr>
          <p:cNvPr id="30" name="close-pill-text-2">
            <a:extLst xmlns:a="http://schemas.openxmlformats.org/drawingml/2006/main">
              <a:ext uri="{FF2B5EF4-FFF2-40B4-BE49-F238E27FC236}">
                <a16:creationId xmlns:a16="http://schemas.microsoft.com/office/drawing/2014/main" id="{91289851-A8B7-439F-9CD7-DB1AE7BD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0150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9B9BA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B9BA8"/>
                </a:solidFill>
                <a:latin typeface="Aptos"/>
                <a:ea typeface="Aptos"/>
                <a:cs typeface="Aptos"/>
              </a:rPr>
              <a:t>Practical next step</a:t>
            </a:r>
          </a:p>
        </p:txBody>
      </p:sp>
      <p:sp>
        <p:nvSpPr>
          <p:cNvPr id="31" name="close-email">
            <a:extLst xmlns:a="http://schemas.openxmlformats.org/drawingml/2006/main">
              <a:ext uri="{FF2B5EF4-FFF2-40B4-BE49-F238E27FC236}">
                <a16:creationId xmlns:a16="http://schemas.microsoft.com/office/drawing/2014/main" id="{0F459585-7C85-4D2B-BDFC-638B3E06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1219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ask@kramaniti.com</a:t>
            </a:r>
          </a:p>
        </p:txBody>
      </p:sp>
    </p:spTree>
    <p:extLst>
      <p:ext uri="{BB962C8B-B14F-4D97-AF65-F5344CB8AC3E}">
        <p14:creationId xmlns:p14="http://schemas.microsoft.com/office/powerpoint/2010/main" val="603210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2026-06-15T21:14:33.6330000Z</dcterms:created>
  <dcterms:modified xsi:type="dcterms:W3CDTF">2026-06-15T21:14:33.6330000Z</dcterms:modified>
</coreProperties>
</file>