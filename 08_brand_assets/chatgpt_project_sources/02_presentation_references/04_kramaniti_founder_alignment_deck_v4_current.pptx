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d80a817d544f47" /><Relationship Type="http://schemas.openxmlformats.org/officeDocument/2006/relationships/extended-properties" Target="/docProps/app.xml" Id="Rb9231a55b26b49fc" /><Relationship Type="http://schemas.openxmlformats.org/officeDocument/2006/relationships/officeDocument" Target="/ppt/presentation.xml" Id="Ra2188dc6ef59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0eb966113e425f"/>
  </p:sldMasterIdLst>
  <p:notesMasterIdLst>
    <p:notesMasterId xmlns:r="http://schemas.openxmlformats.org/officeDocument/2006/relationships" r:id="Rcb9bf157645d49e3"/>
  </p:notesMasterIdLst>
  <p:sldIdLst>
    <p:sldId xmlns:r="http://schemas.openxmlformats.org/officeDocument/2006/relationships" id="256" r:id="R4c241a7d6bfa4d7b"/>
    <p:sldId xmlns:r="http://schemas.openxmlformats.org/officeDocument/2006/relationships" id="257" r:id="Re3cd6cc9dd134284"/>
    <p:sldId xmlns:r="http://schemas.openxmlformats.org/officeDocument/2006/relationships" id="258" r:id="R816da79e95064f0b"/>
    <p:sldId xmlns:r="http://schemas.openxmlformats.org/officeDocument/2006/relationships" id="259" r:id="R298b375cee604b68"/>
    <p:sldId xmlns:r="http://schemas.openxmlformats.org/officeDocument/2006/relationships" id="260" r:id="R6ee742f638a24611"/>
    <p:sldId xmlns:r="http://schemas.openxmlformats.org/officeDocument/2006/relationships" id="261" r:id="R3145dc8662574356"/>
    <p:sldId xmlns:r="http://schemas.openxmlformats.org/officeDocument/2006/relationships" id="262" r:id="R19a1033f8c494b96"/>
    <p:sldId xmlns:r="http://schemas.openxmlformats.org/officeDocument/2006/relationships" id="263" r:id="R1eaccdc5c76f48bc"/>
    <p:sldId xmlns:r="http://schemas.openxmlformats.org/officeDocument/2006/relationships" id="264" r:id="R248acb41d032405f"/>
    <p:sldId xmlns:r="http://schemas.openxmlformats.org/officeDocument/2006/relationships" id="265" r:id="Rf9f8e0bf62be4610"/>
    <p:sldId xmlns:r="http://schemas.openxmlformats.org/officeDocument/2006/relationships" id="266" r:id="R01d8f35252634c04"/>
    <p:sldId xmlns:r="http://schemas.openxmlformats.org/officeDocument/2006/relationships" id="267" r:id="Rfabc6b81be924e6c"/>
    <p:sldId xmlns:r="http://schemas.openxmlformats.org/officeDocument/2006/relationships" id="268" r:id="R6051cb46c6104bf0"/>
    <p:sldId xmlns:r="http://schemas.openxmlformats.org/officeDocument/2006/relationships" id="269" r:id="Rb1febe64480b4214"/>
    <p:sldId xmlns:r="http://schemas.openxmlformats.org/officeDocument/2006/relationships" id="270" r:id="R6fa67c2906514276"/>
    <p:sldId xmlns:r="http://schemas.openxmlformats.org/officeDocument/2006/relationships" id="271" r:id="Rd44026e5120947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d74854ecdd4be0" /><Relationship Type="http://schemas.openxmlformats.org/officeDocument/2006/relationships/slideMaster" Target="/ppt/slideMasters/slideMaster1.xml" Id="R110eb966113e425f" /><Relationship Type="http://schemas.openxmlformats.org/officeDocument/2006/relationships/notesMaster" Target="/ppt/notesMasters/notesMaster1.xml" Id="Rcb9bf157645d49e3" /><Relationship Type="http://schemas.openxmlformats.org/officeDocument/2006/relationships/presProps" Target="/ppt/presProps.xml" Id="Re0e55a7965c44501" /><Relationship Type="http://schemas.openxmlformats.org/officeDocument/2006/relationships/tableStyles" Target="/ppt/tableStyles.xml" Id="Rb56876a5704a4bc5" /><Relationship Type="http://schemas.openxmlformats.org/officeDocument/2006/relationships/slide" Target="/ppt/slides/slide1.xml" Id="R4c241a7d6bfa4d7b" /><Relationship Type="http://schemas.openxmlformats.org/officeDocument/2006/relationships/slide" Target="/ppt/slides/slide2.xml" Id="Re3cd6cc9dd134284" /><Relationship Type="http://schemas.openxmlformats.org/officeDocument/2006/relationships/slide" Target="/ppt/slides/slide3.xml" Id="R816da79e95064f0b" /><Relationship Type="http://schemas.openxmlformats.org/officeDocument/2006/relationships/slide" Target="/ppt/slides/slide4.xml" Id="R298b375cee604b68" /><Relationship Type="http://schemas.openxmlformats.org/officeDocument/2006/relationships/slide" Target="/ppt/slides/slide5.xml" Id="R6ee742f638a24611" /><Relationship Type="http://schemas.openxmlformats.org/officeDocument/2006/relationships/slide" Target="/ppt/slides/slide6.xml" Id="R3145dc8662574356" /><Relationship Type="http://schemas.openxmlformats.org/officeDocument/2006/relationships/slide" Target="/ppt/slides/slide7.xml" Id="R19a1033f8c494b96" /><Relationship Type="http://schemas.openxmlformats.org/officeDocument/2006/relationships/slide" Target="/ppt/slides/slide8.xml" Id="R1eaccdc5c76f48bc" /><Relationship Type="http://schemas.openxmlformats.org/officeDocument/2006/relationships/slide" Target="/ppt/slides/slide9.xml" Id="R248acb41d032405f" /><Relationship Type="http://schemas.openxmlformats.org/officeDocument/2006/relationships/slide" Target="/ppt/slides/slide10.xml" Id="Rf9f8e0bf62be4610" /><Relationship Type="http://schemas.openxmlformats.org/officeDocument/2006/relationships/slide" Target="/ppt/slides/slide11.xml" Id="R01d8f35252634c04" /><Relationship Type="http://schemas.openxmlformats.org/officeDocument/2006/relationships/slide" Target="/ppt/slides/slide12.xml" Id="Rfabc6b81be924e6c" /><Relationship Type="http://schemas.openxmlformats.org/officeDocument/2006/relationships/slide" Target="/ppt/slides/slide13.xml" Id="R6051cb46c6104bf0" /><Relationship Type="http://schemas.openxmlformats.org/officeDocument/2006/relationships/slide" Target="/ppt/slides/slide14.xml" Id="Rb1febe64480b4214" /><Relationship Type="http://schemas.openxmlformats.org/officeDocument/2006/relationships/slide" Target="/ppt/slides/slide15.xml" Id="R6fa67c2906514276" /><Relationship Type="http://schemas.openxmlformats.org/officeDocument/2006/relationships/slide" Target="/ppt/slides/slide16.xml" Id="Rd44026e5120947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34dc29ee4142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7a8449499044f3" /><Relationship Type="http://schemas.openxmlformats.org/officeDocument/2006/relationships/notesMaster" Target="/ppt/notesMasters/notesMaster1.xml" Id="Rfe1236b49dae44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de6b3acb734d78" /><Relationship Type="http://schemas.openxmlformats.org/officeDocument/2006/relationships/notesMaster" Target="/ppt/notesMasters/notesMaster1.xml" Id="Re56f2a08ef4d4c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b4db1e90fc4b25" /><Relationship Type="http://schemas.openxmlformats.org/officeDocument/2006/relationships/notesMaster" Target="/ppt/notesMasters/notesMaster1.xml" Id="R262e7872d8ed42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b135d070604e98" /><Relationship Type="http://schemas.openxmlformats.org/officeDocument/2006/relationships/notesMaster" Target="/ppt/notesMasters/notesMaster1.xml" Id="R96f90e70eea945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3b3b9924c624487" /><Relationship Type="http://schemas.openxmlformats.org/officeDocument/2006/relationships/notesMaster" Target="/ppt/notesMasters/notesMaster1.xml" Id="R080ccef73e7b42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82f1701201498a" /><Relationship Type="http://schemas.openxmlformats.org/officeDocument/2006/relationships/notesMaster" Target="/ppt/notesMasters/notesMaster1.xml" Id="R8c897a48afbb44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04382a8a204a40" /><Relationship Type="http://schemas.openxmlformats.org/officeDocument/2006/relationships/notesMaster" Target="/ppt/notesMasters/notesMaster1.xml" Id="R460f8d34d47f4e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0056e6a41840bc" /><Relationship Type="http://schemas.openxmlformats.org/officeDocument/2006/relationships/notesMaster" Target="/ppt/notesMasters/notesMaster1.xml" Id="R2fd848c48118442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1789af4d544d8c" /><Relationship Type="http://schemas.openxmlformats.org/officeDocument/2006/relationships/notesMaster" Target="/ppt/notesMasters/notesMaster1.xml" Id="R5509507a17d34d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d8b31bf6604316" /><Relationship Type="http://schemas.openxmlformats.org/officeDocument/2006/relationships/notesMaster" Target="/ppt/notesMasters/notesMaster1.xml" Id="R5d9c120545604f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4e8e7375184c77" /><Relationship Type="http://schemas.openxmlformats.org/officeDocument/2006/relationships/notesMaster" Target="/ppt/notesMasters/notesMaster1.xml" Id="Rabb8e44477404b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b767895e2144ad" /><Relationship Type="http://schemas.openxmlformats.org/officeDocument/2006/relationships/notesMaster" Target="/ppt/notesMasters/notesMaster1.xml" Id="R5e554ce917154c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4cc1145bac45ac" /><Relationship Type="http://schemas.openxmlformats.org/officeDocument/2006/relationships/notesMaster" Target="/ppt/notesMasters/notesMaster1.xml" Id="R339dace9feb044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0c560056f1454a" /><Relationship Type="http://schemas.openxmlformats.org/officeDocument/2006/relationships/notesMaster" Target="/ppt/notesMasters/notesMaster1.xml" Id="R8636264db0464ad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84271a25484cab" /><Relationship Type="http://schemas.openxmlformats.org/officeDocument/2006/relationships/notesMaster" Target="/ppt/notesMasters/notesMaster1.xml" Id="R69708769e8d34d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8262a4382c4b1f" /><Relationship Type="http://schemas.openxmlformats.org/officeDocument/2006/relationships/notesMaster" Target="/ppt/notesMasters/notesMaster1.xml" Id="Rf71811b933f4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17935b2a6242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e95f3a4f94d38" /><Relationship Type="http://schemas.openxmlformats.org/officeDocument/2006/relationships/slideLayout" Target="/ppt/slideLayouts/slideLayout1.xml" Id="R11a00f9cb1be49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a00f9cb1be49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a8b32dc5d44c0" /><Relationship Type="http://schemas.openxmlformats.org/officeDocument/2006/relationships/image" Target="/ppt/media/image.png" Id="Rabc45cb6741149e6" /><Relationship Type="http://schemas.openxmlformats.org/officeDocument/2006/relationships/notesSlide" Target="/ppt/notesSlides/notesSlide1.xml" Id="Rcd5725f8476b43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4ff34521845bb" /><Relationship Type="http://schemas.openxmlformats.org/officeDocument/2006/relationships/image" Target="/ppt/media/image2.png" Id="Rfba90c74df1440e1" /><Relationship Type="http://schemas.openxmlformats.org/officeDocument/2006/relationships/notesSlide" Target="/ppt/notesSlides/notesSlide2.xml" Id="Re73ed5f5d98a47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23d5f88fa41e6" /><Relationship Type="http://schemas.openxmlformats.org/officeDocument/2006/relationships/image" Target="/ppt/media/image3.png" Id="Ra6ff7796595b4543" /><Relationship Type="http://schemas.openxmlformats.org/officeDocument/2006/relationships/notesSlide" Target="/ppt/notesSlides/notesSlide3.xml" Id="R520fefebd95243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a2a4c02cd4fa3" /><Relationship Type="http://schemas.openxmlformats.org/officeDocument/2006/relationships/image" Target="/ppt/media/image4.png" Id="R4efbbcc9804d4488" /><Relationship Type="http://schemas.openxmlformats.org/officeDocument/2006/relationships/notesSlide" Target="/ppt/notesSlides/notesSlide4.xml" Id="R325099221e9143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8850560bfc4d3b" /><Relationship Type="http://schemas.openxmlformats.org/officeDocument/2006/relationships/image" Target="/ppt/media/image5.png" Id="R486469f0d08945b6" /><Relationship Type="http://schemas.openxmlformats.org/officeDocument/2006/relationships/notesSlide" Target="/ppt/notesSlides/notesSlide5.xml" Id="R9b88bed93a1d4a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81f4a8de3486f" /><Relationship Type="http://schemas.openxmlformats.org/officeDocument/2006/relationships/image" Target="/ppt/media/image6.png" Id="R9e1360ad1ca74403" /><Relationship Type="http://schemas.openxmlformats.org/officeDocument/2006/relationships/notesSlide" Target="/ppt/notesSlides/notesSlide6.xml" Id="Rfebc6022fff34c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adb1e833d42ed" /><Relationship Type="http://schemas.openxmlformats.org/officeDocument/2006/relationships/image" Target="/ppt/media/image7.png" Id="R59918cbf7f8f42a8" /><Relationship Type="http://schemas.openxmlformats.org/officeDocument/2006/relationships/notesSlide" Target="/ppt/notesSlides/notesSlide7.xml" Id="Ra0211aa9a3484a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784d5bcb34af0" /><Relationship Type="http://schemas.openxmlformats.org/officeDocument/2006/relationships/image" Target="/ppt/media/image8.png" Id="R57a925a95a1049cb" /><Relationship Type="http://schemas.openxmlformats.org/officeDocument/2006/relationships/notesSlide" Target="/ppt/notesSlides/notesSlide8.xml" Id="Rb4c233dd9d8747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736af1a824db1" /><Relationship Type="http://schemas.openxmlformats.org/officeDocument/2006/relationships/image" Target="/ppt/media/image9.png" Id="R31f6e5c41f704795" /><Relationship Type="http://schemas.openxmlformats.org/officeDocument/2006/relationships/notesSlide" Target="/ppt/notesSlides/notesSlide9.xml" Id="Rb4783b85ebe349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8bc50311442d3" /><Relationship Type="http://schemas.openxmlformats.org/officeDocument/2006/relationships/image" Target="/ppt/media/image10.png" Id="Rf03a798c999143e6" /><Relationship Type="http://schemas.openxmlformats.org/officeDocument/2006/relationships/notesSlide" Target="/ppt/notesSlides/notesSlide10.xml" Id="R528260dd672046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103e04d734203" /><Relationship Type="http://schemas.openxmlformats.org/officeDocument/2006/relationships/image" Target="/ppt/media/image11.png" Id="R42d3f27fd78642ae" /><Relationship Type="http://schemas.openxmlformats.org/officeDocument/2006/relationships/notesSlide" Target="/ppt/notesSlides/notesSlide11.xml" Id="Rd5c48cd2817e47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7a2ff153d4b4e" /><Relationship Type="http://schemas.openxmlformats.org/officeDocument/2006/relationships/image" Target="/ppt/media/image12.png" Id="R1ef8bc8a45364ed0" /><Relationship Type="http://schemas.openxmlformats.org/officeDocument/2006/relationships/notesSlide" Target="/ppt/notesSlides/notesSlide12.xml" Id="R1f51b3c032ab4a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a7f28fc0b347cc" /><Relationship Type="http://schemas.openxmlformats.org/officeDocument/2006/relationships/image" Target="/ppt/media/image13.png" Id="R53a66651c6374d2b" /><Relationship Type="http://schemas.openxmlformats.org/officeDocument/2006/relationships/notesSlide" Target="/ppt/notesSlides/notesSlide13.xml" Id="R98cacf2c0f8046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9354d2caa4e69" /><Relationship Type="http://schemas.openxmlformats.org/officeDocument/2006/relationships/image" Target="/ppt/media/image14.png" Id="R900be414a3774a30" /><Relationship Type="http://schemas.openxmlformats.org/officeDocument/2006/relationships/image" Target="/ppt/media/image.jpeg" Id="R85e4c641b196482d" /><Relationship Type="http://schemas.openxmlformats.org/officeDocument/2006/relationships/notesSlide" Target="/ppt/notesSlides/notesSlide14.xml" Id="Rf0b6a7fe912142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c760d410342ed" /><Relationship Type="http://schemas.openxmlformats.org/officeDocument/2006/relationships/image" Target="/ppt/media/image15.png" Id="Rfd52d442b7d448e2" /><Relationship Type="http://schemas.openxmlformats.org/officeDocument/2006/relationships/notesSlide" Target="/ppt/notesSlides/notesSlide15.xml" Id="Ra2949412505548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3420d0caa4918" /><Relationship Type="http://schemas.openxmlformats.org/officeDocument/2006/relationships/image" Target="/ppt/media/image16.png" Id="R535c4f50e0154161" /><Relationship Type="http://schemas.openxmlformats.org/officeDocument/2006/relationships/notesSlide" Target="/ppt/notesSlides/notesSlide16.xml" Id="R2889669ee00148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982BC4-31C1-46B0-A15F-81A4EA90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6E366-B098-489F-A746-F1ACA3FB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74550-65E3-4B99-A065-78DB10DF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2BFAF-15A9-4EA7-A508-10B413D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115C0600-2CC6-4820-AE8E-6083759E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910C976-7F33-41E8-9504-4C3AA9CD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05619EE-C283-42FA-AE54-D53BA537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A230112-AA0A-4D9A-A389-0A84613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3DF52702-6E55-4EC8-BFF0-E61744D5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4D309F61-DC97-4700-9A42-F42C16A7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F981DCA-9E10-448B-B2AB-7ACFEDA4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C0B5C35B-A3F3-4518-B660-AC99CBA5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0CAD5F5B-60DA-4552-A2C0-20B8DF40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87D3E0C4-EB1F-478F-830D-E45EBA1C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9D3FEF19-A17F-42A4-9156-C8B599D5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6AE49CF-E273-433B-A67E-C2692348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74044E7-4920-4278-8170-6E5FAE0E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A7388CD-CEE7-4A4E-B60C-961E73CA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CEC4BDB-B470-4A03-AD9B-4CF340C5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26D383F5-4DC7-4170-BDDE-9387321E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A0AA03C6-7E57-4867-B333-C1DE9A3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51248B73-7C0E-4F98-A78D-EBB3E898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55FA7AB5-C02F-4776-87C1-CF2E1789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33CF3C70-A8AE-4D00-A41B-4208CF8C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A3494FD-0135-46B6-A697-24877FCE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C51CD317-4705-4D11-8E1E-A68CCBDE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9184C167-3930-445C-8D2E-EED2A27F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ACFBEF9-4858-4581-AFB3-9BE47E27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FAAF596B-2B22-4EFC-B7F5-01688E9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FD2CDB9E-A80E-42A5-80F2-5D75701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E9FA3999-A075-499A-99A6-A16A4524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48311D-A8DE-44B0-84D1-563BFE6D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189764-ADA9-4C3D-89CD-40E2A78B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A0D532-98A0-41DC-B479-7201A068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61BA72-3C41-4231-8A6D-D69E691E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4E142-DA9A-4DD7-A8DE-05653C7C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8AD2C1-55B6-4C90-9885-267C6EF3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9EF6B8-0D4B-4F22-9543-C5619F84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3ED25F-A36B-4A82-AB18-890A0F43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45cb6741149e6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2CEBD9-62F2-4148-B908-8F4E3AF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22219A-1FE3-4473-AC0F-5615D54D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090020D-0F76-4A12-B11A-C4499067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ALIGNMENT BEFORE SCALE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E78808D1-9727-435E-A6B9-9F5684C7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FOUNDER ALIGNMENT DECK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95600F26-BF3F-46FE-A46E-55E78146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5334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6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Align the layers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6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before you build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6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system.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ECB2BBAD-35BA-4ADF-9417-47D3F657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4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A founder-facing view of how Kramaniti turns scattered operations, unclear AI ideas, and inconsistent communication into one connected growth system.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07D4DC-BC2D-40AB-8F6E-237FE38E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BB94F6-923C-42FC-9E67-6D7AD020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4E3183-E2C9-431A-83E2-15BAF4D4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6002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6A000B-BDC4-4848-B693-A257F12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0020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6D9AFB-3C44-4920-8186-17400951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A4566D9-428F-4CB2-B989-1D575E0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ACE490-EA62-4A4C-AA0E-EF028771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7195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3D2A6F0-2E7D-4C7C-BB69-D474F5D7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766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859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525D01A-4AD1-4EA5-A087-0DAE258B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28800"/>
            <a:ext cx="32575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C96D50-AFFB-4EDE-8587-C634F2F5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52600"/>
            <a:ext cx="3124200" cy="742950"/>
          </a:xfrm>
          <a:custGeom xmlns:a="http://schemas.openxmlformats.org/drawingml/2006/main">
            <a:pathLst>
              <a:path w="3124200" h="742950">
                <a:moveTo>
                  <a:pt x="0" y="438150"/>
                </a:moveTo>
                <a:lnTo>
                  <a:pt x="2647950" y="0"/>
                </a:lnTo>
                <a:lnTo>
                  <a:pt x="3124200" y="304800"/>
                </a:lnTo>
                <a:lnTo>
                  <a:pt x="476250" y="74295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22000"/>
            </a:srgbClr>
          </a:solidFill>
          <a:ln xmlns:a="http://schemas.openxmlformats.org/drawingml/2006/main" w="11430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4F61300-42EA-4C09-AEBE-7AC86CE5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431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STRATEGY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CF56C9-2B33-4EA8-A7FE-FC6435F4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124200" cy="742950"/>
          </a:xfrm>
          <a:custGeom xmlns:a="http://schemas.openxmlformats.org/drawingml/2006/main">
            <a:pathLst>
              <a:path w="3124200" h="742950">
                <a:moveTo>
                  <a:pt x="0" y="438150"/>
                </a:moveTo>
                <a:lnTo>
                  <a:pt x="2647950" y="0"/>
                </a:lnTo>
                <a:lnTo>
                  <a:pt x="3124200" y="304800"/>
                </a:lnTo>
                <a:lnTo>
                  <a:pt x="476250" y="742950"/>
                </a:lnTo>
                <a:close/>
              </a:path>
            </a:pathLst>
          </a:custGeom>
          <a:solidFill xmlns:a="http://schemas.openxmlformats.org/drawingml/2006/main">
            <a:srgbClr val="1E3C52">
              <a:alpha val="74000"/>
            </a:srgbClr>
          </a:solidFill>
          <a:ln xmlns:a="http://schemas.openxmlformats.org/drawingml/2006/main" w="11430">
            <a:solidFill>
              <a:srgbClr val="2B5D78">
                <a:alpha val="58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2362F4-6CE3-44DC-9EE8-648EA31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62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6EA7C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EA7C4"/>
                </a:solidFill>
                <a:latin typeface="JetBrains Mono"/>
                <a:ea typeface="JetBrains Mono"/>
                <a:cs typeface="JetBrains Mono"/>
              </a:rPr>
              <a:t>SYSTEMS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17806F7-E14B-48E1-BD01-00FB7B69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3124200" cy="742950"/>
          </a:xfrm>
          <a:custGeom xmlns:a="http://schemas.openxmlformats.org/drawingml/2006/main">
            <a:pathLst>
              <a:path w="3124200" h="742950">
                <a:moveTo>
                  <a:pt x="0" y="438150"/>
                </a:moveTo>
                <a:lnTo>
                  <a:pt x="2647950" y="0"/>
                </a:lnTo>
                <a:lnTo>
                  <a:pt x="3124200" y="304800"/>
                </a:lnTo>
                <a:lnTo>
                  <a:pt x="476250" y="742950"/>
                </a:lnTo>
                <a:close/>
              </a:path>
            </a:pathLst>
          </a:custGeom>
          <a:solidFill xmlns:a="http://schemas.openxmlformats.org/drawingml/2006/main">
            <a:srgbClr val="16362F">
              <a:alpha val="82000"/>
            </a:srgbClr>
          </a:solidFill>
          <a:ln xmlns:a="http://schemas.openxmlformats.org/drawingml/2006/main" w="11430">
            <a:solidFill>
              <a:srgbClr val="2A6B5C">
                <a:alpha val="62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68610D-96A1-468D-8DBA-1B06DAD4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6EB39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EB39F"/>
                </a:solidFill>
                <a:latin typeface="JetBrains Mono"/>
                <a:ea typeface="JetBrains Mono"/>
                <a:cs typeface="JetBrains Mono"/>
              </a:rPr>
              <a:t>PRESENCE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FA28C5-03F5-43F7-AAD5-1377BF68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9580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89344DE-70C0-4AB9-80B6-683A106A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4820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8A78">
                <a:alpha val="24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C069631-0BAA-442A-B49F-A43F8308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4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2D7C200-0402-4774-B60C-40A35D4F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8B6338-9BF9-4302-B0E0-8E1711F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STRATEGY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D88DEE7-B9E9-4C97-A8FB-5EBC2284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2B5D7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69DDF5-E0A8-457F-9D33-14D55331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054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SYSTEMS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DC705B8-A72B-4897-BD9B-8439B105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2A6B5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E0C660-E5E9-4A7B-A11F-60D2F7B1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551291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BD20C7-A7D5-49F1-9A58-97FE6B0A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EA01E-29D5-4800-80D5-CAA7280D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5645B-964A-4211-BC01-5805553A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7E8240-68E4-49F5-B74D-AADFEAC5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7126819-7D65-4D1F-8EAB-530892BC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DEACDB8-FF8D-4749-8851-B579BD67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FDC9004-E52F-4299-85C8-F5031B1C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A7E80B90-BC29-45C5-ACF9-D36C1B42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0CC6C04-43AE-46BB-984D-F34A160E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12A1B47-9E3F-4E77-8DD0-6AAE3A1F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1C7DC56B-4D2B-484D-A7FC-2FC232BE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C4512CA7-482C-4001-9DD5-FD2359D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4096934-569D-4017-B952-0F50B669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78EED44-99C8-4E9F-80CA-A42F2D32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DBB25A93-E2E0-4AA9-8F51-C47F71D3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65B89ECF-C771-40B4-8642-A5EE16BC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34AAC5D-DBA2-45AB-83A3-DB480359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5B9A4922-E89F-4C62-BE67-8CC9297A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1A4C67E-10AC-4E8E-A43C-F712192A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18808CE-625A-4D8F-A585-B38581D1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4E935E69-4B2F-423B-95EF-59809339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66414E9D-C8A4-45D1-BADE-3E68D368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82AB680F-86F9-458D-B3BA-27D962DC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FFD197DC-6B1A-4568-AA4C-6EED5D5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57986ECC-508B-4873-A580-B7897735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EA68D398-D3AD-4219-B291-24148177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81B4680-AE7F-463C-9798-CBF9630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26A296FE-2DBE-4710-98D0-FB54BF48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733F9A3D-5CE2-45AC-B192-A7396181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E569DD7-633C-4D7D-84C9-A0ED524A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00EF74E8-B1E8-4285-978D-7B1D9EA6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1D01C7-1E4A-4C3A-81F0-331B38FDA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1516C9-43B1-48DB-958A-F2747BF6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3330BD-2917-42B0-872A-3AD99588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5F836-5F5A-4074-A2C0-1D1660A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DDCD5A-5845-47D2-B01B-A33D25E0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536BD1-5AF0-4BB2-B76F-6A29856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C455A4-0851-4562-AC57-B1B143E2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B9C07B-ED0E-45A1-8650-EC09608C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90c74df1440e1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6450F0-FBAC-42FA-A8D6-FD1A1573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E3F225-B389-4AEC-80AF-42043716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739889-1E00-41A1-9B5C-3F01FBAF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PROBLEM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462F62B6-1617-47AB-AD2B-9CD6962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THE FOUNDER PROBLEM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31944929-0A73-475C-9E3C-ACE085D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143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Growth fragments when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operating sequence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is unclear.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CE3ED27B-9B7B-4AF4-B230-90D5E89E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88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88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issue is rarely the absence of AI. It is the absence of a shared system that connects how the brand works, thinks, and communicates.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92E11D-BA9B-451D-A95C-BC220B27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391DED-5307-4C31-9EE4-69299249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0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Operations drift</a:t>
            </a:r>
          </a:p>
        </p:txBody>
      </p:sp>
      <p:sp>
        <p:nvSpPr>
          <p:cNvPr id="49" name="body">
            <a:extLst xmlns:a="http://schemas.openxmlformats.org/drawingml/2006/main">
              <a:ext uri="{FF2B5EF4-FFF2-40B4-BE49-F238E27FC236}">
                <a16:creationId xmlns:a16="http://schemas.microsoft.com/office/drawing/2014/main" id="{DB8E9261-9BBA-465C-921F-058DDF2A6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28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3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3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Work lives in memory, inboxes, meetings, and manual handoffs.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4CB21A-DD2A-4253-9AB6-C663128F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CDCF53-18B9-4C81-8E1C-C6B16284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5629D1-74BB-4FA9-A15C-5663D52E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3AC64F-4AEB-477C-B5C7-0308EB6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758348-F615-412D-803C-D62B59B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1DCDB1-315F-46E1-9EBA-E6C99823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10A9CC-CBD8-4068-A247-3C1F17C2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67D2AA-4FC4-4E5E-B4E8-31F50391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Intelligence scatters</a:t>
            </a:r>
          </a:p>
        </p:txBody>
      </p:sp>
      <p:sp>
        <p:nvSpPr>
          <p:cNvPr id="58" name="body">
            <a:extLst xmlns:a="http://schemas.openxmlformats.org/drawingml/2006/main">
              <a:ext uri="{FF2B5EF4-FFF2-40B4-BE49-F238E27FC236}">
                <a16:creationId xmlns:a16="http://schemas.microsoft.com/office/drawing/2014/main" id="{7B852A1D-6EE5-4ACB-A87D-63FCFF8A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19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3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3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Tools, data, decisions, and experiments do not compound.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6D792B-5361-491F-B169-D508D181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E5F070-8D23-44B2-83CC-F8CF50A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B987E0-FB3A-4EC3-A9FA-04430E96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F7730D-1874-41A9-AA29-03C8100F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596A8A-FEB2-44BF-BB9A-FE3E5AEC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9DD552-A6E0-49EE-978C-8EC2D27F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4A5BC1-D092-49A8-A05A-C1907919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249FB5-0517-4ED5-8447-552241D4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Presence disconnects</a:t>
            </a:r>
          </a:p>
        </p:txBody>
      </p:sp>
      <p:sp>
        <p:nvSpPr>
          <p:cNvPr id="67" name="body">
            <a:extLst xmlns:a="http://schemas.openxmlformats.org/drawingml/2006/main">
              <a:ext uri="{FF2B5EF4-FFF2-40B4-BE49-F238E27FC236}">
                <a16:creationId xmlns:a16="http://schemas.microsoft.com/office/drawing/2014/main" id="{DB7EDD35-99D1-40A3-A126-7513EC23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0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3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3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Content keeps moving, but the market signal weakens.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50F2A32-CCF4-403B-B5A5-70185179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9AFFF43-6F8B-4A7B-8986-16E0DD4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909A0F3-BA88-448E-B6AE-7A786E18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BE1E58-DCFB-4ED1-A3D9-D729B7BB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644584F-8A4C-4855-9DF6-7753308E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9E4BB4-4ACA-49ED-A813-7B854720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A65AF7-5389-411F-8E84-DE71266A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46291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6AA75C-986E-48B2-944B-92CC340B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F4BB45D-685F-4F20-A886-1D36F6C5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7BA1EB0-95B7-4F66-A4BB-2C1CCFB8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525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187E8B1-AA62-4E82-9816-6AB9EC9C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352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C49C7E-B901-416D-A764-0C1A54D3F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3E3D4D0-C6EA-434C-A41C-CDF314CD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38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F551D16-89CC-414C-8047-4B0534A6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38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5E406F6-4A7E-49D5-AFD3-1EFDE16C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8768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914589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549EB8-541A-4ECA-B82F-A8495C56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91B96-9818-4FFB-BE9C-4B01DC42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C2662-39AF-4AC7-8658-3B20B1F3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3317B-B7E5-4515-98C1-648778BC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91650B20-BB2D-467F-819D-FDFD0D7C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78DAE2F9-C4F8-4896-AAF2-49B41590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E906619E-DC4C-47E3-B181-B247DDC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DB636E3-8CBD-4449-80E7-5F7DF6F5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04BF1FC-3C36-4CAE-BA43-0C9D832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A4A2ED3-EAE3-4898-A5F4-2C13E4D1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18563A2D-C2E5-41BE-B8B3-BB85B6F9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98E9218-91E9-4F87-B0BD-FC4B4F62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EDFB4701-7583-45CF-B779-617F6827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FC517CA3-3087-427D-933E-58ED7A6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BD0E335-15AC-4D88-B1AE-8A886EAF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27E52517-4395-4DC3-B143-BF4810D5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526C5D0-701E-47B3-B7BB-528C4E89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0493923C-99AF-473F-800E-1C3E247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3DDC4FD-0606-4B79-99F2-6B016925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F91598B0-BA85-450C-8A97-52BA9CF0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A83B76DC-B8D2-4667-B728-7F562F55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884E6BBE-7897-44F9-B067-9E0C687B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D15B9CA5-D62D-431F-8594-2665C84D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72B6198E-6531-4777-9006-0837606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CD0B9C2B-F580-4523-A464-72EA3DFB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627F578-E407-44F0-8DC9-9353B7C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37AAB8DB-CBB8-48DE-8A72-CC1A0B6F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06598FC-8715-461D-81EE-204C46BD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5B82DEF9-F060-469C-8CF9-76142E76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98435511-548D-46ED-974B-8DCDAFAE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293D15F2-67B5-4F8D-9073-3DDDF2A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4827BE-CDBB-4324-8073-109861F0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5DC2B4-A8F3-48C9-87D8-5954ACB5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5F5163-4A47-42E5-ADBB-E5387079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99F5DB-6883-4A29-A36D-4D50E873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AD2227-6815-4D69-8480-86BD6EC1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BA2A10-435D-41C8-BB3F-921AE096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EE1D1D-D9F4-446B-A2BE-00714FF5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DFB2A0-CF1D-4D46-BFCD-CB23B08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f7796595b4543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099CB2-3B00-45BD-974D-ABCEAC5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DDE8E6-2523-40F4-87CB-AC1373A4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F2A976-8381-4968-BC39-C6C625D5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DEFINITION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267629F6-680F-4C8D-B2CE-FFAED2B3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WHAT KRAMANITI IS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4C59E5E3-021E-4A7F-8D40-3CF2AC69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 first-principles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AI systems partner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for brand growth.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9458B454-9317-4818-87EA-A2DEB615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works at the level of operating logic: the decisions, workflows, tools, handoffs, and public communication that make growth repeatable.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DEF943-24D4-4269-B248-D9988C07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390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2000"/>
            </a:srgbClr>
          </a:solidFill>
          <a:ln xmlns:a="http://schemas.openxmlformats.org/drawingml/2006/main" w="1143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9D9C32A-EDAC-4654-A93D-EAA9D504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BFB2D84-F09B-4DD8-9B9D-18D6AB8F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0E0F40-AF83-4802-9B72-0E9C852A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D2E4A2-6107-4234-8F68-B2F6D82C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1049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CBA36C3-B50C-4FEE-AA89-D15390F7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37B79C-756D-448E-B5D7-DE36111F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389E6E7-8C57-4103-BCA0-452AEF00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816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C3CC65-7031-43C3-9CBB-D86C1EE9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6" name="micro">
            <a:extLst xmlns:a="http://schemas.openxmlformats.org/drawingml/2006/main">
              <a:ext uri="{FF2B5EF4-FFF2-40B4-BE49-F238E27FC236}">
                <a16:creationId xmlns:a16="http://schemas.microsoft.com/office/drawing/2014/main" id="{8FC81696-2888-4723-B1A9-DBBF89D9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66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CONNECTED OPERATING PIPELINE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4E7E12-AA2E-4FED-9216-7E028F7B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E03A3CB-3852-4A13-A60C-386748D0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27476C-59B1-40BC-96B0-10E20484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8F74F2-C9E3-4FC0-8CD5-E3036F84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</a:t>
            </a:r>
          </a:p>
        </p:txBody>
      </p:sp>
      <p:sp>
        <p:nvSpPr>
          <p:cNvPr id="61" name="body">
            <a:extLst xmlns:a="http://schemas.openxmlformats.org/drawingml/2006/main">
              <a:ext uri="{FF2B5EF4-FFF2-40B4-BE49-F238E27FC236}">
                <a16:creationId xmlns:a16="http://schemas.microsoft.com/office/drawing/2014/main" id="{2D421293-182E-4E5F-8D67-84B1DFD8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1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Clarity before tools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BC677E7-2F9A-4E2D-B19E-B4C81500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5D7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F32AC8-8C6E-46D1-95AC-8A6AF55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D78">
              <a:alpha val="26000"/>
            </a:srgbClr>
          </a:solidFill>
          <a:ln xmlns:a="http://schemas.openxmlformats.org/drawingml/2006/main" w="11430">
            <a:solidFill>
              <a:srgbClr val="2B5D7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ACB146-E598-4D5F-A53F-6A103DF5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86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DADFC08-1E14-4052-8BCD-8CB3ED27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</p:txBody>
      </p:sp>
      <p:sp>
        <p:nvSpPr>
          <p:cNvPr id="66" name="body">
            <a:extLst xmlns:a="http://schemas.openxmlformats.org/drawingml/2006/main">
              <a:ext uri="{FF2B5EF4-FFF2-40B4-BE49-F238E27FC236}">
                <a16:creationId xmlns:a16="http://schemas.microsoft.com/office/drawing/2014/main" id="{9CD11A68-E058-4518-BA4D-504FCD71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1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Infrastructure before scale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9EDEE05-C24F-4657-A0B5-4717F7E3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6B5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42BEA42-B978-41B7-9704-BAEC1D47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529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5E63BF-98A6-4073-918C-CEE0F8D1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199E6D9-B316-4860-BEEA-450E34F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</a:t>
            </a:r>
          </a:p>
        </p:txBody>
      </p:sp>
      <p:sp>
        <p:nvSpPr>
          <p:cNvPr id="71" name="body">
            <a:extLst xmlns:a="http://schemas.openxmlformats.org/drawingml/2006/main">
              <a:ext uri="{FF2B5EF4-FFF2-40B4-BE49-F238E27FC236}">
                <a16:creationId xmlns:a16="http://schemas.microsoft.com/office/drawing/2014/main" id="{06CAD2CE-D6A5-4305-A12A-99B2F408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1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Communication after clarity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F661504-2980-4F5C-AA77-DD9E6C4D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434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1000"/>
            </a:srgbClr>
          </a:solidFill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1C517D5-65C9-4F7A-B3DC-6787D3C5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384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02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63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 decides what should exist. Systems make it usable. Content makes it understood.</a:t>
            </a:r>
          </a:p>
        </p:txBody>
      </p:sp>
    </p:spTree>
    <p:extLst>
      <p:ext uri="{BB962C8B-B14F-4D97-AF65-F5344CB8AC3E}">
        <p14:creationId xmlns:p14="http://schemas.microsoft.com/office/powerpoint/2010/main" val="12806156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7EFBF1-C7D3-42F3-9414-3EA656F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C2E52-DA26-46D4-B404-6B21818D7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F8975-6E3E-4A9A-B47C-5AF9E639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8CE3A-DB77-4272-B164-729606A4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8D4903C-2BE4-4856-A603-23CF5FB6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6166AB3F-F246-4638-A295-D782CF29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02EAE603-090E-4D86-909A-9B47120C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FECF9C2-013F-4683-878F-5C244F6E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24A14D10-18DD-4E52-8C54-DEAA791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E9D50478-1702-4AE9-9DF3-B88DF1C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8CF5CB8C-2FF0-47E4-AD4D-B619E5A7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C96B9153-2B24-4A32-8D0A-774409B0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440CBE3-CB6E-470E-8372-423C37A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D519F05-CEFB-4B00-8F56-C826D0F0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431A5F3-B731-478D-B4C9-9FDC506E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924D323B-0B95-4120-87E5-228A33A5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1355569D-FE3F-428B-BB62-9460F84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D2F64C50-343B-4EB8-9DF9-D0810C26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4738AEFA-24DB-4026-B53F-B87AFDDD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7497D636-87C8-4690-A77D-DE73ADB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8F41EA22-0090-4AE8-8DE3-E2D9FC4C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E6177A58-5BA1-4F93-BDF8-712DF220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560BB919-ED52-4D30-810F-7E409F32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B9B421BC-DBE4-4546-B90B-60E4236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FA7E037-BD17-4803-A1BE-36159DFF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E60165D2-C153-43C4-AF39-E83B5507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5D57C504-50C5-4B39-AA21-7632E5FC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E11AA2B-EC77-4169-BBD1-D7BA7413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6E12292-84B1-4CBF-913E-89D2845E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30A921B0-97AF-4683-B634-71E65BA1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A59435A7-298A-4E98-ADCE-7A034B02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F13BDD-1BBF-44F2-84D5-FBD38CF6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34A582-9D02-4C16-835A-7A386A3A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661704-C19B-43A0-9280-2A6CEB9C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7D6600-F572-4A1B-94C2-16080AEF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BC59CA-8024-4F4A-A4E8-86FCDFA4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0C52E6-0126-4EE0-8DDF-FEACF8CE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F41C4C-1DDD-4ED5-82A1-0ECDD4B7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4AE8DB-9B83-4DEC-B3E9-DAD0816E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bbcc9804d4488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67F9B1-6E86-476C-9524-6941CA46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5F7D02-5D62-46CC-BDAD-DF66BC81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7D05E6-FA5D-4B27-B563-E806ADE6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CORE SEQUENCE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130EFFB3-081D-4409-BA26-1F4BAAFA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CORE BELIEF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B1F5DAB6-2697-4472-B7B4-406DD77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 before tools.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 before scale.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 after clarity.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2AC0197A-E85C-4207-AFFB-7B5F6607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This is the discipline behind every Kramaniti engagement: do not buy, build, automate, or publish before the underlying logic is visible.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B5A21-0D80-4FB6-895E-7B8D25D2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AB4977-1DB6-4422-BCD4-A01E07E8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581D62-FFFA-41C1-BAE4-A22014F4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859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76000"/>
            </a:srgbClr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76A18C-801B-4120-9401-4BDED82E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737BEB-F6A9-40EC-8430-AA4025E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28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</a:t>
            </a:r>
          </a:p>
        </p:txBody>
      </p:sp>
      <p:sp>
        <p:nvSpPr>
          <p:cNvPr id="52" name="body">
            <a:extLst xmlns:a="http://schemas.openxmlformats.org/drawingml/2006/main">
              <a:ext uri="{FF2B5EF4-FFF2-40B4-BE49-F238E27FC236}">
                <a16:creationId xmlns:a16="http://schemas.microsoft.com/office/drawing/2014/main" id="{054DDA46-B41D-40B2-AA07-7AB1119B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335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Know what the business needs to do consistently.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F5F3F2-60DD-4BAE-87B9-F2933B00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5D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5DF050-B936-4446-B3CA-CA834520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2B5D7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BAF09E-6EB9-44EB-80FB-6419C27A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52">
              <a:alpha val="18000"/>
            </a:srgbClr>
          </a:solidFill>
          <a:ln xmlns:a="http://schemas.openxmlformats.org/drawingml/2006/main" w="9525">
            <a:solidFill>
              <a:srgbClr val="2B5D7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6BA5E8-97AD-4786-9098-41DFBDF1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5D6A08-A7E7-4493-B450-3A19D196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90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</p:txBody>
      </p:sp>
      <p:sp>
        <p:nvSpPr>
          <p:cNvPr id="58" name="body">
            <a:extLst xmlns:a="http://schemas.openxmlformats.org/drawingml/2006/main">
              <a:ext uri="{FF2B5EF4-FFF2-40B4-BE49-F238E27FC236}">
                <a16:creationId xmlns:a16="http://schemas.microsoft.com/office/drawing/2014/main" id="{FA33DCAE-8A77-49E5-9D26-14E38385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Build the support layer around high-leverage workflows.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833111-3FA6-4FE7-B0CF-67CD4A9C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6B5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35996E-CF04-4BA3-832E-3136249A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2A6B5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D00179-85F3-4905-833A-FA646928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2F">
              <a:alpha val="18000"/>
            </a:srgbClr>
          </a:solidFill>
          <a:ln xmlns:a="http://schemas.openxmlformats.org/drawingml/2006/main" w="9525">
            <a:solidFill>
              <a:srgbClr val="2A6B5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8F244D-649E-4EC9-816F-747DF9C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714C115-0492-4F90-A1EF-1C510B52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</a:t>
            </a:r>
          </a:p>
        </p:txBody>
      </p:sp>
      <p:sp>
        <p:nvSpPr>
          <p:cNvPr id="64" name="body">
            <a:extLst xmlns:a="http://schemas.openxmlformats.org/drawingml/2006/main">
              <a:ext uri="{FF2B5EF4-FFF2-40B4-BE49-F238E27FC236}">
                <a16:creationId xmlns:a16="http://schemas.microsoft.com/office/drawing/2014/main" id="{CAE24FA3-83B4-4E50-95AC-80D08BDE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5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Communicate what the business can actually deliver.</a:t>
            </a:r>
          </a:p>
        </p:txBody>
      </p:sp>
    </p:spTree>
    <p:extLst>
      <p:ext uri="{BB962C8B-B14F-4D97-AF65-F5344CB8AC3E}">
        <p14:creationId xmlns:p14="http://schemas.microsoft.com/office/powerpoint/2010/main" val="15229815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C0DAB0-DCCE-45B8-A3F5-F6567516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BC106-8520-4B59-892F-78559A35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6D539B-36B8-4AF0-9EAA-E7F2C575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17A8B-B285-41AE-AF9B-8E04A708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6C2A9B66-AA0D-45C0-B686-22BCE0A9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3778B4A-D6DB-4454-B771-5D79FF45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40DF89B4-803F-4BAE-8A03-B96637B0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8B3A60B3-3BCC-414D-805B-186FF538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366819C3-10FD-404B-AD94-DFE4719C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99263364-8F18-4611-92E1-75BF5513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08FDEA7C-432F-43AD-86EB-86F73337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AE39C900-CE3B-4598-B65D-CB4B37D5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9ADBD2B-C6F9-47A1-B316-B8FD91AC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19C92A8-813F-4AA0-A5D2-07D693E4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D5A9403-146F-420E-8408-8FB9BC0F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99EAAD07-5B3B-4337-8CA9-CD3BE033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A112EDC-E745-40A9-88CE-9FA606F7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AA7FC50-82B7-4906-9063-06C2DD7E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AB9D489A-3E44-47D3-89F5-75C8F0A8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C07BE8A-490E-4734-81B2-00F7ACBD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8A0C9BA6-E3FE-415A-94E0-34F00C42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AC4B714A-E3A4-4D94-9F18-38835232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C6C585A6-5014-4087-9E4B-9ACFC86C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FC9ADEC4-0B59-4A76-9279-B8B5A3F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74A3E8C-E6BC-4FF6-9238-7589E62B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CE2084F-F1B7-4820-8D7D-B8BA8226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ACDF1A7-6B60-4346-B4CD-7CB62E93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A91D42CC-607D-476A-9432-90659280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489E20D7-EA10-4452-A7C8-C3A8021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064DDA62-C9ED-4433-889A-43B0A27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FDA5B0AD-F636-41EA-BA2F-42E36ABE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78BAD-10B5-489D-B358-683967EA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BA0C9-C3CA-4E32-949F-4DBF4DB5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A86C2-14E7-4D31-BDF2-C4EC3351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C83274-8817-43AA-B5B0-365ACF16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500742-D4D7-4641-A99B-4F2AEB23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E20E14-5232-4084-B4CE-016777E2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65B1CA-4670-4B4E-BF10-9B81429E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24CE96-77BA-46DF-A4E8-C4E71BDC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469f0d08945b6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D9C37C-536D-4A57-9761-8E7C5C59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EE6CBB-E82E-437C-B5B1-CFB4BC12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ED5060-B86A-4CA4-A2E9-7A95E1B16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LAYERS OF WORK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B2DF68A3-E3D2-4105-935B-F245B3C5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ONE FOUNDATION, THREE CONNECTED LAYERS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B206DDD3-0C1C-4655-B775-B05F66A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work is layered.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sequence matters.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F12FF064-5392-483F-A6B4-01AD2244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does not treat strategy, systems, and content as separate departments. Each layer informs the next, and each layer needs clear borders.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1DB2C8-75BF-402C-BAD9-9784408D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4495800" cy="1276350"/>
          </a:xfrm>
          <a:custGeom xmlns:a="http://schemas.openxmlformats.org/drawingml/2006/main">
            <a:pathLst>
              <a:path w="4495800" h="1276350">
                <a:moveTo>
                  <a:pt x="0" y="685800"/>
                </a:moveTo>
                <a:lnTo>
                  <a:pt x="3219450" y="0"/>
                </a:lnTo>
                <a:lnTo>
                  <a:pt x="4495800" y="590550"/>
                </a:lnTo>
                <a:lnTo>
                  <a:pt x="1276350" y="127635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20000"/>
            </a:srgbClr>
          </a:solidFill>
          <a:ln xmlns:a="http://schemas.openxmlformats.org/drawingml/2006/main" w="11430">
            <a:solidFill>
              <a:srgbClr val="C9A84C">
                <a:alpha val="66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622687-ACF6-456A-8287-9656C359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STRATEGY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5D8E63-B9EA-4079-8A7E-9478119D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4552950" cy="1314450"/>
          </a:xfrm>
          <a:custGeom xmlns:a="http://schemas.openxmlformats.org/drawingml/2006/main">
            <a:pathLst>
              <a:path w="4552950" h="1314450">
                <a:moveTo>
                  <a:pt x="0" y="704850"/>
                </a:moveTo>
                <a:lnTo>
                  <a:pt x="3238500" y="0"/>
                </a:lnTo>
                <a:lnTo>
                  <a:pt x="4552950" y="609600"/>
                </a:lnTo>
                <a:lnTo>
                  <a:pt x="1314450" y="1314450"/>
                </a:lnTo>
                <a:close/>
              </a:path>
            </a:pathLst>
          </a:custGeom>
          <a:solidFill xmlns:a="http://schemas.openxmlformats.org/drawingml/2006/main">
            <a:srgbClr val="1E3C52">
              <a:alpha val="74000"/>
            </a:srgbClr>
          </a:solidFill>
          <a:ln xmlns:a="http://schemas.openxmlformats.org/drawingml/2006/main" w="11430">
            <a:solidFill>
              <a:srgbClr val="2B5D78">
                <a:alpha val="54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BB86E5-53B2-4D64-ABFA-F63F9637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6EA7C4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EA7C4"/>
                </a:solidFill>
                <a:latin typeface="JetBrains Mono"/>
                <a:ea typeface="JetBrains Mono"/>
                <a:cs typeface="JetBrains Mono"/>
              </a:rPr>
              <a:t>SYSTEMS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947841-36AC-43F7-A6EB-6D0D41C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572000" cy="1352550"/>
          </a:xfrm>
          <a:custGeom xmlns:a="http://schemas.openxmlformats.org/drawingml/2006/main">
            <a:pathLst>
              <a:path w="4572000" h="1352550">
                <a:moveTo>
                  <a:pt x="0" y="723900"/>
                </a:moveTo>
                <a:lnTo>
                  <a:pt x="3257550" y="0"/>
                </a:lnTo>
                <a:lnTo>
                  <a:pt x="4572000" y="628650"/>
                </a:lnTo>
                <a:lnTo>
                  <a:pt x="1314450" y="1352550"/>
                </a:lnTo>
                <a:close/>
              </a:path>
            </a:pathLst>
          </a:custGeom>
          <a:solidFill xmlns:a="http://schemas.openxmlformats.org/drawingml/2006/main">
            <a:srgbClr val="16362F">
              <a:alpha val="78000"/>
            </a:srgbClr>
          </a:solidFill>
          <a:ln xmlns:a="http://schemas.openxmlformats.org/drawingml/2006/main" w="11430">
            <a:solidFill>
              <a:srgbClr val="2A6B5C">
                <a:alpha val="58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42A3EC-D555-4995-A41B-A9CBDDE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6EB39F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EB39F"/>
                </a:solidFill>
                <a:latin typeface="JetBrains Mono"/>
                <a:ea typeface="JetBrains Mono"/>
                <a:cs typeface="JetBrains Mono"/>
              </a:rPr>
              <a:t>PRESENCE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49E4EA8-63DC-4C70-B230-9877037F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578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4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17938E-49E1-4EBB-9CDE-6D1278F3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81625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OPERATING FOUNDATION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1962556-230D-4A6E-89A9-32A7D1C6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6F04D6-E832-42A3-B6BA-DFA0DC0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</a:t>
            </a:r>
          </a:p>
        </p:txBody>
      </p:sp>
      <p:sp>
        <p:nvSpPr>
          <p:cNvPr id="57" name="body">
            <a:extLst xmlns:a="http://schemas.openxmlformats.org/drawingml/2006/main">
              <a:ext uri="{FF2B5EF4-FFF2-40B4-BE49-F238E27FC236}">
                <a16:creationId xmlns:a16="http://schemas.microsoft.com/office/drawing/2014/main" id="{C5333CFA-FA1F-474F-926B-0BE540B2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should be true?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887FFA-849F-4A99-9EC7-1116FA46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ED8AFD-3028-4615-9D2A-5D1000F8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</p:txBody>
      </p:sp>
      <p:sp>
        <p:nvSpPr>
          <p:cNvPr id="60" name="body">
            <a:extLst xmlns:a="http://schemas.openxmlformats.org/drawingml/2006/main">
              <a:ext uri="{FF2B5EF4-FFF2-40B4-BE49-F238E27FC236}">
                <a16:creationId xmlns:a16="http://schemas.microsoft.com/office/drawing/2014/main" id="{8F54CFA9-84E2-477C-B641-989B7925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should run?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CA9776-F337-46E6-B679-B557D9B1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64843D-8A44-45FB-B14A-E773176E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Presence</a:t>
            </a:r>
          </a:p>
        </p:txBody>
      </p:sp>
      <p:sp>
        <p:nvSpPr>
          <p:cNvPr id="63" name="body">
            <a:extLst xmlns:a="http://schemas.openxmlformats.org/drawingml/2006/main">
              <a:ext uri="{FF2B5EF4-FFF2-40B4-BE49-F238E27FC236}">
                <a16:creationId xmlns:a16="http://schemas.microsoft.com/office/drawing/2014/main" id="{49BF050C-9FDD-429D-907C-8015E8D1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62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should be understood?</a:t>
            </a:r>
          </a:p>
        </p:txBody>
      </p:sp>
    </p:spTree>
    <p:extLst>
      <p:ext uri="{BB962C8B-B14F-4D97-AF65-F5344CB8AC3E}">
        <p14:creationId xmlns:p14="http://schemas.microsoft.com/office/powerpoint/2010/main" val="2085092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98B3F2-8FF5-45EB-B108-52BC23C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32D18-216E-402B-9EF2-8FD9DDC3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2A44F-7C2E-4E10-869B-8BDAC326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A4BA1F-E5E2-4F00-833A-41FD2E48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F373B2B-2A18-483C-AEEA-F1FC8F35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63E56536-D13E-4FC3-9157-F577CE5B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7E4EE174-3900-4D3E-B0C9-78EAB49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866A2F60-B5A7-49A0-95FD-EF75067D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B6900E93-60AD-4127-BB51-2C1D67BD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58D609E4-BA94-4E40-AF4C-393FEA7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25E55A42-9F70-4E19-923E-A4F8BAC2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AA94A89-832D-45ED-998D-5EF52F7C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8DF05F63-9FB1-491E-9DDB-5AFF556D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B7367893-2DE4-41DB-A8EA-85967576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6A5EA203-836E-4F60-9851-ACC268A6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B07F43D6-933D-42D5-9058-AF3E7F6A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B8991BC-0587-4CD2-8ADD-2F8E49EE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6A89080C-8216-47B5-BF9C-E3EE8551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469F6C8-5416-4C7B-A4AD-38FADC63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E2EF5F8-7E40-4A9F-8B82-CC4DC300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9413A7B9-0B1F-4B47-A6E3-710C2840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0A1DFDA6-70F2-443E-A50F-44D73120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3C5E18A1-B916-4CD7-A628-78B87F3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0FCD9AEA-9CDB-4E5F-94CC-7D1F9116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2891144-9B0A-4C58-8CC8-2925321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3DDFAC6C-CA75-4FC4-B723-824DD3DA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349CE27-4613-4D60-823B-D6CD30AB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2417A5B-3FD8-4E3D-ACE7-17AC4D7A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CF837E5-658F-4E34-9B38-CA09EE1F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64E13EDA-00EE-4F8A-B5C5-87266D39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E9DAEFA8-978F-44B2-A138-076C04C4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0BBD92-EAE0-4431-9325-FB08A3FF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BB78C-9A50-4438-99B0-8598325C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FE59B4-E47F-47DF-BE20-02EBC3BE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3DFFE4-8634-4414-AFEF-38048E53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5E448D-21E9-41C9-A2C5-57DB1E0F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A68879-68C8-4448-9E82-6648C2BE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886D1F-10AF-46AD-B374-F9B2E526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D62D9A-22E3-45BD-83C6-463CCAC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360ad1ca74403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4A96B4-2CB3-4C43-AC1B-F057C4E5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4CBA68-99C9-40EF-8116-21630A04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E3B0DA-EFB3-4506-97F0-8BAC1BB0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 01 / STRATEGY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AA80B4EF-ABA3-464B-9E35-CDAE7E55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LAYER 01 / OPERATING DIAGNOSIS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A9250F60-3636-4708-AEC0-8547A05F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Map how the business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actually works before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defining the build.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F49278BC-FACC-4691-9191-B5E76A84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This layer converts founder intuition, team habits, and hidden handoffs into a visible operating map.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A78F4F-43D7-49E4-B77F-3D8B14C8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095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6000"/>
            </a:srgbClr>
          </a:solidFill>
          <a:ln xmlns:a="http://schemas.openxmlformats.org/drawingml/2006/main" w="1143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0646E0-FFE0-4128-BCB4-31C3F506E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ED7A5B5-66DB-4F25-A035-91DAB570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5FC083-8FC5-4CF1-B19C-6BE3A7B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57A809-A50C-4C1A-99CB-310E5BE8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66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1C5DF4-7822-41D6-8D0D-E2B9DB75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456779-222A-4060-B65D-35615EE0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01D7CD-8A86-43BC-9E85-B64BF6C0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38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E15F46-974A-4F1D-9637-97F684AE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57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6" name="micro">
            <a:extLst xmlns:a="http://schemas.openxmlformats.org/drawingml/2006/main">
              <a:ext uri="{FF2B5EF4-FFF2-40B4-BE49-F238E27FC236}">
                <a16:creationId xmlns:a16="http://schemas.microsoft.com/office/drawing/2014/main" id="{D6C6BE31-85CB-4E3F-94D2-4EC9029D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AUDIT LENS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CA9ED4-1248-41EC-AA7D-29C4C885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2781300" cy="2781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F59BAD-69C0-4373-AE6B-EF8427C5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BFBE4B1-B4DD-44B5-8206-6675DF5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>
              <a:alpha val="18000"/>
            </a:srgbClr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D0BC69-5338-4748-8CC0-C73AB16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33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D49A33-C7A2-4422-A3F9-84710683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WORKFLOW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782F5D6-BA25-4D37-8E1D-8597CC8A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0" cy="-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1A0DF5-7EA5-4F68-92DC-BF57F22F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707CEF-ACF0-4470-9B1C-8D1B3119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HANDOFF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ACBBF2A-CFAD-47FC-AA11-00459E13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20A073-B7D2-4687-916F-EA29BE42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14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78466B6-197B-4AC6-A3E0-AB27C40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BOTTLENECK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AE05553-9328-4BE0-A95E-FDB6FC1B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B2A4B5-28B7-41E6-B88C-3AF5AC9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694BC8-7C3F-4CFA-A706-E95D9E16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PRIORITY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8B5CB02-2607-4C48-B6BC-F3DEC31C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-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E68C2D8-A9C3-43B2-80BD-636735C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4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5D19915-EB8D-4D77-9978-3A8D9E9D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C1261C5-935A-4295-9F98-7DBDFD6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OBSERVE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A13CE8F-CC59-4165-AE8E-D1E459B6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2B5D7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DA56C7A-368C-44B7-ABE7-6B6E4129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292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MAP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5F1B7F-0686-4BB5-AA48-736B2DCF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2A6B5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645FDF-AC47-4BE9-9F17-C1EAD88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PRIORITIZE</a:t>
            </a:r>
          </a:p>
        </p:txBody>
      </p:sp>
    </p:spTree>
    <p:extLst>
      <p:ext uri="{BB962C8B-B14F-4D97-AF65-F5344CB8AC3E}">
        <p14:creationId xmlns:p14="http://schemas.microsoft.com/office/powerpoint/2010/main" val="1121301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F0171-022B-4A86-B354-ADE6D382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E8E2A-7A8D-4D1D-B1F8-23B77FF9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ED8FB-8F3A-4BC9-A33E-9B695F79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8BEEC-0F5B-4E5D-88B3-733CDB45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D256AA8-7710-47B2-AD46-AFEADE20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800DD71-6C61-43B0-BD06-65934488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3B8D4BE-F3B8-4D2E-B0BD-3D047D92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FBAEDB3-D61F-4679-83FA-45E2008D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F1501979-15C5-4468-ABCA-297262E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FC23FBD-7CEA-4572-BD3E-CCEC560D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11F0C3F8-F31A-4570-8E9C-CEDC2B1A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2C66527-0AA2-4D18-8E55-59DEA9E4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59C59E6-EF01-41DB-9A49-8A6C68FB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B2E428A-06E4-4E29-96FC-DF46AA34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5606A820-DB51-409C-B9DC-2917F197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5B99D38-C85C-4CA5-BBE7-1EB349D5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CBF0BE12-B928-416C-A54C-88E498E1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55BA97BB-EC60-499B-A8F0-468195B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B4118FD-2A49-41DB-9AB1-1228D732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0E8CE703-A68D-49D0-BE40-D14E09D0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25C4BDBE-C6A8-48DD-B125-7F32AE9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D9E57CDA-DEA0-437B-9BB7-CE2B2374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FEB99124-F773-467B-AE13-6C7D78EB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3328D0CA-CB35-4BF8-87E4-05F7EBDE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6D213823-97C2-4943-BC06-89B8D0D6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8FD4C504-DAC7-4527-94E0-E22C4AA9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B8A0F94F-EBB3-4330-A9B5-01BD0253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12686386-8B31-4B60-B212-AF7B2A94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FA660B0-C7E1-4C77-B8F6-2C73E755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79AD6910-DF2D-46F0-8351-7F088F6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512B6CDC-95D1-41B7-A7AE-EB11223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2CC7B8-6D09-4F97-BB7A-E56EBCC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515B0-9966-4665-A1FB-BE9C70C2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095554-572B-40C5-A125-E0E811DD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672C41-3A89-4414-BD7D-079C85C8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2CF70D-57A7-4DD2-BBB0-4BDEC7E3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587A82-D972-46FE-BDBF-43455C33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52C11F-3073-4470-B7F0-063B8DBD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0209D0-AFBE-4424-8016-8F34A7FD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18cbf7f8f42a8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8CB9AD2-1F6D-4A59-9B1A-94274D2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FC9874-A22B-40F5-93F2-858E9A91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B19555-25C6-427B-AC68-BA6E3303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 02 / SYSTEMS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CD5C17CF-260E-4919-9235-42373717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LAYER 02 / PRACTICAL SYSTEMS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92DB0853-8AA7-4F98-9FA0-91BDB715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Build support systems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around priority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workflows.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30B7A2AB-AADC-4AEC-85C3-A013323B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build is workflow logic plus support tools, documentation, integrations, and human review checkpoints.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84A9CA-80A8-4187-BF7A-09C59169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4857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8000"/>
            </a:srgbClr>
          </a:solidFill>
          <a:ln xmlns:a="http://schemas.openxmlformats.org/drawingml/2006/main" w="11430">
            <a:solidFill>
              <a:srgbClr val="2B5D78">
                <a:alpha val="34000"/>
              </a:srgbClr>
            </a:solidFill>
            <a:prstDash val="solid"/>
          </a:ln>
        </p:spPr>
      </p:sp>
      <p:sp>
        <p:nvSpPr>
          <p:cNvPr id="48" name="micro">
            <a:extLst xmlns:a="http://schemas.openxmlformats.org/drawingml/2006/main">
              <a:ext uri="{FF2B5EF4-FFF2-40B4-BE49-F238E27FC236}">
                <a16:creationId xmlns:a16="http://schemas.microsoft.com/office/drawing/2014/main" id="{129445B1-3157-4793-8B8B-68AFAF22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rPr>
              <a:t>WORKFLOW BUS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09C20A-499B-4C19-BCE3-C0243804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B5D78">
                <a:alpha val="5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B039E3-EF93-404A-B0CA-83546F52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A6CD8C-118C-4F7D-B5BC-A158BEE2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DB411E-A159-48E4-8FF7-FB67810D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INPUT</a:t>
            </a:r>
          </a:p>
        </p:txBody>
      </p:sp>
      <p:sp>
        <p:nvSpPr>
          <p:cNvPr id="53" name="body">
            <a:extLst xmlns:a="http://schemas.openxmlformats.org/drawingml/2006/main">
              <a:ext uri="{FF2B5EF4-FFF2-40B4-BE49-F238E27FC236}">
                <a16:creationId xmlns:a16="http://schemas.microsoft.com/office/drawing/2014/main" id="{CA8C2CD6-15BC-407B-9DE6-28DDFD45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business reality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9C4B3C-4F37-434C-8073-947F0FC1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DB5AC7-834C-440A-BE32-DA79FD97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844E3F-989F-4F29-B89E-16979907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LOGIC</a:t>
            </a:r>
          </a:p>
        </p:txBody>
      </p:sp>
      <p:sp>
        <p:nvSpPr>
          <p:cNvPr id="57" name="body">
            <a:extLst xmlns:a="http://schemas.openxmlformats.org/drawingml/2006/main">
              <a:ext uri="{FF2B5EF4-FFF2-40B4-BE49-F238E27FC236}">
                <a16:creationId xmlns:a16="http://schemas.microsoft.com/office/drawing/2014/main" id="{1D3A0C9B-DC58-4CCA-8D3A-B91523EE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rules + exceptions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794B933-4347-4C94-A7B9-9081CA7A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1BF583A-5333-4F41-82ED-E6F1A32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F7CC19-AEB7-4D6B-A29B-DFE36B48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SUPPORT</a:t>
            </a:r>
          </a:p>
        </p:txBody>
      </p:sp>
      <p:sp>
        <p:nvSpPr>
          <p:cNvPr id="61" name="body">
            <a:extLst xmlns:a="http://schemas.openxmlformats.org/drawingml/2006/main">
              <a:ext uri="{FF2B5EF4-FFF2-40B4-BE49-F238E27FC236}">
                <a16:creationId xmlns:a16="http://schemas.microsoft.com/office/drawing/2014/main" id="{43188335-2952-4964-BE59-9EDC4570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AI + tools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BB1E764-A910-4896-8379-FF232EBC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3F393C7-1F29-4048-B61E-41933398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1434BE-DE36-40E3-92D1-56FDD7F9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REVIEW</a:t>
            </a:r>
          </a:p>
        </p:txBody>
      </p:sp>
      <p:sp>
        <p:nvSpPr>
          <p:cNvPr id="65" name="body">
            <a:extLst xmlns:a="http://schemas.openxmlformats.org/drawingml/2006/main">
              <a:ext uri="{FF2B5EF4-FFF2-40B4-BE49-F238E27FC236}">
                <a16:creationId xmlns:a16="http://schemas.microsoft.com/office/drawing/2014/main" id="{7F897723-4E06-40A6-8CC2-561F8A67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human checkpoint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DED64C5-A953-4C7D-8F03-855057A1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14D1F3-587B-4818-AA31-3004FE62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443F89F-CF34-4A13-A014-2604E817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OUTPUT</a:t>
            </a:r>
          </a:p>
        </p:txBody>
      </p:sp>
      <p:sp>
        <p:nvSpPr>
          <p:cNvPr id="69" name="body">
            <a:extLst xmlns:a="http://schemas.openxmlformats.org/drawingml/2006/main">
              <a:ext uri="{FF2B5EF4-FFF2-40B4-BE49-F238E27FC236}">
                <a16:creationId xmlns:a16="http://schemas.microsoft.com/office/drawing/2014/main" id="{B8B555F7-C050-4A05-874E-B0EF1194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usable system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26BCB87-9E7A-4B85-89E3-C169F77A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2F">
              <a:alpha val="72000"/>
            </a:srgbClr>
          </a:solidFill>
          <a:ln xmlns:a="http://schemas.openxmlformats.org/drawingml/2006/main" w="9525">
            <a:solidFill>
              <a:srgbClr val="2F8A78">
                <a:alpha val="34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5A2723C-1C67-4781-939D-1CB831DA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0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Designed for appropriate reliance, not blind automation.</a:t>
            </a:r>
          </a:p>
        </p:txBody>
      </p:sp>
    </p:spTree>
    <p:extLst>
      <p:ext uri="{BB962C8B-B14F-4D97-AF65-F5344CB8AC3E}">
        <p14:creationId xmlns:p14="http://schemas.microsoft.com/office/powerpoint/2010/main" val="991076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CF7FDF-C2FC-42AA-A4EB-A3C8EF4E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50FED-C385-43B5-A5FF-3985B2D5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D8760-EF46-4908-AC33-0B398DB9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98B53-62E1-4387-AD26-10D2B5C7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F8DF573-E5AE-4C17-A2AA-D6192B86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7788C6B-A66D-43CC-9A0B-2509C672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026A07B8-5AA3-4078-A788-03C83974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EAAFC93-18B8-40A4-8B2E-72337B93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65E0EC3F-047F-412E-9428-91FB85ED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D67DAA9-2076-4191-B02C-BB0ABC47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FCAF7ECA-976A-42BC-99A8-ED116477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8A02706-FC48-443B-865B-644F6DE2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826F6782-155C-4133-9B82-67AE6E07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E6521490-3C44-4B8E-A12F-3AD0D7C3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8A18DE9-A2F4-418E-BA80-905FDE06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BDAF00B-E045-46F1-8ED9-7E78EF05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8A34F3F8-7B02-4DB8-88FA-AE6C0217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0963D52-C4C1-4D2C-9CC8-2DC73893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8A904D7-5832-4E0C-BDE6-D6715C49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6F7792A9-122B-4A4C-8A67-BA5439F2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C8D5472D-88E4-494D-86B0-5B43EC6C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DC277FFD-EABB-4FA5-851E-20E009F0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D987D5D2-26C0-4065-A207-24D9A6D8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E9AF220-8003-411B-84D8-8542A49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A6B0563-5BC8-4158-BEBE-30878E1E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884623DE-CD20-4163-A0B4-7E2E12E1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3B3A9F5E-82BE-4011-B8CF-FD8DDC91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661CCEBA-F306-489F-864C-DCD79D0C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B86B2627-D979-447C-A6B7-34D6F22D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0065DC04-B547-4FEA-B547-159D28A9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1768EB39-3E60-456A-9F68-C728E165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298DB1-618C-4991-A98B-730E0DB6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CB3BB-7E4D-4CB7-8B51-F470928A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856E3-E7C7-4A99-A47A-1456C3E3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6D12F0-F784-4D0F-9E2C-EF279AC5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317797-AB2F-4280-AD09-A6BB8237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E452E0-55AE-4EE0-AF25-31D8D5DB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C6BD99-F04F-4A93-A2C4-EAF251F5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D7F80C-6C3E-41D4-926B-30DC2541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925a95a1049cb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EE4E67-5539-4963-BE6E-AFDBD12E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8620B2-81A3-4506-A6FB-001360D8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978D3C-3621-4267-A572-6D94BE6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 03 / PRESENCE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F2769B8B-A225-4987-BBAA-4647EAAB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LAYER 03 / COMMUNICATION SYSTEM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EB68E6F3-5766-4A34-A879-FE2555B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Translate internal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clarity into external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trust.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16C5CFBA-0051-4355-B449-E81E7F56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Content becomes valuable when it reflects how the business actually creates value and gives the market a clear signal.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FCF5A76-D287-4284-BEE5-73F8E38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4762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8000"/>
            </a:srgbClr>
          </a:solidFill>
          <a:ln xmlns:a="http://schemas.openxmlformats.org/drawingml/2006/main" w="9525">
            <a:solidFill>
              <a:srgbClr val="2A6B5C">
                <a:alpha val="3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AFCA87-0650-472C-8866-45DC3D1E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9F9D7A-AE84-402B-91D7-D1F99960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EE14F2-66F8-48C2-B6EA-8157EB0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1239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76DDE9-C320-4DD6-963F-121944C7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23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E0C182-7F84-4853-871B-241D3F58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F2EDC4E-9875-4971-9B1C-DF77CB36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D19D91-32D0-4422-8076-FDE86048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6007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3A56259-8E80-4CBD-892E-7396284B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00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>
                <a:alpha val="52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200F34-76F9-46D8-B963-6831F9E0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C52">
              <a:alpha val="48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7269138-0D8D-478D-BD9C-6C848A53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Narrative</a:t>
            </a:r>
          </a:p>
        </p:txBody>
      </p:sp>
      <p:sp>
        <p:nvSpPr>
          <p:cNvPr id="58" name="body">
            <a:extLst xmlns:a="http://schemas.openxmlformats.org/drawingml/2006/main">
              <a:ext uri="{FF2B5EF4-FFF2-40B4-BE49-F238E27FC236}">
                <a16:creationId xmlns:a16="http://schemas.microsoft.com/office/drawing/2014/main" id="{D5DA3E3D-4ADF-4555-BE18-B554345B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Founder story, category frame, point of view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E95CAC5-DC67-48F6-A78C-5A55F0C0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43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F01919D-CC4A-4D91-AF91-3477C74A9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47D605-8FE1-4320-90D3-E3EA917F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2F">
              <a:alpha val="88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7C1818-0511-4197-9B81-807B0613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62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 system</a:t>
            </a:r>
          </a:p>
        </p:txBody>
      </p:sp>
      <p:sp>
        <p:nvSpPr>
          <p:cNvPr id="63" name="body">
            <a:extLst xmlns:a="http://schemas.openxmlformats.org/drawingml/2006/main">
              <a:ext uri="{FF2B5EF4-FFF2-40B4-BE49-F238E27FC236}">
                <a16:creationId xmlns:a16="http://schemas.microsoft.com/office/drawing/2014/main" id="{9EF1D1CD-9A8C-422F-8AB3-F404E96F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289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Formats, channels, cadence, repurposing logic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CE23BD-C1EA-4BA8-A3E1-DEAF07E0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C9BFA12-EF50-4054-B6C0-8A74483C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0F923C-A4FC-4A24-BF8F-70366270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2026">
              <a:alpha val="42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8B5B0C-91B3-41E8-9E6D-62773CD0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Governance</a:t>
            </a:r>
          </a:p>
        </p:txBody>
      </p:sp>
      <p:sp>
        <p:nvSpPr>
          <p:cNvPr id="68" name="body">
            <a:extLst xmlns:a="http://schemas.openxmlformats.org/drawingml/2006/main">
              <a:ext uri="{FF2B5EF4-FFF2-40B4-BE49-F238E27FC236}">
                <a16:creationId xmlns:a16="http://schemas.microsoft.com/office/drawing/2014/main" id="{6A68493C-DC59-47F8-B08C-8897A015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386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Ownership, review rhythm, standards, removal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D205CFE-B283-4089-99C4-5F1C4304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62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840C9E-6802-4533-AA5D-9C418886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33E7FCA-0759-43C3-B784-BA6C7E7E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396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4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5FF8D5-F6C5-417A-9727-32BA10A3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Presence is not output volume. It is internal clarity becoming market trust.</a:t>
            </a:r>
          </a:p>
        </p:txBody>
      </p:sp>
    </p:spTree>
    <p:extLst>
      <p:ext uri="{BB962C8B-B14F-4D97-AF65-F5344CB8AC3E}">
        <p14:creationId xmlns:p14="http://schemas.microsoft.com/office/powerpoint/2010/main" val="7750209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56C2A1-76C7-41E9-A34F-D9D145EE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63494-880B-4100-9A28-83E65485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D9CEF-E128-4DC2-806D-9D3AEBAA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94C88-8185-439E-B246-8D27512D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24313A4-729E-40CB-8089-6DBE09B6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84FF75B-CAB8-407B-8B0F-80A30E0C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EA65C227-A63C-4E17-BABD-0E6338D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09C4F32E-60AB-45A4-B3AE-14D007EE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6FFCF850-B7F2-4397-A2C5-F23557C4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ACD21842-0430-4A41-A424-ED1B4844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9C9B0E5-21C6-43A8-A705-829F5A3A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B9D5806-3021-4142-88CD-22AD937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C8C7474D-ED4D-4CF2-B4E0-F18D0B41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BBD47950-8893-4F89-85A7-35147587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E3EFFED-59F1-421F-8F59-F5EDD2C4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91019204-61A5-4C9A-9FCB-6DA7DB8B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4A4BFB71-BE0A-4B55-A2BF-76A2AA4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F64E4A9-6BDF-49BE-96D0-2496AEF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515AE55-11C7-4DE7-BF6A-FD6773CA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246DFA9B-507A-4402-B1DA-45CA8FF3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73ECD129-C7AA-4622-AB6F-1178F6DD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40E03619-4AB2-4BE5-8FE5-7851C68A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ABD04A39-A90E-49A4-A98F-2E9CEB30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D63756DD-84FA-4FC5-8A91-C7B06CAA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2A8F253-6D43-45B1-9EBA-342DB01D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333225BE-6568-4B38-AAB5-0699810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57EE7FF0-45E4-4A4E-B3E9-92B43A8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4458BAF-7B7F-401B-A0E2-9FD98F67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2B7C617-A4CB-4A8E-9EDF-C70CFE6E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D7ED0F34-1E52-4DDE-A67E-CDCFACD0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0246875A-22F6-4A72-9A53-2CAFC131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33CA6F-7723-41AF-8757-7496297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25DA78-EA62-4849-A1AC-F32174FF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994145-4FDA-401B-972A-EC0885C2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70AC59-D4EE-4CEE-9B86-C7A9C3C3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A4145D-CE17-429A-A338-8829B209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BF65A4-6DDA-4FAA-AFFA-17AA08F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EB9495-4DB4-426F-95FA-D87337A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5663B0-04E9-4C05-A9DA-DB7E6C12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6e5c41f704795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E1ED5A-6455-4D2B-B2D7-8E99D7F9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9DD5FA-D134-452E-BCBB-EAA4C668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B8DF0D-8AFD-4E3C-91BB-4CF3A57C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AI ENABLEMENT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1705F148-7B02-46F5-87AE-DC43AAA1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HUMAN-COLLABORATIVE SYSTEMS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59AC331-311E-436C-A1C0-A1E9CE71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AI should assist.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Humans should lead.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system defines where.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2D25140A-6A0D-485E-85A2-34463A9C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clarifies what is automated, what is AI-assisted, what needs review, and what must remain human-led.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B7CBAE-E0E2-4F39-8B7C-AA8ECBF3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8000"/>
            </a:srgbClr>
          </a:solidFill>
          <a:ln xmlns:a="http://schemas.openxmlformats.org/drawingml/2006/main" w="9525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75E1-5DE0-4982-A974-26ADEBC7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D344A9-970D-46F7-BCF0-F2327D47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4310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118388-FBCB-483B-A857-931B796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335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REVERSIBLE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BF3617-5654-4407-A5E2-21E761EA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335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HIGH RISK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DBE7ED-CF79-4E72-B0DA-F629CCF4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76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2B5D7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3D5C43-B27E-421F-8559-5756F700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Automated</a:t>
            </a:r>
          </a:p>
        </p:txBody>
      </p:sp>
      <p:sp>
        <p:nvSpPr>
          <p:cNvPr id="54" name="body">
            <a:extLst xmlns:a="http://schemas.openxmlformats.org/drawingml/2006/main">
              <a:ext uri="{FF2B5EF4-FFF2-40B4-BE49-F238E27FC236}">
                <a16:creationId xmlns:a16="http://schemas.microsoft.com/office/drawing/2014/main" id="{CE3E31A4-F4FF-4D94-A9E2-D378E23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repeatable steps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CB11F2-DBA1-4DD4-802E-E506A83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76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2A6B5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EE8179-445B-4F43-A989-D98092BD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AI-assisted</a:t>
            </a:r>
          </a:p>
        </p:txBody>
      </p:sp>
      <p:sp>
        <p:nvSpPr>
          <p:cNvPr id="57" name="body">
            <a:extLst xmlns:a="http://schemas.openxmlformats.org/drawingml/2006/main">
              <a:ext uri="{FF2B5EF4-FFF2-40B4-BE49-F238E27FC236}">
                <a16:creationId xmlns:a16="http://schemas.microsoft.com/office/drawing/2014/main" id="{8214858D-2945-4665-B518-5C29953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drafting + synthesis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B76FE3-7E3F-4907-B7FF-B99698A1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4A202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B9ECDC4-2491-44EC-ABC4-1F365A9B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Reviewed</a:t>
            </a:r>
          </a:p>
        </p:txBody>
      </p:sp>
      <p:sp>
        <p:nvSpPr>
          <p:cNvPr id="60" name="body">
            <a:extLst xmlns:a="http://schemas.openxmlformats.org/drawingml/2006/main">
              <a:ext uri="{FF2B5EF4-FFF2-40B4-BE49-F238E27FC236}">
                <a16:creationId xmlns:a16="http://schemas.microsoft.com/office/drawing/2014/main" id="{6E3A63E4-7A7F-4F18-83D6-2DB8165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433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judgment checkpoint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4542CCC-B859-4FBC-A086-A2F882A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505F80-FEFA-409E-91AC-796AFD552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Human-led</a:t>
            </a:r>
          </a:p>
        </p:txBody>
      </p:sp>
      <p:sp>
        <p:nvSpPr>
          <p:cNvPr id="63" name="body">
            <a:extLst xmlns:a="http://schemas.openxmlformats.org/drawingml/2006/main">
              <a:ext uri="{FF2B5EF4-FFF2-40B4-BE49-F238E27FC236}">
                <a16:creationId xmlns:a16="http://schemas.microsoft.com/office/drawing/2014/main" id="{48C255F3-839F-4359-AEC7-FFDE55A4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trust, context, risk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C3BF12-AB2A-442F-9491-FA71B54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1425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decision rights</a:t>
            </a:r>
          </a:p>
        </p:txBody>
      </p:sp>
    </p:spTree>
    <p:extLst>
      <p:ext uri="{BB962C8B-B14F-4D97-AF65-F5344CB8AC3E}">
        <p14:creationId xmlns:p14="http://schemas.microsoft.com/office/powerpoint/2010/main" val="750288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0DAD5C-59D2-42C2-AEB2-3DA3AB1F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4B844-B69E-4F3E-AC8B-C53E383B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D640E7-2279-4B44-9D89-5BAD10D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23FFB-3E69-41B2-B3A2-6207FEA8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D20D992-10C6-4647-B560-0D93BA61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6472B17E-B6E5-495D-88F7-81F8297D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A84F5DD-239D-420B-874A-28CF843F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94D1F39E-8086-423F-B45A-DB8FD115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38F6A9B3-CF1E-44B6-ACAF-2C4A9132D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CD8AA30-2B4E-43C0-816B-E94CD281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20B561C-0A67-446C-B40A-A6E3C55A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62D06000-4D64-47ED-B36B-3D2C8672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80E3590-AD71-42F0-A494-38F1BC38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C2BD1AC-343A-4B5D-B1A4-24733C25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DA7E171-11D0-4897-B705-0655B768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2B84E82E-2818-4C14-BC74-6DE702C0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BDA487B-E28E-4691-A822-2C756E6A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D84B591-8BCD-436E-A7ED-A2FD817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A89332F8-4C98-4AC7-BF2F-B17B487B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3C28C2B-AF7B-408B-A03A-F6ABF8AD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DA69EAB0-3E34-4FD2-BC8C-6DEB4C91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319E56B1-5A3C-4DA0-8087-D12F671D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7B8A6F86-4964-4B2E-934A-A15C1F59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CBD32FB2-96F7-45B5-81E4-E075E77F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124A6EA-1829-473B-A259-BA8C8BA0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8AA10954-9C69-493F-B586-B1E8D5C3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9FC8D759-E5FE-44EF-A796-1E056B1D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36097A6F-8E0E-4A52-8698-9561034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DE8C906C-7DEA-441B-B77B-2B28EE45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50BFE1BD-C0C0-46E5-A50B-BE1B424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6C8F189F-B274-40BC-A5E1-C450583C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F4720F-92EC-4481-A4EF-CDB17E0E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13C80-A3F9-4407-908C-69FE7A63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B1EEAD-9212-446C-8D3D-D96D780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BB4780-3F93-4442-A214-D34D1D81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601CA2-CC0A-4229-AC72-597935F7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0E03F8-5419-449B-86E3-7D16E654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A57183-0624-4401-9886-3418BACD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68FA7-FF64-48ED-A5D4-C26EDFF3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3a798c999143e6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103DA3-4885-4670-AC1F-6851D65F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E6414E-C06B-4199-BDEB-65ECFEFE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511456-2C01-4BB3-B8A4-0C6ACC17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OFFER ARCHITECTURE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028C4F20-D8CF-4472-82DF-2899B6A0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THREE OFFERS, ONE OPERATING LOGIC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0CF54F13-AB1C-40F5-BDBA-0B06AA31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Choose the entry point.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Keep the sequence intact.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6B860801-C6A4-4CB5-BAB2-E273308C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service architecture gives founders a practical way to begin without losing the connection between clarity, infrastructure, and presence.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AB28A7-8619-4226-ADDD-F824D61D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59297F2-A3EF-4D84-9AF3-D518A608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FE0019D-7D81-49B9-8339-80D60C47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24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D569F8-10E2-4F4C-A80C-F6E62CB9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9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Foundation Strategy</a:t>
            </a:r>
          </a:p>
        </p:txBody>
      </p:sp>
      <p:sp>
        <p:nvSpPr>
          <p:cNvPr id="51" name="body">
            <a:extLst xmlns:a="http://schemas.openxmlformats.org/drawingml/2006/main">
              <a:ext uri="{FF2B5EF4-FFF2-40B4-BE49-F238E27FC236}">
                <a16:creationId xmlns:a16="http://schemas.microsoft.com/office/drawing/2014/main" id="{1317C03D-6BA9-4F29-AB6C-9D8F98C2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9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9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Audit, diagnosis, roadmap, prototype specification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FECCF1-66C7-4BB1-ABE9-34BE0D35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5D7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F0A646-0927-430D-974C-7FAF5C6D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2B5D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925EF8-1487-491A-8891-04A4C709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F116D5-67D5-4D85-B562-AAC190FA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9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 Engineering</a:t>
            </a:r>
          </a:p>
        </p:txBody>
      </p:sp>
      <p:sp>
        <p:nvSpPr>
          <p:cNvPr id="56" name="body">
            <a:extLst xmlns:a="http://schemas.openxmlformats.org/drawingml/2006/main">
              <a:ext uri="{FF2B5EF4-FFF2-40B4-BE49-F238E27FC236}">
                <a16:creationId xmlns:a16="http://schemas.microsoft.com/office/drawing/2014/main" id="{1C306673-410F-4408-9AF4-D7C13CA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9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9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Workflow design, practical AI tools, documentation, adoption logic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4EC1C2-A142-4196-866B-D404C2F49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E016FE-FD49-4FAA-9AA8-1CFAADD8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2A6B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ED2DEA-1DD6-4ED9-A844-ACD805BB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3AF7867-6357-4D05-94AC-6B97BD3E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9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Complete Lifecycle Retainer</a:t>
            </a:r>
          </a:p>
        </p:txBody>
      </p:sp>
      <p:sp>
        <p:nvSpPr>
          <p:cNvPr id="61" name="body">
            <a:extLst xmlns:a="http://schemas.openxmlformats.org/drawingml/2006/main">
              <a:ext uri="{FF2B5EF4-FFF2-40B4-BE49-F238E27FC236}">
                <a16:creationId xmlns:a16="http://schemas.microsoft.com/office/drawing/2014/main" id="{32F8A3B3-BD45-40B2-BC6C-C6973694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9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9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Ongoing strategy, systems, content, maintenance, optimization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3F1D45-07F2-47FF-88D1-E24369F0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2000"/>
            </a:srgbClr>
          </a:solidFill>
          <a:ln xmlns:a="http://schemas.openxmlformats.org/drawingml/2006/main" w="9525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0364C3C-07FA-449A-9A03-B19FB6CC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24475"/>
            <a:ext cx="409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AI Enablement &amp; Adoption sits inside the service layer, not as a fourth offer.</a:t>
            </a:r>
          </a:p>
        </p:txBody>
      </p:sp>
    </p:spTree>
    <p:extLst>
      <p:ext uri="{BB962C8B-B14F-4D97-AF65-F5344CB8AC3E}">
        <p14:creationId xmlns:p14="http://schemas.microsoft.com/office/powerpoint/2010/main" val="7550685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770ED-80CB-4862-82B2-5A19083E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65148-510A-4A06-AB11-8C4F3971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AB89-296B-4BA4-BAE1-C67D1AF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00C63-EF64-46DD-96B7-0AA2D120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E4D12DF-0B47-4966-8A04-399F970D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3A5DF24-E7E7-4A52-9156-8424A8FB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BF2CCE72-80CB-4252-9850-BC4E3C10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DB630F0B-F12D-4D8C-9185-E5B4CD3D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A1EE32B5-7CD3-40A9-B295-4CCE945B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4589474-6103-4F7F-B48E-72126841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7AC2428-F0C4-4841-87CF-6CDAB1DD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9466E0C8-17FE-4598-9BF0-28531F6E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C7D72F90-468D-49B2-99AF-E7CDBA7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E0FED01-0AEB-4F47-8C06-62DEA822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8F4AABA4-3FE0-439E-99CE-04F5A5A0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7F47FFB0-BB33-4A5E-9772-2097BA46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EA2C442-D58C-49FC-95A5-6108E80F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CAB554A9-CECA-4A4F-AFAA-74DBD963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12AE0704-CD0B-4107-85EC-079D2D9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7C0A1812-E794-4B4B-BA92-48E03CB9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A4175CDC-B925-4B0C-923C-6B6F68CE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ADB4E9D8-7E9D-48C3-9206-3DD65E80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35D0C1F2-4D4F-4214-8A3B-F7F360C9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FB653B2-B81C-452E-B744-811D6968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1FA12274-3BE7-4DF8-A38E-E58AA01E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57939887-A31A-40FC-B2C9-40427152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032169F6-506B-49A4-9D66-4F655718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A5C14EE4-2EAB-4393-B6F1-23052B91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3FE0CB8-CAEF-4DC0-B50A-B41718B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51ACFA00-5C7F-4CBB-BAC9-7D7A9332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1C5BCE3F-C230-4AFA-8E91-39E99DB2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0D018-9464-4A85-BF51-9BED59AE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B01599-B548-4B06-9EED-1A83D70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C582A5-3F1D-46FC-A8ED-62BF79A1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E4ADC8-BF6C-4AF1-A0C9-EA27228D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6C3161-F535-4760-9C82-57944504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9F0685-3B87-4590-BC69-F8375EBD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58286C-9BA5-46F6-BE18-E20EEBD0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616C03-1A28-41CB-8630-9875C4B7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3f27fd78642ae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B4047C-B8C2-4A14-BF7C-66478A25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ED4E08-53A7-4377-A327-4A061D50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140498-31CE-4826-8F31-BC9F4FD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EXECUTION MODEL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D4AF3D89-2566-4832-B1C8-A175B207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FROM BUSINESS REALITY TO ALIGNED GROWTH SYSTEM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04F5A041-22FA-4EB5-A543-EEAED1F6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Execution moves through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clear stage gates.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24E0DF41-382D-4B50-B0AD-26E0D0CB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Each engagement moves through a disciplined sequence so strategy, systems, adoption, and communication stay connected.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C25323-9F6D-455D-ABA9-B7CADDCA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4C2FAF-3FCB-4A2C-9264-BE6DD3EB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15240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37443E-A087-4C65-BE9D-5EBE5B5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-762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5D7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7CB09F-52F9-4159-8882-80B62AEB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-152400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B5D7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CB3B8A8-5368-467E-80B3-A2234C53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76200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481905-A40D-4BFE-BE4E-31CC7B11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96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A6B5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0669E7-D03A-4805-A8D5-7A2497CE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55C1F4-19C4-4379-9282-1CD0936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598D26-BBAE-4DF6-9E22-D1D1E0FD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Diagnose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EAA71F-C2F2-42CD-88C2-99445454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B979C2-0E0D-4251-8D3F-2452DFEF3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526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724C3E-E39D-4426-AF68-681D2D2A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Define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6D81E6-9946-425A-B372-0552EF5C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2B5D7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05276D-FBBA-4533-8DB5-4C83FCD4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3F4464-EFBF-470C-A533-7EBC6974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Design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6961D6B-E431-4684-8B42-CA2663C7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5D78">
              <a:alpha val="72000"/>
            </a:srgbClr>
          </a:solidFill>
          <a:ln xmlns:a="http://schemas.openxmlformats.org/drawingml/2006/main" w="13335">
            <a:solidFill>
              <a:srgbClr val="2B5D7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71AB59F-2EB5-48CE-92F4-4C00A4D6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D49BC60-AE9B-492C-8EF5-1F44122B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Build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DE5BA8-C2CE-4A3D-96BA-7B1E11FF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05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2A6B5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8A86316-8964-4DF1-B191-FCEC81D8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27848D2-E917-4803-8AC6-60AF9B7F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Enable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5CE160E-888A-464F-8814-C208A8E4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81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2A6B5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3276CC-CA61-4291-9D2E-CBF56DD6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2B3289B-AC38-4FDA-AA55-8F37A675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435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Translate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93E0CE8-67F0-44AB-BAA7-881683B6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81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2A6B5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EC9250C-B115-461A-95F1-56E41561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625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F4CD0E3-9261-483B-A420-BEF40F8C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435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Refine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E364C15-E9B7-49F0-9F5F-1FAC3FD8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673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085E48B-16DC-4EF2-95B2-87540434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5A64AF5-0B89-43C6-B399-D9D664A9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000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6B5C"/>
          </a:solidFill>
          <a:ln xmlns:a="http://schemas.openxmlformats.org/drawingml/2006/main" w="9525">
            <a:solidFill>
              <a:srgbClr val="2A6B5C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82FFCCB-1E9E-4B37-9ABD-7BAB9EE8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428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BUSINESS REALITY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5398C28-02EB-40BB-9B27-46B0E874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1524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COHERENT GROWTH</a:t>
            </a:r>
          </a:p>
        </p:txBody>
      </p:sp>
    </p:spTree>
    <p:extLst>
      <p:ext uri="{BB962C8B-B14F-4D97-AF65-F5344CB8AC3E}">
        <p14:creationId xmlns:p14="http://schemas.microsoft.com/office/powerpoint/2010/main" val="6148734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EF44B-A5E6-47A0-A0D6-22DB6743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91B1E-703F-4C34-BD70-FEC9E271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918AB-B18E-4234-891B-2AFF176E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A78F7-17CF-442A-9EF0-FB9591EC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07294FB-66AD-416B-9657-EA32C6764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6F844E8-F779-49D5-8667-32DF64E2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FF72B78-D3A3-4238-B50A-F864DD79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F5EAA9E7-11B2-4946-8450-32E3FD1E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6608E275-30A9-4A12-956A-83E8DDC0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8C19562-EE12-4D7D-B3D4-95BC7B47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7C2C835-5E0A-4F28-89BD-1B8DF6E8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61158E9F-B949-4228-ACFA-85A3CBF4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50C7C43A-946C-4B50-BAE1-C278248D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DFE37D0-E5CD-44EE-BAA1-A09C0D3B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CBA7947-30A1-40D5-9D06-D8061903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1A88EF6-1E78-446C-8C03-8BBFF24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F220C80B-030D-4232-8293-9E9E3CA0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0A43781-4AEE-49BB-8F2E-B6130289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1C8ADA1-1C63-4FDB-B514-652DF687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2C17E28-57D0-4E42-AE74-2AC89266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E104FD10-8E5B-4E35-ABBD-4EC130BB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77F272EE-21D7-4F69-BD2B-6F817DBD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4F64E566-DEDB-49A3-9C6C-F1B3CE3D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22588AC8-F58E-4621-A883-83CFB8EA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4C68BFE-AAEE-4C08-BE52-9EDCE152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662DE3C6-67AD-42EF-8474-150273E28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0E20C4A-285E-4EA9-8180-72F9BA53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DF336A46-DEB7-425F-AAD1-F370F266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078D7CEA-996B-4B96-B9B5-1AC4A7EF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8BDBF05-4778-47EB-8D37-B8D8E0FC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6AD633AD-7849-4E71-9293-69712829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487AE-2D3F-4931-A39D-EF114D3B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54E0AB-D2D5-4A54-B69D-D67312ED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A62BA3-E4BA-45AB-ADBD-5A8A6892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3C6FBE-3253-4CCA-B2D0-EC529E6B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5B15B0-39D8-407A-B827-BE2E7432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EE9475-C42B-4A13-9966-DF55FDA2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D40874-E84D-49CE-979C-950C85EB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DA065D-9F3F-4ABF-9209-7BA255A8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8bc8a45364ed0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99515A-A4FB-4DE0-A2F0-671F89D7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71521F-20B7-41CA-94E5-1EF0F7AF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CAB212-9FA2-4F7D-8929-4A28AA81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FIRST ENGAGEMENT OUTPUT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102C1D81-69EB-40BE-A4A1-01A5FE76E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ALIGNMENT AUDIT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59BF2FD7-261B-4D4E-9F9D-8F41C2C0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Find the first system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worth building.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07C173DB-DE22-4B17-93B1-FAEF6B31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audit should leave a founder with sharper operating logic, clearer priority, and a practical next move.</a:t>
            </a:r>
          </a:p>
        </p:txBody>
      </p:sp>
      <p:sp>
        <p:nvSpPr>
          <p:cNvPr id="47" name="artifact">
            <a:extLst xmlns:a="http://schemas.openxmlformats.org/drawingml/2006/main">
              <a:ext uri="{FF2B5EF4-FFF2-40B4-BE49-F238E27FC236}">
                <a16:creationId xmlns:a16="http://schemas.microsoft.com/office/drawing/2014/main" id="{18D58D27-DF75-48D2-B2A7-F8E16B0C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9650"/>
            <a:ext cx="4000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014">
              <a:alpha val="92000"/>
            </a:srgbClr>
          </a:solidFill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F5D5AF-7B3F-4FB0-9C39-66EA46A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9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7704B2-B614-4329-BB92-EE164868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9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054BF12-31B3-43A5-84B3-C31F2AA2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0096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F5F4DC-F4F6-496E-BF1C-98C7CD14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0096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1A864B-BE49-4780-8258-B8E1EE3D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9830B9-55A1-4764-9CA7-3DF890BF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72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1E719D-9B9F-4271-970F-CF16F689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7721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5DCD4BC-56B3-4770-B22B-7FC16E31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9D3A8E-6977-438E-9969-EA2BF04E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8A78">
                <a:alpha val="52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B22A0C-F490-4D0C-BF66-95768F0B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954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ALIGNMENT AUDIT BRIEF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8CED98-07B4-45B5-952D-F5AD019B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E21138-578C-405E-AD76-9704798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Operational clarity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A92D67-9B26-4627-89A6-A2ABCA6B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0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is happening, where friction lives, and what must stay human-led.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A994B2-F0D7-4928-BC72-DFE779B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8A78">
                <a:alpha val="24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C36085-C681-432C-B0BD-73D99A70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B5D78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BFE4DF-8BF7-487B-91D4-76B2136B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33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Priority workflow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423BDC7-F29E-481D-8398-9C7A0456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70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workflow with enough value, pain, and adoption readiness.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CA8B71-4DD4-4577-BF92-4C783B0F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8A78">
                <a:alpha val="24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90B5CE-1D53-4FB0-AE80-31C2FF01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2A6B5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B0AC23-9D0D-4AA3-8A6E-6DFC8F77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00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Practical next step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20DD8F1-AEB2-4E48-9E0F-7329ED51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to document, automate, integrate, review, or communicate first.</a:t>
            </a:r>
          </a:p>
        </p:txBody>
      </p:sp>
    </p:spTree>
    <p:extLst>
      <p:ext uri="{BB962C8B-B14F-4D97-AF65-F5344CB8AC3E}">
        <p14:creationId xmlns:p14="http://schemas.microsoft.com/office/powerpoint/2010/main" val="8360669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83BB6-7330-48CA-ABE4-71C2773D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67A6B0-1B01-42DC-82F2-54238B3D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A45BE-8DF9-4F30-96A6-7BEE78BE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9242C-14AD-48D1-BC30-52EF7726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8CCC5EC-9121-4199-88BD-A2645990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EAA197E-8CD6-4CC1-825E-79351E58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E135C11-8677-4EBB-9927-80463432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E851343-FCD6-44F1-B392-CED79FB4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62C3459-8377-4314-9B36-5F9E6D1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BA97EBB-525C-42A1-BFE4-CC9B179D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D8DCB75-6D23-4591-8952-A833895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5D30FB7E-8490-407E-BB89-0709ACE2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8825175-DB6C-40F5-85B5-7EE63ABC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69340A3-8880-4E6E-98DD-CB772F17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1C432553-5CC7-4977-B37C-39D43205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E004C216-7F17-4AE5-BFAD-C84E5350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E557D45-5905-4BB9-871C-0DBC88F8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C1650D2-DACB-4477-92BB-3902268A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46F6C9E-1E9B-43DC-A990-6787778C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3AA8BED-9CDB-4B8D-992E-ADA8E57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CDB575A4-C5E2-4C41-9436-C6E78207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C0F2C3B8-1794-45D3-A15E-E0CC6C9F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8106DC38-234E-45DD-ACC0-8F6E14F8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359995A-55E1-4AEE-9551-13A5263B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9AD61C43-F073-4C81-93CB-05393AC0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4E0653C-E45E-4BFF-9361-32EE2C64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0A8CD0B-58BA-422D-ACF0-8DAB005E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4F2F7676-305D-4D70-A170-3373D58D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BF72AE9-7772-4427-91B2-04C69DBA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1351FF4E-B7D3-4648-8A9C-E641E29C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AC9A4EE6-4758-4138-B8BE-7D0830E9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271EC1-0D88-46DD-B9E3-DB9D249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0CD2CB-C550-4EBA-AAF4-BAF31994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C9E15A-0F90-4185-838B-C0957B89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40CE59-522F-4050-8F09-6383E0DC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452FBA-44C1-410B-8147-597E72AE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A8F46D-9A0E-4457-BA47-855C8322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529DAC-8566-4AA3-A82F-90754B3F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D02F83-8569-4F07-B14E-943DD5C6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66651c6374d2b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8A68E9-E21B-4FAE-957C-D3A26C0A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EDA1BD-8E0E-44DE-8425-93F3873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DFFA5-CA5C-45F1-956C-C5E69846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BUILD OUTPUT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2A925A84-C1E5-40A0-B531-01E03BC8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FROM WORKFLOW MAP TO OPERATING INFRASTRUCTURE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0FA23EDA-A2FB-46BD-BE51-801C92E0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deliverable is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system around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tool.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142167DA-B607-454E-91B9-2C1988CA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Useful infrastructure includes workflow design, documentation, review points, adoption support, and communication logic.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6C7233-D829-4826-A5E6-E669DA1E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762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0000"/>
            </a:srgbClr>
          </a:solidFill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F2BBC5-17AB-434D-B8FF-29BC9BCD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D85CE6B-A0DC-4A90-8C83-8CA9CAE0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9679C8-D447-4F47-AD37-C885B1F8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66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EB3AD9-1DAE-42D3-87D8-F9BAEC0E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066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4752F7-2E90-4019-971B-680280D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4D43B4-E4A7-4BF1-AA77-0EA1E4C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3DAA2E-AF56-4DAF-A333-6FE5F1EC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638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F86B32-5CEB-4041-9CCB-03B4DAD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387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BD9790-920C-40C5-8509-949DB17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85737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27F97F7-3DEB-407F-9887-D4EDA6C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-185737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75F020-A188-4178-824E-9E9C771E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185737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D1C4C3-25D0-43DC-B4F8-8C13A608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926602-4F8B-438F-992C-379FC273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287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Workflow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architecture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FC2281-7E94-4AF6-9F18-4E6FEA4F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362F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6D32C4-C3D0-413F-B019-1ABBC080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431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Internal tool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or assistant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702C23-FB7C-481E-BAD9-6626C417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001B86-44D0-43B8-B94C-C4C585C3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Documentation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584BAFF-0CB8-4013-AF9A-97E78D5E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481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362F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AD9CEA9-62B7-4D9B-9148-86FA14CB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00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Adoption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support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70BAD81-5015-4CCB-B130-A570CB61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>
              <a:alpha val="90000"/>
            </a:srgbClr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8F3F7F-ED55-4F9D-ADE8-408E55F6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13678595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68AB95-3B3E-4F8C-9EF5-45B6BB65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F8147-C1B1-4180-9454-3569E04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E3DF6-9FFC-4322-B101-87DE7755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F619C-1DB8-40D7-8155-2ED54489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6D9E1F18-0300-44D1-BCD4-E2BCE9BD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683826EA-391F-4F2C-BABD-E0D5FBBA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EBB5C236-6DA4-4F6E-9DE9-07E1AF05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6DBF660-8030-4253-9ADE-6C6E4ED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4667C6B-4D0E-421C-A628-C50D9C0A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6EEE0A79-55BB-4833-BF08-A96204B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0875DE5-F6E7-4E6B-9931-6D2E0588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26B42AFB-8053-4261-881B-1E317611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4619A671-8E1C-4196-8418-0E769F10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CB15095-906B-4B21-A5A8-3B1CD202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D43CD308-4602-4E83-A6E6-D5D291EC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3EA18A99-5836-49CF-BF9D-6099B0C7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0BF22E1-BBBC-4880-95E0-83E048F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E04266D4-C48B-44EB-8967-725F8E4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ABF75E4-8F7C-4443-BE44-A08037C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6E6C37B2-36A5-447D-B3BE-0A17091B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0FD91A27-66A2-4067-8E5A-C15ACD0E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545535AF-5ABA-423C-85F5-F19350E3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2D9A2033-5FBF-4B4D-AE13-5D982D36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8FBBCD32-92B6-4E6A-9E0F-A2233FDD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984DD6C-E274-4E1E-91CD-8AAC032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382114F-B803-4174-9361-D61417B0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0F9F3C1B-1044-42FB-895C-B6CE5131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0C07928-BAA6-423C-992B-9028D43F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587D9C65-33B7-4B1D-86A2-1C47282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26385F3-2A05-4FBD-A1F8-058934E5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B3D69CF4-A7C0-46B6-BE59-F8BFC1C9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6E5D53-27A8-4F5B-BD80-BD906821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3CF3F3-91F3-4EAF-B16E-022F049C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104F63-67A9-43A2-ACB0-541AFFA2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B1A123-31A4-4D8F-9C16-7A44E8E1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2FDF92-0770-4A9F-98C6-8B2CE9EB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0531F8-5DFC-44A2-9354-DAC93222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754317-821A-49BE-BFD5-1583FEB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5FE4B8-3158-47C9-82C1-91C2F09E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be414a3774a30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BB7206-4FB1-4528-8BD8-B245007E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B74F99-5B38-4835-A1B1-39FEF19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01232E-4695-45F4-9FE0-FCC18455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FOUNDER-LED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9616EA7F-3027-4B72-9493-E1EC2A63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FOUNDER-LED SYSTEMS THINKING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A405A1-3BFB-40D1-A61A-8D9C246B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0000"/>
            </a:srgbClr>
          </a:solidFill>
          <a:ln xmlns:a="http://schemas.openxmlformats.org/drawingml/2006/main" w="9525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470392-3F6C-4947-8E6B-01AF407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202E37-126D-4A2A-8624-ACDEDA6D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3AB804-35FC-4A40-A373-A643AB3C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47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4CB649-AC64-499D-B9D0-36558019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47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123D5A-9671-468D-ADF8-EA055F1B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2E76CF-246C-4D3E-9171-A8B21DFE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057C37-2560-411C-A691-990EAAAC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48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BE8171-CEF7-41AD-954F-16852AE4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4c641b196482d"/>
          <a:srcRect xmlns:a="http://schemas.openxmlformats.org/drawingml/2006/main" l="11351" t="0" r="113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1676400"/>
            <a:ext cx="2724150" cy="3524250"/>
          </a:xfrm>
          <a:prstGeom xmlns:a="http://schemas.openxmlformats.org/drawingml/2006/main" prst="rect">
            <a:avLst/>
          </a:prstGeom>
        </p:spPr>
      </p:pic>
      <p:sp>
        <p:nvSpPr>
          <p:cNvPr id="55" name="title">
            <a:extLst xmlns:a="http://schemas.openxmlformats.org/drawingml/2006/main">
              <a:ext uri="{FF2B5EF4-FFF2-40B4-BE49-F238E27FC236}">
                <a16:creationId xmlns:a16="http://schemas.microsoft.com/office/drawing/2014/main" id="{82CA130D-238C-4A47-8581-8E887CEC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4953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 thinking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meets cinematic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perception.</a:t>
            </a:r>
          </a:p>
        </p:txBody>
      </p:sp>
      <p:sp>
        <p:nvSpPr>
          <p:cNvPr id="56" name="body">
            <a:extLst xmlns:a="http://schemas.openxmlformats.org/drawingml/2006/main">
              <a:ext uri="{FF2B5EF4-FFF2-40B4-BE49-F238E27FC236}">
                <a16:creationId xmlns:a16="http://schemas.microsoft.com/office/drawing/2014/main" id="{4E3FC571-1E18-4B71-8F6E-65C1DEF2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is shaped by Karan Chordia's path from commercial media and spatial storytelling into workflow design and practical AI infrastructure.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46DA582-96B8-42B6-AFB2-B0AE7401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CFBA516-278E-4114-BFA2-CDED964E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9BCB90-D05A-41C9-A163-0B42C957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Cinematic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4F77650-3A3E-4568-A646-EB76E5E0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F26918-C76F-48AB-8066-67BFBD76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thinking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FD4F2D-7018-4364-A0D5-B9FCFC5A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329314A-32F8-470E-9167-5520AEDB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67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Practical AI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1308327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F8D394-A68A-4592-A56D-5351A26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DD9687-0325-4B6A-AA24-9EC3FFEF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D16A4-32C3-4564-B29E-2B759FF4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A2D4D-CE7E-4F64-B333-5969EE99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0DBC3AC-5E51-48E7-A0B2-17FAD8D1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84F74450-1458-42D9-A67C-E77DC4FE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0CFA880-2A55-4021-BEA2-7BA211B2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07C14DA1-8A8A-45F3-9663-102090B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0A008B12-D01F-4CD9-B4D9-03B6554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DD54F9E-37C5-49DF-8C3A-7229544C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CC498187-27ED-49D7-88A6-7169AF4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14BD1EEC-0E2B-4167-B2FF-A0B5731E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044264D2-1ABC-4EF3-817D-D0C46D72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507E922-8323-42C1-8F42-94E805DC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0EF4E8A-3434-4163-BF6D-0C92FF48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8C3C6EF7-3CD2-411A-8EC0-7F5E3AB2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0234F8F-CAF4-4A1D-AEAD-534019D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9409057-B91C-4901-A745-13703DAC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DC24482-5EC4-428B-B98F-ABAFEA23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3BB2F517-EA88-4C2F-BDC1-55BA5889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C7D95DBA-1FFA-4B58-91CC-6BC2E9C8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C23AF6AA-C073-4719-83DB-3C9FA451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2591F683-3C92-438F-BBDE-6ADCA782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C5DD9D7-B73A-4B99-91A9-9A58CAD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9C9C79A-6890-4723-9650-4A92D11E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D0887F55-0EBF-44B6-8AE9-FC5C111D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5A58E0AF-1AA0-40E7-AA76-3C931AB6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F7DC6CF3-E858-4456-83A0-872B998F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3403C345-8A64-4D8D-BDAE-F3A6EF7F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D82D6958-F05F-484C-A75D-59D5B07B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4FB7447D-3451-4D16-8E54-AEA557B9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617C13-1A39-45DE-AE99-924B0F42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26BAC0-08AA-4C05-9EE3-8098549B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02FE2F-2AB8-433E-AAE5-BA794BDF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828331-07C3-4240-B3BA-79E8F391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E5B79F-2CC5-488F-A10C-488B412D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B9E4AF-6B76-41CE-B6F5-47C91871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0BAD37-4C9F-4C46-8B42-E6D05371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83C31-3751-40A7-B14B-525979E5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2d442b7d448e2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DD2860-26FB-4E7F-8E31-D012FE40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3AE741-C91A-469A-8BED-58322E90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A05423-69F2-41DE-A686-4C0D8392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VALUE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F2112E57-59B7-4CF4-B4CD-AC34DB38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WHY THIS CREATES VALUE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E01F2641-9261-4B31-AB48-98555289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1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value is not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more tools.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value is coherence.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F372E51A-435E-4040-9F57-59C32DDA2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When operations, intelligence, and presence align, a founder can make sharper decisions, reduce wasted effort, and communicate with a clearer market signal.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3D764D-17BC-441A-89AB-58F2B7C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2324100" cy="232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>
              <a:alpha val="7000"/>
            </a:srgbClr>
          </a:solidFill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2A960C-64FF-42C6-8234-C65CEBFF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>
              <a:alpha val="82000"/>
            </a:srgbClr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E4203E-20F8-4A3A-A65A-2D5D12DB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COHERENCE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DB1FD6-EACD-4E58-A395-EEE9B53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154305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01E4AB-35F3-4A6D-B972-FE9C9F72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1D358D-9AF0-444C-B576-AD3A1EBF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Clarity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E19B69-60F8-4B55-9BC1-DE046AAC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-152400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B5D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507104-F2FA-43BD-A1F5-A7329FC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2B5D7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FC5BA3-110E-4E54-8114-EA4BC07A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Focus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12266E-C610-4FB3-9B87-0DCF2420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1581150" cy="-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A6B5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3C7BEC-3C8E-43D3-A428-33D2458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2A6B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80840F-6A68-4443-8B6B-5C92BA9F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Adoption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452BDE2-9CFC-4E85-B2C4-7EF8805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33900"/>
            <a:ext cx="-1485900" cy="-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4A202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CC4AE2-A5DB-473D-92E9-FF9AD054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4A202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B8AFF8-426E-40F5-8B53-9C1DC1AE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Trust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97BCBA-545E-42F0-9945-6E61B351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8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2550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coherent growth</a:t>
            </a:r>
          </a:p>
        </p:txBody>
      </p:sp>
    </p:spTree>
    <p:extLst>
      <p:ext uri="{BB962C8B-B14F-4D97-AF65-F5344CB8AC3E}">
        <p14:creationId xmlns:p14="http://schemas.microsoft.com/office/powerpoint/2010/main" val="14183804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3216E-B95A-40B8-AF12-0EA5351A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27081-6EE6-4A7A-8C03-A012423C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6ED16-2E90-4EEE-90FB-69DC853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8D2AF-036C-4DDF-9D54-98B3E7A7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165C9D50-C6A7-40C1-BCAB-5D99C727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4F32B4D-A62F-4D00-A3F2-E8C0919D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D61B246A-E18E-4CAB-9552-8475848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AB17F909-EBB6-460F-8D02-905CE0BF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8770333A-6F54-4558-8BCA-488525BE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AF6AA64-1C2D-463B-89C1-89B97866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E7C2FD5-8772-412E-AC2E-A732B8B5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7F6ACC24-8FA6-4951-A299-1D045303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7B6171B-6A0A-4DB7-AECC-6259D4B1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D9DDEFC8-E389-4F8F-A522-9615CFD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66AB5DAE-DBF0-49C7-AF0D-76B51432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9DFD53E9-2718-4CE2-B46D-BA4A194A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B84375E2-BA9B-4496-B49D-0068E89C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D490039-2772-4CE1-B6FB-7F7560F4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B63D0FB7-93A1-4C62-8715-166B91CD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D57AEF49-BBCB-4912-AF9F-F9B8EE3E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BD372637-21B9-47D9-920E-57EAE4A8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14B0D14A-C652-4CE3-BF29-FB57C853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297A36DC-5DBE-428B-9F11-4DE842D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97F57D69-DEB6-453D-B3EA-6463EE97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B08566C-C63A-442A-A73A-7C06CD57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9CA26A46-7BE8-4F52-87F0-43341001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CDE0483E-4562-4564-981B-4733D15B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9E6E68D-BC70-4C65-AB5B-B8E440FD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3362B47E-D0FD-48C0-8886-65E3835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106F5277-B025-4DFC-9CB1-6D864DFB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0DC97768-74F8-4737-80AE-F6791FC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0D28EA-50C6-49C4-8E6A-49609CDA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D65F1-E6A6-47AA-90F9-5A35BAA1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F72E7-EF48-49C1-BA80-74BBED49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24EADC-F93D-4595-8659-497C1F26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D30AF5-B767-45DA-8EEE-6577E32D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5BA01E-273B-4EDA-B4E2-AB148DEB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E464FA-1A59-42C1-9C31-D4C78C80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A70344-8FEB-4876-9E3C-1CCFBB9F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c4f50e0154161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E762A4-7E7A-4F96-9A2D-ECDBAED2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D6F231-DD5A-406E-9105-91E0BBD2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748523-6FB1-4886-80EE-951D6A84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CLOSE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6A088F54-AC6C-459E-82C4-A766FFF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START HERE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734BAA66-7215-4689-8F73-E5E9155D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859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Start with an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Alignment Audit.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88CB5B28-A87B-4373-959D-95EBFCD6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4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Share the workflow, handoff, decision loop, or communication gap you want to clarify. The first conversation is about finding the first system worth building.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4BAC09-3735-48FD-BE12-CEA0984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390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4000"/>
            </a:srgbClr>
          </a:solidFill>
          <a:ln xmlns:a="http://schemas.openxmlformats.org/drawingml/2006/main" w="12383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21CA78-2232-41CD-9C09-6D09F696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97E897-8BAF-4B08-9205-67F09566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98C76E5-BC1E-495C-997E-20D8E793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906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7D9567-0246-4D5F-BB19-AD02B1D2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906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4D80C5-F870-45AB-9988-5B8AD710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F2CEEB-20A9-48D4-83A4-67962CA2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080FC1-6EA9-4D4C-BBD9-BB5DEE17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8E7D46-B8C2-4414-9E6B-FFBA0FA6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100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6" name="title">
            <a:extLst xmlns:a="http://schemas.openxmlformats.org/drawingml/2006/main">
              <a:ext uri="{FF2B5EF4-FFF2-40B4-BE49-F238E27FC236}">
                <a16:creationId xmlns:a16="http://schemas.microsoft.com/office/drawing/2014/main" id="{83A743B4-F0A1-4E02-B857-FFB8B803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1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Find the first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1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 worth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1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building.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06565F-7541-4F4D-B4BC-C0EE1C2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4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B3D8C99-E843-4BA9-8CD9-FBB064DB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D5AF854-088D-44ED-A6E8-07D833FB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481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CLARITY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6E6721-A9E7-4745-ACDC-5382C3E4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2B5D7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EF1468-8C3B-4EC6-AEE7-3F3A4CF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WORKFLOW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3F78B4E-7C27-48C8-8400-C62600B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2A6B5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7E4EC9-E130-4004-B9FF-CD0009FB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NEXT STEP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B5A3876-6A0A-48AE-8A8F-EBAB3E9C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434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6000"/>
            </a:srgbClr>
          </a:solidFill>
          <a:ln xmlns:a="http://schemas.openxmlformats.org/drawingml/2006/main"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9DB91D-FDD8-4735-8D7C-8E6884A8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ask@kramaniti.com</a:t>
            </a:r>
          </a:p>
        </p:txBody>
      </p:sp>
    </p:spTree>
    <p:extLst>
      <p:ext uri="{BB962C8B-B14F-4D97-AF65-F5344CB8AC3E}">
        <p14:creationId xmlns:p14="http://schemas.microsoft.com/office/powerpoint/2010/main" val="274979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2026-06-15T21:52:23.1860000Z</dcterms:created>
  <dcterms:modified xsi:type="dcterms:W3CDTF">2026-06-15T21:52:23.1860000Z</dcterms:modified>
</coreProperties>
</file>