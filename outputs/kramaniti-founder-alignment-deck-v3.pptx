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aeea8c01eb490e" /><Relationship Type="http://schemas.openxmlformats.org/officeDocument/2006/relationships/extended-properties" Target="/docProps/app.xml" Id="Rd0e9a1a7b24b44a6" /><Relationship Type="http://schemas.openxmlformats.org/officeDocument/2006/relationships/officeDocument" Target="/ppt/presentation.xml" Id="Rfa2509792edd47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89e4cbcba449ec"/>
  </p:sldMasterIdLst>
  <p:notesMasterIdLst>
    <p:notesMasterId xmlns:r="http://schemas.openxmlformats.org/officeDocument/2006/relationships" r:id="R79fd01685a7c44aa"/>
  </p:notesMasterIdLst>
  <p:sldIdLst>
    <p:sldId xmlns:r="http://schemas.openxmlformats.org/officeDocument/2006/relationships" id="256" r:id="R8ddddd30f4324074"/>
    <p:sldId xmlns:r="http://schemas.openxmlformats.org/officeDocument/2006/relationships" id="257" r:id="Rd63d194799be4556"/>
    <p:sldId xmlns:r="http://schemas.openxmlformats.org/officeDocument/2006/relationships" id="258" r:id="R2c59be78de2a4f41"/>
    <p:sldId xmlns:r="http://schemas.openxmlformats.org/officeDocument/2006/relationships" id="259" r:id="Rd6e27e00cb3b472a"/>
    <p:sldId xmlns:r="http://schemas.openxmlformats.org/officeDocument/2006/relationships" id="260" r:id="R1aa8b161c59044c9"/>
    <p:sldId xmlns:r="http://schemas.openxmlformats.org/officeDocument/2006/relationships" id="261" r:id="R427266a44b7a4801"/>
    <p:sldId xmlns:r="http://schemas.openxmlformats.org/officeDocument/2006/relationships" id="262" r:id="R51af625c3f9c4b63"/>
    <p:sldId xmlns:r="http://schemas.openxmlformats.org/officeDocument/2006/relationships" id="263" r:id="R604e597f22e043ad"/>
    <p:sldId xmlns:r="http://schemas.openxmlformats.org/officeDocument/2006/relationships" id="264" r:id="R8651d5654691492a"/>
    <p:sldId xmlns:r="http://schemas.openxmlformats.org/officeDocument/2006/relationships" id="265" r:id="R6a285c475d0c412b"/>
    <p:sldId xmlns:r="http://schemas.openxmlformats.org/officeDocument/2006/relationships" id="266" r:id="Rb1fd6a952c624e2d"/>
    <p:sldId xmlns:r="http://schemas.openxmlformats.org/officeDocument/2006/relationships" id="267" r:id="R9082692deec34acb"/>
    <p:sldId xmlns:r="http://schemas.openxmlformats.org/officeDocument/2006/relationships" id="268" r:id="R06336559be9a4ad9"/>
    <p:sldId xmlns:r="http://schemas.openxmlformats.org/officeDocument/2006/relationships" id="269" r:id="R41db1080f2fc4152"/>
    <p:sldId xmlns:r="http://schemas.openxmlformats.org/officeDocument/2006/relationships" id="270" r:id="Ra03ed2b163044566"/>
    <p:sldId xmlns:r="http://schemas.openxmlformats.org/officeDocument/2006/relationships" id="271" r:id="Rc3caba29d29f459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08264ae4104e57" /><Relationship Type="http://schemas.openxmlformats.org/officeDocument/2006/relationships/slideMaster" Target="/ppt/slideMasters/slideMaster1.xml" Id="Ra389e4cbcba449ec" /><Relationship Type="http://schemas.openxmlformats.org/officeDocument/2006/relationships/notesMaster" Target="/ppt/notesMasters/notesMaster1.xml" Id="R79fd01685a7c44aa" /><Relationship Type="http://schemas.openxmlformats.org/officeDocument/2006/relationships/presProps" Target="/ppt/presProps.xml" Id="R14d1ac87caff48fb" /><Relationship Type="http://schemas.openxmlformats.org/officeDocument/2006/relationships/tableStyles" Target="/ppt/tableStyles.xml" Id="R2c22b128e66445aa" /><Relationship Type="http://schemas.openxmlformats.org/officeDocument/2006/relationships/slide" Target="/ppt/slides/slide1.xml" Id="R8ddddd30f4324074" /><Relationship Type="http://schemas.openxmlformats.org/officeDocument/2006/relationships/slide" Target="/ppt/slides/slide2.xml" Id="Rd63d194799be4556" /><Relationship Type="http://schemas.openxmlformats.org/officeDocument/2006/relationships/slide" Target="/ppt/slides/slide3.xml" Id="R2c59be78de2a4f41" /><Relationship Type="http://schemas.openxmlformats.org/officeDocument/2006/relationships/slide" Target="/ppt/slides/slide4.xml" Id="Rd6e27e00cb3b472a" /><Relationship Type="http://schemas.openxmlformats.org/officeDocument/2006/relationships/slide" Target="/ppt/slides/slide5.xml" Id="R1aa8b161c59044c9" /><Relationship Type="http://schemas.openxmlformats.org/officeDocument/2006/relationships/slide" Target="/ppt/slides/slide6.xml" Id="R427266a44b7a4801" /><Relationship Type="http://schemas.openxmlformats.org/officeDocument/2006/relationships/slide" Target="/ppt/slides/slide7.xml" Id="R51af625c3f9c4b63" /><Relationship Type="http://schemas.openxmlformats.org/officeDocument/2006/relationships/slide" Target="/ppt/slides/slide8.xml" Id="R604e597f22e043ad" /><Relationship Type="http://schemas.openxmlformats.org/officeDocument/2006/relationships/slide" Target="/ppt/slides/slide9.xml" Id="R8651d5654691492a" /><Relationship Type="http://schemas.openxmlformats.org/officeDocument/2006/relationships/slide" Target="/ppt/slides/slide10.xml" Id="R6a285c475d0c412b" /><Relationship Type="http://schemas.openxmlformats.org/officeDocument/2006/relationships/slide" Target="/ppt/slides/slide11.xml" Id="Rb1fd6a952c624e2d" /><Relationship Type="http://schemas.openxmlformats.org/officeDocument/2006/relationships/slide" Target="/ppt/slides/slide12.xml" Id="R9082692deec34acb" /><Relationship Type="http://schemas.openxmlformats.org/officeDocument/2006/relationships/slide" Target="/ppt/slides/slide13.xml" Id="R06336559be9a4ad9" /><Relationship Type="http://schemas.openxmlformats.org/officeDocument/2006/relationships/slide" Target="/ppt/slides/slide14.xml" Id="R41db1080f2fc4152" /><Relationship Type="http://schemas.openxmlformats.org/officeDocument/2006/relationships/slide" Target="/ppt/slides/slide15.xml" Id="Ra03ed2b163044566" /><Relationship Type="http://schemas.openxmlformats.org/officeDocument/2006/relationships/slide" Target="/ppt/slides/slide16.xml" Id="Rc3caba29d29f45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159e4186d54a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864925a2e423a" /><Relationship Type="http://schemas.openxmlformats.org/officeDocument/2006/relationships/notesMaster" Target="/ppt/notesMasters/notesMaster1.xml" Id="R8855bb27f81641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ec54361134ac2" /><Relationship Type="http://schemas.openxmlformats.org/officeDocument/2006/relationships/notesMaster" Target="/ppt/notesMasters/notesMaster1.xml" Id="Ra2c3da5756c14b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76411a5f4f4970" /><Relationship Type="http://schemas.openxmlformats.org/officeDocument/2006/relationships/notesMaster" Target="/ppt/notesMasters/notesMaster1.xml" Id="Rfb205d9f5b2040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219c3708a64503" /><Relationship Type="http://schemas.openxmlformats.org/officeDocument/2006/relationships/notesMaster" Target="/ppt/notesMasters/notesMaster1.xml" Id="R980ad8f14a4f4e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0929c5e77343f4" /><Relationship Type="http://schemas.openxmlformats.org/officeDocument/2006/relationships/notesMaster" Target="/ppt/notesMasters/notesMaster1.xml" Id="R1d75bc3fe669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93c9dada7841d9" /><Relationship Type="http://schemas.openxmlformats.org/officeDocument/2006/relationships/notesMaster" Target="/ppt/notesMasters/notesMaster1.xml" Id="Ra38aa9cf248c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f8ad75fb5749b2" /><Relationship Type="http://schemas.openxmlformats.org/officeDocument/2006/relationships/notesMaster" Target="/ppt/notesMasters/notesMaster1.xml" Id="Ra8e8788010744c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8d358cb4c24667" /><Relationship Type="http://schemas.openxmlformats.org/officeDocument/2006/relationships/notesMaster" Target="/ppt/notesMasters/notesMaster1.xml" Id="Rded0a5f3efee46c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bf7faf14f745d5" /><Relationship Type="http://schemas.openxmlformats.org/officeDocument/2006/relationships/notesMaster" Target="/ppt/notesMasters/notesMaster1.xml" Id="R188e8d9cb90147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20eac89e684188" /><Relationship Type="http://schemas.openxmlformats.org/officeDocument/2006/relationships/notesMaster" Target="/ppt/notesMasters/notesMaster1.xml" Id="Rcdb5c2bb9eff4b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418c2b92ea4370" /><Relationship Type="http://schemas.openxmlformats.org/officeDocument/2006/relationships/notesMaster" Target="/ppt/notesMasters/notesMaster1.xml" Id="R2d5787220eee42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419c20f115e44dc" /><Relationship Type="http://schemas.openxmlformats.org/officeDocument/2006/relationships/notesMaster" Target="/ppt/notesMasters/notesMaster1.xml" Id="Rcd5bddecdf744c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a70befb9e4817" /><Relationship Type="http://schemas.openxmlformats.org/officeDocument/2006/relationships/notesMaster" Target="/ppt/notesMasters/notesMaster1.xml" Id="Re6a42e10979a4e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4860314447f4787" /><Relationship Type="http://schemas.openxmlformats.org/officeDocument/2006/relationships/notesMaster" Target="/ppt/notesMasters/notesMaster1.xml" Id="R60701c3161584c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51bec61f0d452c" /><Relationship Type="http://schemas.openxmlformats.org/officeDocument/2006/relationships/notesMaster" Target="/ppt/notesMasters/notesMaster1.xml" Id="Re6ca0910a82e49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b90fb51cc64cff" /><Relationship Type="http://schemas.openxmlformats.org/officeDocument/2006/relationships/notesMaster" Target="/ppt/notesMasters/notesMaster1.xml" Id="R9749a452c979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e8271ce49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0198cbf57a470b" /><Relationship Type="http://schemas.openxmlformats.org/officeDocument/2006/relationships/slideLayout" Target="/ppt/slideLayouts/slideLayout1.xml" Id="R5a3387c4a9824b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3387c4a9824b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5580854ea4200" /><Relationship Type="http://schemas.openxmlformats.org/officeDocument/2006/relationships/image" Target="/ppt/media/image.png" Id="Rdf13cdd5df7040c1" /><Relationship Type="http://schemas.openxmlformats.org/officeDocument/2006/relationships/notesSlide" Target="/ppt/notesSlides/notesSlide1.xml" Id="Rd513a61602be40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a35ac8b574451" /><Relationship Type="http://schemas.openxmlformats.org/officeDocument/2006/relationships/image" Target="/ppt/media/image2.png" Id="Reb54aacde9c14e93" /><Relationship Type="http://schemas.openxmlformats.org/officeDocument/2006/relationships/notesSlide" Target="/ppt/notesSlides/notesSlide2.xml" Id="R31728f0b1e19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cc3e58623425c" /><Relationship Type="http://schemas.openxmlformats.org/officeDocument/2006/relationships/image" Target="/ppt/media/image3.png" Id="R75085b0684324694" /><Relationship Type="http://schemas.openxmlformats.org/officeDocument/2006/relationships/notesSlide" Target="/ppt/notesSlides/notesSlide3.xml" Id="Rcd3a84aadc4441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02e614f4c4cbf" /><Relationship Type="http://schemas.openxmlformats.org/officeDocument/2006/relationships/image" Target="/ppt/media/image4.png" Id="Rbcbfec332c5a44ae" /><Relationship Type="http://schemas.openxmlformats.org/officeDocument/2006/relationships/notesSlide" Target="/ppt/notesSlides/notesSlide4.xml" Id="R1bd7f588dd874f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1d1495a41d4dc8" /><Relationship Type="http://schemas.openxmlformats.org/officeDocument/2006/relationships/image" Target="/ppt/media/image5.png" Id="Reea3f80adf3147bc" /><Relationship Type="http://schemas.openxmlformats.org/officeDocument/2006/relationships/notesSlide" Target="/ppt/notesSlides/notesSlide5.xml" Id="R6f3c4f36b16746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41f3c42f946e1" /><Relationship Type="http://schemas.openxmlformats.org/officeDocument/2006/relationships/image" Target="/ppt/media/image6.png" Id="Rdf1a4e9a69f14aed" /><Relationship Type="http://schemas.openxmlformats.org/officeDocument/2006/relationships/notesSlide" Target="/ppt/notesSlides/notesSlide6.xml" Id="R0c0dffa689b041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da3b3fdb04143" /><Relationship Type="http://schemas.openxmlformats.org/officeDocument/2006/relationships/image" Target="/ppt/media/image7.png" Id="R38b090d8dfcf4168" /><Relationship Type="http://schemas.openxmlformats.org/officeDocument/2006/relationships/notesSlide" Target="/ppt/notesSlides/notesSlide7.xml" Id="Rbefde4c59c534b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8ccea40f24996" /><Relationship Type="http://schemas.openxmlformats.org/officeDocument/2006/relationships/image" Target="/ppt/media/image8.png" Id="R99328073469c46e6" /><Relationship Type="http://schemas.openxmlformats.org/officeDocument/2006/relationships/notesSlide" Target="/ppt/notesSlides/notesSlide8.xml" Id="Rcfbb5af631c040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fa46ce7404d15" /><Relationship Type="http://schemas.openxmlformats.org/officeDocument/2006/relationships/image" Target="/ppt/media/image9.png" Id="Rbf70dd4c427445a2" /><Relationship Type="http://schemas.openxmlformats.org/officeDocument/2006/relationships/notesSlide" Target="/ppt/notesSlides/notesSlide9.xml" Id="R653dd6bc7b04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b7a904e54d4c02" /><Relationship Type="http://schemas.openxmlformats.org/officeDocument/2006/relationships/image" Target="/ppt/media/image10.png" Id="R987f72fecf434faa" /><Relationship Type="http://schemas.openxmlformats.org/officeDocument/2006/relationships/notesSlide" Target="/ppt/notesSlides/notesSlide10.xml" Id="Ra66b91e05e274c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f593f5359415d" /><Relationship Type="http://schemas.openxmlformats.org/officeDocument/2006/relationships/image" Target="/ppt/media/image11.png" Id="R1d89af142ef2479f" /><Relationship Type="http://schemas.openxmlformats.org/officeDocument/2006/relationships/notesSlide" Target="/ppt/notesSlides/notesSlide11.xml" Id="R205ddaeb9a5c4f8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afcd68c694aae" /><Relationship Type="http://schemas.openxmlformats.org/officeDocument/2006/relationships/image" Target="/ppt/media/image12.png" Id="R61c370a118d74a5f" /><Relationship Type="http://schemas.openxmlformats.org/officeDocument/2006/relationships/notesSlide" Target="/ppt/notesSlides/notesSlide12.xml" Id="R3b90489455bd48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9b8e746314549" /><Relationship Type="http://schemas.openxmlformats.org/officeDocument/2006/relationships/image" Target="/ppt/media/image13.png" Id="Rfb416f8da2c44023" /><Relationship Type="http://schemas.openxmlformats.org/officeDocument/2006/relationships/notesSlide" Target="/ppt/notesSlides/notesSlide13.xml" Id="R9d3afc02b8ff483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87b286028491f" /><Relationship Type="http://schemas.openxmlformats.org/officeDocument/2006/relationships/image" Target="/ppt/media/image14.png" Id="R4735b541dec54013" /><Relationship Type="http://schemas.openxmlformats.org/officeDocument/2006/relationships/image" Target="/ppt/media/image.jpeg" Id="R798a1a08d97c4ee2" /><Relationship Type="http://schemas.openxmlformats.org/officeDocument/2006/relationships/notesSlide" Target="/ppt/notesSlides/notesSlide14.xml" Id="Rbfe7e5238b4a40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9d8818d0f4cf2" /><Relationship Type="http://schemas.openxmlformats.org/officeDocument/2006/relationships/image" Target="/ppt/media/image15.png" Id="Rcc592ca6631643c7" /><Relationship Type="http://schemas.openxmlformats.org/officeDocument/2006/relationships/notesSlide" Target="/ppt/notesSlides/notesSlide15.xml" Id="Raf11ebb05f894b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6e104370d4c23" /><Relationship Type="http://schemas.openxmlformats.org/officeDocument/2006/relationships/image" Target="/ppt/media/image16.png" Id="R56777e1377304955" /><Relationship Type="http://schemas.openxmlformats.org/officeDocument/2006/relationships/notesSlide" Target="/ppt/notesSlides/notesSlide16.xml" Id="R8af98e71360842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769B4-97D2-4E47-B021-5929342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8F61-697C-4F38-8334-093819BB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B719E-772D-4054-A9A1-44D07EA3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5E8A36-4610-47A5-BADA-03B3B0F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22AF8ECD-57D8-4CCB-9143-D1625921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7FB08971-301D-488F-B1CD-9EC9DB51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8DD3B216-CBEA-4D61-B5D6-561FC8D4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309961E3-1124-4EF6-8AD2-9E9A382B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42AC4CC-7B40-4106-8809-68C4F31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DE9C4BB5-4B49-4475-87A5-8B648698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DF0D7627-0CAE-4E26-8129-59413F1D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D80B66F1-533E-4362-8781-B8F374BE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3623F9B-0CBE-4B9C-8559-DAEC6A13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8FF611C-2441-4A5D-937E-D940207F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6E409863-AF91-40BD-B17F-857A56E6E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8E7EAD6-B419-4922-8172-79CD180F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7DCB52D7-3E48-4843-83E2-38335C44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783C236-5E8F-4393-8894-61CD22C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7E5301B4-0E99-4FC0-9C77-C3E897A1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CE48C1CC-FD2A-4FAF-ADFD-B6A119A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A3196D5C-7C8C-49F0-AB8E-10BB7DE8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2BA064C8-AB3B-4363-BA37-E1545A40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B93D3CE0-2D61-4177-9492-9ECBC073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2465B63-6896-4DD3-AE07-01814EF9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D5C667E-99DB-4C29-9764-046FF6FC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940303B-AD60-427B-A237-889A311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189562FD-D6CA-4819-B649-19C5270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77D2452-A24E-4AB0-9060-97CB7982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C1D40E5-BE51-4B76-969B-792CC4B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3962105-0237-4CE8-BAFE-9DE12B23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2516EFEC-0B0A-4538-97B4-3EC3A61D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363F4F-0F09-47EC-9316-F2A2C5CB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66FCB-9BD8-4E04-9FC4-9C226787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804DC9-DAD6-4C91-99A0-21BFAF44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8ED33-F037-4865-9308-D7C29AA8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430029-B19E-4141-AFFC-CD07E25D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CAF02-22E6-4980-9E61-22E61215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DA51F-557A-4D6B-B2E6-C5B263E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C475B-7FE9-47A9-8F39-03949380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3cdd5df7040c1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7EA05D5-9848-4F55-B9E7-5ADA6A8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6044CB-50AF-4E45-87B9-75901301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213636-41CE-4AD4-AF47-E7C7D33F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ALIGNMENT BEFORE SCALE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427A18D3-8DA5-4E8B-92F6-FA8D50B0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2573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FOUNDER ALIGNMENT DECK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2AFD6025-D878-4C27-A9AC-848C5449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76400"/>
            <a:ext cx="5334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9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Align the layers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before you build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6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6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98E84CC7-208E-407D-B025-4486301C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4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 founder-facing view of how Kramaniti turns scattered operations, unclear AI ideas, and inconsistent communication into one connected growth system.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452497-0D3D-4685-B1C2-81B798DF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332BDD-2967-40B2-8AAF-7589273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621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A5036C-3451-476D-8608-61FC87D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5621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F5889D-BB75-4B10-9CFD-17C9B5D6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5621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D1A724-F930-4AE4-8F6E-35E425C1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719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82EF7C0-2757-4509-8DF1-1AB26F4E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E9DD6A-5914-4043-8266-99BFF5D9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862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940612-0266-4778-8097-CC73B205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7190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5D64A10-DC14-4E84-B2F5-732EC839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09750"/>
            <a:ext cx="325755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D03F48-3DB0-4FC1-AB6E-7878A38E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57350"/>
            <a:ext cx="3086100" cy="857250"/>
          </a:xfrm>
          <a:custGeom xmlns:a="http://schemas.openxmlformats.org/drawingml/2006/main">
            <a:pathLst>
              <a:path w="3086100" h="857250">
                <a:moveTo>
                  <a:pt x="0" y="514350"/>
                </a:moveTo>
                <a:lnTo>
                  <a:pt x="2590800" y="0"/>
                </a:lnTo>
                <a:lnTo>
                  <a:pt x="3086100" y="342900"/>
                </a:lnTo>
                <a:lnTo>
                  <a:pt x="514350" y="85725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20000"/>
            </a:srgbClr>
          </a:solidFill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6CFEDB4-82C4-494F-89FE-6B8DE1ED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669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49142B-F5A3-48D7-8646-88E7E009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95550"/>
            <a:ext cx="3105150" cy="895350"/>
          </a:xfrm>
          <a:custGeom xmlns:a="http://schemas.openxmlformats.org/drawingml/2006/main">
            <a:pathLst>
              <a:path w="3105150" h="895350">
                <a:moveTo>
                  <a:pt x="0" y="533400"/>
                </a:moveTo>
                <a:lnTo>
                  <a:pt x="2609850" y="0"/>
                </a:lnTo>
                <a:lnTo>
                  <a:pt x="3105150" y="361950"/>
                </a:lnTo>
                <a:lnTo>
                  <a:pt x="495300" y="895350"/>
                </a:lnTo>
                <a:close/>
              </a:path>
            </a:pathLst>
          </a:custGeom>
          <a:solidFill xmlns:a="http://schemas.openxmlformats.org/drawingml/2006/main">
            <a:srgbClr val="172B3A">
              <a:alpha val="78000"/>
            </a:srgbClr>
          </a:solidFill>
          <a:ln xmlns:a="http://schemas.openxmlformats.org/drawingml/2006/main" w="11430">
            <a:solidFill>
              <a:srgbClr val="9B9BA8">
                <a:alpha val="26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583C20-F798-4C15-918A-D8E907695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40798B-8AAC-455B-8613-F8346965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3124200" cy="933450"/>
          </a:xfrm>
          <a:custGeom xmlns:a="http://schemas.openxmlformats.org/drawingml/2006/main">
            <a:pathLst>
              <a:path w="3124200" h="933450">
                <a:moveTo>
                  <a:pt x="0" y="552450"/>
                </a:moveTo>
                <a:lnTo>
                  <a:pt x="2609850" y="0"/>
                </a:lnTo>
                <a:lnTo>
                  <a:pt x="3124200" y="381000"/>
                </a:lnTo>
                <a:lnTo>
                  <a:pt x="495300" y="933450"/>
                </a:lnTo>
                <a:close/>
              </a:path>
            </a:pathLst>
          </a:custGeom>
          <a:solidFill xmlns:a="http://schemas.openxmlformats.org/drawingml/2006/main">
            <a:srgbClr val="16362F">
              <a:alpha val="82000"/>
            </a:srgbClr>
          </a:solidFill>
          <a:ln xmlns:a="http://schemas.openxmlformats.org/drawingml/2006/main" w="1143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416C92-11DB-4095-9C44-E49B406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PRESENCE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0111A8-D72A-4316-AD36-0D3C1CCE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90950"/>
            <a:ext cx="952500" cy="952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E37B09-0AD5-4549-BB04-0012CE19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3860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DFB4DF-5EBB-4F20-8821-7A094C1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6720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396518C-F70F-4B84-B39B-DDD25343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BB54968-9EBE-476B-947B-EC12F619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46B123B-2DA6-4A2A-9843-15533AC3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5A7E56-9A4F-4DA6-B025-9DAA63D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52C96A3-3087-4658-B40E-0B7E3EAE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D3E321F-4223-4E8E-91AA-11168EEF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57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27B2C6-CD2C-492B-9F33-2DD80ED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50545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2145588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9D9AE-87A8-4A3B-B688-FECC2445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B918E0-FDF4-4C57-B14E-B8EEAF14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3CD0F-7433-4867-B151-97CC78DF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630CF-4D6A-4331-BAE2-6A43723F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4710D52-60CD-47DE-A0E7-3E1B975B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D30935F7-5841-4140-980D-6C957571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22BB6E2B-3E78-496A-994B-73846101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59BBA139-95AD-49BD-B1B6-7B5AF9AD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58AFA442-88E9-4DD3-BC86-D48139E4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364942F6-48EE-40E9-9638-9EE0E116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F4343B9-3282-40CB-9C23-2DE20FEC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4836CAE-302C-4AA8-9A8F-5DB4F094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4D08F183-327B-4BA5-AC5B-C85C2D21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A9A0926-B902-484F-9B9C-0C0D7BA8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2C81914F-A994-4693-9DB6-7138D526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6D7606B2-124E-42D9-8EC0-6712B66C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EB858419-5A92-4462-AE4E-2984EBD7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E538CCD-B32C-4CDA-93B0-4E2B88C8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35359DD-3316-4D00-ABB2-9E0F7DCA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E8C6DE3-4F13-4230-88FB-DD42F48B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89B3F336-FE30-44BE-A6F8-D0FD25AC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2EBD5DE2-0F78-4C85-BD28-3B27B67D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B7315DB6-37B0-418D-ACB3-AC3BF35F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A83CACB-3707-4A27-B151-696F5DD9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094AE6E-FD24-4D2D-B622-FCD6C7B2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BDC63737-501E-4276-A4E3-3DD628D2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A2D718FC-ED6C-42AF-863F-A665B3AE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A6E8F90-E418-4E5A-8EA2-444A5218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E57DBC0-27A0-479B-B4AF-88067C9A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7957376-45C9-41E8-AAB9-7D8ED65E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BC35F6AE-3DBB-4A36-922E-C5353CC1F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9D934D-BA58-40FB-9CC0-F6C5E54D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71349A-C92A-43A6-9454-0A822B0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3EB055E-F90A-4F17-9337-C15AF1BC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825453-B3EC-424E-B307-0E9B2980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1A1822-F260-433C-8444-87CDB0C0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6F83927-7266-4BBE-A496-E85E0FF1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0C4537-DB01-4ABC-A942-9DCACDC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9F8876-9E01-4E7B-895C-E71B089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4aacde9c14e93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CA700-81DC-406B-8604-811489D7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7F00E0-5632-4E89-898E-324AA524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6E438F-D80C-4884-BD64-0BD215CB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PROBLEM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D932BA4B-97E3-4C89-ADB6-DC76A95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THE FOUNDER PROBLEM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BE8DD638-E140-4E0E-B68C-03AD7B68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Growth fragments when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operating sequence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is unclear.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DBA5C5D8-D5DF-4905-AC7D-4B744D33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88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88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issue is rarely the absence of AI. It is the absence of a shared system that connects how the brand works, thinks, and communicates.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0CB84B-3D66-4F9F-B9E5-8EE252BA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F36FCE-E0F1-4BCE-8E8B-F4CA4D1E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0500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Operations drift</a:t>
            </a:r>
          </a:p>
        </p:txBody>
      </p:sp>
      <p:sp>
        <p:nvSpPr>
          <p:cNvPr id="49" name="body">
            <a:extLst xmlns:a="http://schemas.openxmlformats.org/drawingml/2006/main">
              <a:ext uri="{FF2B5EF4-FFF2-40B4-BE49-F238E27FC236}">
                <a16:creationId xmlns:a16="http://schemas.microsoft.com/office/drawing/2014/main" id="{C5CA4657-564E-40CB-B332-12622A2A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28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4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Work lives in memory, inboxes, meetings, and manual handoffs.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EC97681-F96C-49B6-9DAA-1945EE0B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1F5111-1099-4D77-86D6-5283CD7A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162665-9F3D-4F57-81D9-F9558A21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BF6307-D02D-4F20-AFFF-BAE5EB2A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7213A7C-4ABE-4C11-95F6-5856956E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61AE83-2AF1-40E3-AA3D-EC8B4E49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628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F93A19-F7E0-4C68-9A22-81F530D1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E1D165-2AE3-4C33-AE66-DB6E895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956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Intelligence scatters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AD64A333-F7CD-49A7-A915-7E724C45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419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Tools, data, decisions, and experiments do not compound.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DE12CEA-F859-409D-8DEA-2A9E9E4B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76675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BCAE060-49A4-4AC7-A4ED-D42E5638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B68DAAD-5B2A-41C2-AB42-9071865D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6748712-DE60-46C4-8208-3FFE4B91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E8487FB-0DD0-482E-9285-A7F23CA5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ED4ECA-7164-4897-9394-0A57309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8D938E7-BBBB-4961-A9D0-BBCCCD17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434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0658C0D-3A26-4B1E-B073-98C89500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862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 disconnects</a:t>
            </a:r>
          </a:p>
        </p:txBody>
      </p:sp>
      <p:sp>
        <p:nvSpPr>
          <p:cNvPr id="67" name="body">
            <a:extLst xmlns:a="http://schemas.openxmlformats.org/drawingml/2006/main">
              <a:ext uri="{FF2B5EF4-FFF2-40B4-BE49-F238E27FC236}">
                <a16:creationId xmlns:a16="http://schemas.microsoft.com/office/drawing/2014/main" id="{F9404F2B-3F41-4247-B37F-6B2357B3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10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3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3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3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Content keeps moving, but the market signal weakens.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EDF113-6678-4BE0-AEC2-E3C01551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67300"/>
            <a:ext cx="423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2C05269-E8BE-42BB-88B8-9EC2B4BC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76D905-043C-4AFC-B43C-EDE1F4D0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51D6D1D-7C75-4A14-8640-1DF32BD7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6844EB7-D045-45E5-9388-9238139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D46E7AE-73CD-4837-81CB-9F3A8236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5010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8DE8942-0415-45FB-91F5-6F7E015E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46291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84A7D6A-DB70-4F74-A4D8-A67B7299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92D5A28-A41E-41D4-B07C-8584FB16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352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A59EB89-F118-4E66-975C-E09D6E6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525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5431D59-2170-4956-8FDB-D5F2F411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35255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5E3B791-F140-4EF5-AA56-077BBFC6C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76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21F9EFE-D465-48D2-9410-F6321C7E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38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95E1D9-A2D8-408E-ADAD-B381BCDC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23875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FB22DBF-BA05-43F8-A653-0C291C4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76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42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23750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A892BF-FFFF-4B80-A49C-AE8FF219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BBA0D1-EC86-4FDD-A808-A3D8E437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3ADDC-24A6-46CC-9987-E95CA46B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76F68-571F-4FAA-B6C9-5757E7D1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788645C-AC55-497F-B363-E120F437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18F71DF6-533D-476E-870A-829C8C7D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C079A17-B739-4DE2-AE58-E1C7D405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8ACB3B5-D652-4E8F-8F21-310024E4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60705C8-8E7D-439B-9C91-F83535F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026840B6-CE8F-410A-9E1B-05B37398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843FFA24-B0A1-4F73-A6DA-35DC3DD2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759C971-BF88-4C1F-A754-98AC105E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8E05D21C-55F3-415C-B217-9F4AC5105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44D89EC2-911C-4409-89BE-5D072AD7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960213A4-9E54-40B7-932B-B83A954E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134558B4-F848-4A18-B72E-19AC3855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49359AE1-A8B1-447A-AC1F-F19345FB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23EAE652-0961-4810-A395-0949BAD9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37BE68A7-D44B-442D-BA78-C72816F7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7A5BA16-31B5-4224-B417-F56C31DF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7C8FA6B3-8635-4E57-9BEF-03A0EB2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AF5B64F-4B0D-4978-B6DD-019FE666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5829615F-9F92-4403-8AD0-DEE6FEE4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7BC74EA-5859-4CF3-9C26-9DB2CB0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F3D05BE6-F84D-4992-8FE8-697AA7F0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702FA981-9782-44FC-B6F3-4C0D9E31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724943D-0D47-45B1-AB23-8074CD19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CBE98B3-D667-40AE-B160-DE389468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7AEF5EBD-F4C2-4CC9-83EB-9F03174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407BFD7C-7241-4293-8679-5D83409C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1265D43D-C847-4327-9AA2-1599165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B99B6-EAD7-470A-92BD-0EF51023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8521FE-0EC5-4D97-A84B-712D094B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E012F1-25A6-4DB8-8590-E9BE6D94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FDFB4C-BAF5-4B7D-8134-EF1F4369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67C37A-0A1E-4BCE-937E-E43D1AFC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1DB0E1-6A91-4953-B8DD-92B2ECF4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84F2A3-6902-48B9-A0A8-46C9D55C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4FB96E-45D2-4905-9929-C4B79D9E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085b0684324694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8A1208-EFA8-4082-88FA-B0266694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332EF7-D85B-402E-94E6-535E886A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30DEACD-1CF1-4D8C-801D-07ABCE20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DEFINITION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84A70AC5-9758-4248-955B-09BE6F72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2395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WHAT KRAMANITI IS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60FE2153-4D6F-4EDD-BFA9-5B5C5EB3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048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 first-principles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 systems partner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for brand growth.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EE44365A-1344-4DF2-BBBD-061B460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works at the level of operating logic: the decisions, workflows, tools, handoffs, and public communication that make growth repeatable.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50697A-0E33-47E1-AF14-9573F6C2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390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2000"/>
            </a:srgbClr>
          </a:solidFill>
          <a:ln xmlns:a="http://schemas.openxmlformats.org/drawingml/2006/main" w="1143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039989-2081-4152-A393-68D6788C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6757193-4482-4E3A-87BD-36CE913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1049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ACAAC4-0489-4087-981B-BA690096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1049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B1154A-59C8-4968-BFB2-71B074CE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1049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CB14562-020E-4835-AE17-11A8750C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483F090-F31E-4ADB-93B8-FE5EDD4D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81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B5027C-3C33-49E4-AEB3-E491B73E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581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BCC577-E1FC-482F-BC73-AFC0154E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56" name="micro">
            <a:extLst xmlns:a="http://schemas.openxmlformats.org/drawingml/2006/main">
              <a:ext uri="{FF2B5EF4-FFF2-40B4-BE49-F238E27FC236}">
                <a16:creationId xmlns:a16="http://schemas.microsoft.com/office/drawing/2014/main" id="{65A33B6D-9B03-42F4-B658-F7395163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668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CONNECTED OPERATING PIPELINE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FDB8D8-24D6-4330-BDBA-C8C27981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907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B40334-34AD-42D5-9851-5AE93684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193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9F3828D-806D-43AE-B601-BED170D0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3701CBF-9DC6-4299-B0D0-79A6E7AD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62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35C7BC25-1533-49EC-AF9C-C3C49BB6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24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Clarity before tools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DE8BE8E-AD45-4EE4-BCF6-7BDB837E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575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352777-48AB-43FF-875B-634C83A0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86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28000"/>
            </a:srgbClr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A77D167-54F2-4EF2-BE8F-96E57A98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4F28AC4-F4A2-4DFD-801E-711D3C15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8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66" name="body">
            <a:extLst xmlns:a="http://schemas.openxmlformats.org/drawingml/2006/main">
              <a:ext uri="{FF2B5EF4-FFF2-40B4-BE49-F238E27FC236}">
                <a16:creationId xmlns:a16="http://schemas.microsoft.com/office/drawing/2014/main" id="{7846D7BA-C7E6-4401-A963-B80F11F9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Infrastructure before scale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10B322-4F1D-4E03-8922-2FA97E92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24350"/>
            <a:ext cx="2590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B832F67-065D-4080-A6B2-34BBF482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52900"/>
            <a:ext cx="342900" cy="3429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61848FD-611E-4098-B54A-B85A699F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5290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A1D1965-EA8A-4533-84C4-AE4345F2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21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71" name="body">
            <a:extLst xmlns:a="http://schemas.openxmlformats.org/drawingml/2006/main">
              <a:ext uri="{FF2B5EF4-FFF2-40B4-BE49-F238E27FC236}">
                <a16:creationId xmlns:a16="http://schemas.microsoft.com/office/drawing/2014/main" id="{90A2DB43-0030-459B-84DB-BA603E26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77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1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1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Communication after clarity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75E6D3C-21B4-4DC5-A460-117A9CB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4343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1000"/>
            </a:srgbClr>
          </a:solidFill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7678D62-7F1F-4BE7-9C6E-653FA6C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0150"/>
            <a:ext cx="384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022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63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63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 decides what should exist. Systems make it usable. Content makes it understood.</a:t>
            </a:r>
          </a:p>
        </p:txBody>
      </p:sp>
    </p:spTree>
    <p:extLst>
      <p:ext uri="{BB962C8B-B14F-4D97-AF65-F5344CB8AC3E}">
        <p14:creationId xmlns:p14="http://schemas.microsoft.com/office/powerpoint/2010/main" val="20265361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FC402-2594-4151-9499-1E0E3E79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A0C04-34F8-4728-9ECD-21809011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1AEFB-90AA-442A-AC4C-22F1976F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AA83D-F787-4BAB-AA4C-2B2285CC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BDFA3E65-778A-4C02-A6B3-762FED68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A0E54A45-E78B-4578-ADE0-39D1FC8A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8BEF48A6-FCD8-4BB2-957F-43882C5C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D16C4D27-015D-4391-B2AB-3D6F33A1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C9A0CC4-A0B7-48D6-8655-68F95CA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B900914-4184-4A6B-9AEC-3EBA8C65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272127DB-C667-4460-8AF3-C0D0F15C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C151FA58-E5F7-4941-A8C1-063D0D577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ADA72E9-5EA0-4CE4-9EA6-EFCB238A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4B24E65-EC07-4D4E-A91F-0F2BFA1E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FB11F8B-7E29-4E35-ABD3-AF9695A7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0825E2A-1A15-4698-9C30-2295411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4C7613DA-7C03-49A4-8977-2B62BD84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143AB87-4461-4CE4-88ED-07FC43E6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E872ABB9-452E-40B6-83C4-1601E7C9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93C9D599-F950-43EE-9958-7DA7BBA2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6D6F9E74-1D30-4E9F-ADB8-B418AA1B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AE4A735-D0DC-47A3-8D68-F2684038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5F9D8DA1-3DDA-4960-A854-B16E9C31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D149A3D-9415-465A-84B6-FC622F65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BAB7B6AC-020A-4DB1-B656-00F5AB95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12E47985-AF34-427F-9F4B-3FD99831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3F057DB-4CC7-465C-83CB-3634B051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84662F7-878A-49B7-BB7B-5E3BCFB6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D1E2708-2366-4759-8AEA-6CA01696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D7C2EA09-1A1A-4383-AAB6-113DA876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9B506ABD-75A1-45B8-85C2-C9A2B301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771F61-119C-45BE-AF79-E4C4736C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C976E-FC19-4F51-ADBE-857293BB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4E7755-583F-40F4-98C3-B8A7BFBC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32CB0-9D51-4388-96A4-378D692E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E50D0E-C624-4D40-ACBA-FBA44A4F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FD72B5-98ED-4780-BB91-AF8E4F02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9D0108-F6B5-4354-9CCD-A064E44F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13A84E-6FB5-4BCD-9AE2-E8C009C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fec332c5a44ae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2252DD-9EBB-490B-B7FE-35E6B7E07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D9A981-B7A9-47FE-A8A6-B51DDF1C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D987BA-B4E0-4CF7-B7B6-43D27C2B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CORE SEQUENCE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EA7082EB-19B8-44E0-8CC8-06FEC93D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CORE BELIEF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348FC2C9-0BFC-448C-AED2-43608462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6381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 before tools.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before scale.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 after clarity.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171F7175-A9B9-4B3B-BE9E-D2CB9B8E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This is the discipline behind every Kramaniti engagement: do not buy, build, automate, or publish before the underlying logic is visible.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16AEB0-4F5E-4BB0-B64A-7CF3E157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859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3955AED-D81B-42B3-A97E-2837384E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71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7AF552-2823-459D-BD2C-560ABD72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859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76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0D8B9E-A699-4229-B81C-37EFD59A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764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6C0572B-0D8C-4F18-AF85-DF619152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28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52" name="body">
            <a:extLst xmlns:a="http://schemas.openxmlformats.org/drawingml/2006/main">
              <a:ext uri="{FF2B5EF4-FFF2-40B4-BE49-F238E27FC236}">
                <a16:creationId xmlns:a16="http://schemas.microsoft.com/office/drawing/2014/main" id="{CD430CD2-100C-4729-AAB3-AEB81F0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335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Know what the business needs to do consistently.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54EDCB-60BB-4B15-9269-33C3D530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467F62-D720-40DE-B50C-0113A4E3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140C9E-1C6A-498B-AD05-4D1182D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2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9BBDF9-0BD2-4C63-9AF1-27FBF36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180B5E-802D-4D25-A96C-6B18B703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90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5EF98246-CB7C-42C1-B396-CAECC26C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956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Build the support layer around high-leverage workflows.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44363E0-3E84-472C-B2C2-41D9487F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54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C308E62-156D-4096-BE52-3E43A569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EA8BC67-D02C-4D02-AC4C-966CE093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10000"/>
            <a:ext cx="3143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76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6DAE36-D12E-40F9-9D1C-D8BCCDF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C31A1AE-A646-4A53-A435-8B522F36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52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4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64" name="body">
            <a:extLst xmlns:a="http://schemas.openxmlformats.org/drawingml/2006/main">
              <a:ext uri="{FF2B5EF4-FFF2-40B4-BE49-F238E27FC236}">
                <a16:creationId xmlns:a16="http://schemas.microsoft.com/office/drawing/2014/main" id="{584DBA7D-E05E-4DBB-9D29-6F04F94A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57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Communicate what the business can actually deliver.</a:t>
            </a:r>
          </a:p>
        </p:txBody>
      </p:sp>
    </p:spTree>
    <p:extLst>
      <p:ext uri="{BB962C8B-B14F-4D97-AF65-F5344CB8AC3E}">
        <p14:creationId xmlns:p14="http://schemas.microsoft.com/office/powerpoint/2010/main" val="3566759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524AD-0BEC-44D2-A97C-9BA67AA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3F0BB0-1DF8-409E-986A-F786F239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8BC50-3D6E-4D0C-B047-A41C7D5C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29843-6047-48D1-A4C1-72FECB66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9974BF8-7CEC-4E85-9C64-46BC9114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C650B2C-1FFC-4B33-870C-13045DFD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C24113C6-300F-4262-BCD9-511596A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0E557F1E-69EC-4FCB-8AC6-A9B1CA44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30D9B76-19E9-418C-8BE8-5409CAB9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057DE6B-502C-42BB-8EE9-5AFA81A0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7D9D64CB-63EA-4F52-B8B6-F356075A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14BB9C4E-4163-4E9C-9463-2FB3509F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9696871-C5F9-4EEF-BBDC-A1FFAE1E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760BF65-7C86-429F-8343-76981C88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2E4C58E-710D-420E-AE84-F8D883DA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DAF5358E-2079-4BEE-A17B-1F251AAD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32F066E8-7730-4A19-81DC-CE727193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3690EA75-D121-43DC-A9FC-E78651A6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CEDB08A-DC71-43CC-936C-470E7500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F734544-E6EE-49A1-8A44-1DB377D8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17DB34BB-A1FF-4210-B301-3DF9AFACE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C8C143A8-3CE0-4AFE-87CF-A5166E0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7D99BD4D-611A-4446-B62C-3035CCF9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E253E30-D3A0-44B6-B195-30237EE0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0078A4C4-59F7-4096-BE0A-74184230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4E2A5DBC-6EA9-4476-9A0E-2D2E495B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FDC3F06A-C612-4F7C-BF7B-96343E64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6189633-89E8-491C-BBF9-CC05F3EE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0472F2A-71B1-4195-B4FB-ADF47ABD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74181DBB-7A7A-4D09-A32D-E29BA8A4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0EEE9659-5999-464D-B727-C7793D87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BAD0D0-3D5E-4B52-A568-274673B6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446A5E-1157-4FA2-B22D-FE7BBFA4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4025AA-D5C6-48AB-933E-C143B285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AB26D8-3BC6-46AF-B345-99241FB3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6B5AC1-4229-4E21-8E91-C6AD35F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155CA5-8D15-480F-920A-44BD8080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0793BB-49D6-4D3C-A4F5-3F98480C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29CBD4-1EAD-4418-8E96-08B3D76C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3f80adf3147bc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B9C293-C4FB-49C9-8BA7-F6F343E3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6023F9-D766-41BD-84C9-769FF350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2AC28C-BB28-4B01-9F54-00E12EBE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LAYERS OF WORK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6551BE44-9CB8-4213-B808-DFD1AB73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ONE FOUNDATION, THREE CONNECTED LAYERS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57EF0D66-764C-421F-AF03-B9D1FDA5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work is layered.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sequence matters.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31CC709E-7CF8-49E2-AFAE-0FD9E59F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857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does not treat strategy, systems, and content as separate departments. Each layer informs the next, and each layer needs clear borders.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1ADEA5-B78F-43AC-B1BE-B70C3726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4495800" cy="1276350"/>
          </a:xfrm>
          <a:custGeom xmlns:a="http://schemas.openxmlformats.org/drawingml/2006/main">
            <a:pathLst>
              <a:path w="4495800" h="1276350">
                <a:moveTo>
                  <a:pt x="0" y="685800"/>
                </a:moveTo>
                <a:lnTo>
                  <a:pt x="3219450" y="0"/>
                </a:lnTo>
                <a:lnTo>
                  <a:pt x="4495800" y="590550"/>
                </a:lnTo>
                <a:lnTo>
                  <a:pt x="1276350" y="127635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22000"/>
            </a:srgbClr>
          </a:solidFill>
          <a:ln xmlns:a="http://schemas.openxmlformats.org/drawingml/2006/main" w="11430">
            <a:solidFill>
              <a:srgbClr val="C9A84C">
                <a:alpha val="6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2310D4-20E0-4742-A9BD-50166239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STRATEGY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197B66-8539-482F-AE54-7A4DECF6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4552950" cy="1314450"/>
          </a:xfrm>
          <a:custGeom xmlns:a="http://schemas.openxmlformats.org/drawingml/2006/main">
            <a:pathLst>
              <a:path w="4552950" h="1314450">
                <a:moveTo>
                  <a:pt x="0" y="704850"/>
                </a:moveTo>
                <a:lnTo>
                  <a:pt x="3238500" y="0"/>
                </a:lnTo>
                <a:lnTo>
                  <a:pt x="4552950" y="609600"/>
                </a:lnTo>
                <a:lnTo>
                  <a:pt x="1314450" y="1314450"/>
                </a:lnTo>
                <a:close/>
              </a:path>
            </a:pathLst>
          </a:custGeom>
          <a:solidFill xmlns:a="http://schemas.openxmlformats.org/drawingml/2006/main">
            <a:srgbClr val="172B3A">
              <a:alpha val="78000"/>
            </a:srgbClr>
          </a:solidFill>
          <a:ln xmlns:a="http://schemas.openxmlformats.org/drawingml/2006/main" w="11430">
            <a:solidFill>
              <a:srgbClr val="9B9BA8">
                <a:alpha val="3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EF5E42-4FE2-4741-955D-0396B818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SYSTEMS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F8A6CE-FEFD-4168-927F-7B11198F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76650"/>
            <a:ext cx="4572000" cy="1352550"/>
          </a:xfrm>
          <a:custGeom xmlns:a="http://schemas.openxmlformats.org/drawingml/2006/main">
            <a:pathLst>
              <a:path w="4572000" h="1352550">
                <a:moveTo>
                  <a:pt x="0" y="723900"/>
                </a:moveTo>
                <a:lnTo>
                  <a:pt x="3257550" y="0"/>
                </a:lnTo>
                <a:lnTo>
                  <a:pt x="4572000" y="628650"/>
                </a:lnTo>
                <a:lnTo>
                  <a:pt x="1314450" y="1352550"/>
                </a:lnTo>
                <a:close/>
              </a:path>
            </a:pathLst>
          </a:custGeom>
          <a:solidFill xmlns:a="http://schemas.openxmlformats.org/drawingml/2006/main">
            <a:srgbClr val="16362F">
              <a:alpha val="78000"/>
            </a:srgbClr>
          </a:solidFill>
          <a:ln xmlns:a="http://schemas.openxmlformats.org/drawingml/2006/main" w="11430">
            <a:solidFill>
              <a:srgbClr val="C9A84C">
                <a:alpha val="44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4650E4-C12A-4152-A165-25D88AB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3860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PRESENCE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E0301C-9873-46CE-898C-3DAE4432A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257800"/>
            <a:ext cx="405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4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9CBE32-DB6D-4E70-BF77-7DE7BF79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381625"/>
            <a:ext cx="22383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OPERATING FOUNDATION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CF4C6D-80C4-4629-A91F-723C3918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624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630A0E-3694-4757-874D-236D7E7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434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Strategy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55D1FD59-4E69-42D3-B17E-BC643DE9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62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be true?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8FC462-D15A-4D82-A062-ECF8CE96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F35260D-B4EF-4E44-B003-A400D926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</p:txBody>
      </p:sp>
      <p:sp>
        <p:nvSpPr>
          <p:cNvPr id="60" name="body">
            <a:extLst xmlns:a="http://schemas.openxmlformats.org/drawingml/2006/main">
              <a:ext uri="{FF2B5EF4-FFF2-40B4-BE49-F238E27FC236}">
                <a16:creationId xmlns:a16="http://schemas.microsoft.com/office/drawing/2014/main" id="{1BC98AC5-23CE-42E8-9488-E2B5D82B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62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run?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91CE04E-6D31-4C29-8C67-83A73CFE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C1A0873-E33F-427B-B3CD-9B98E5E5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43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DD0067C7-E72A-4CAF-87C9-482BAB31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162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01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What should be understood?</a:t>
            </a:r>
          </a:p>
        </p:txBody>
      </p:sp>
    </p:spTree>
    <p:extLst>
      <p:ext uri="{BB962C8B-B14F-4D97-AF65-F5344CB8AC3E}">
        <p14:creationId xmlns:p14="http://schemas.microsoft.com/office/powerpoint/2010/main" val="20388301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8E0245-FBF3-4171-A4F5-05587A78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C7995-AA85-4E1C-B98B-C91885FA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D3746-5C29-461D-B7DB-939CA8DA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A98DC-11AD-4550-A371-C9593075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9B4D6337-CF35-434B-A4AA-0CFBF2C4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6A47BEA-C2E4-4C8A-9108-6B955424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14424254-FAD6-46AC-839A-F7E1D38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24D41A0C-C18F-4012-8A5A-ED1913C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B5CF9EF-331B-4CE1-9738-2EB37284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8C378F0A-401F-46A0-8F46-175B35A5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62F416BD-E6C8-4CCD-95E6-FEAF98FD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6AE22E1C-56A8-4DCE-A296-10072C47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B861B4DC-1E36-48A4-86BE-280CBA9B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F2CB8CEB-2B93-4434-A1C4-B3CC93F2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ABD794BF-2D60-4FDF-A064-734B68A2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E52D4DE-FEEF-4D95-92D8-90541E5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98C2BCB-DD08-4342-994E-27025855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823A89B-B361-4173-A17D-F9A4546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2173F87-9C7B-4B1D-842F-3055D7EA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B2CA804F-6910-4298-97AF-EF48CD96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5E7198E0-2148-46D6-8A40-384BED3C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5CB8867A-FE63-4D1D-B3FE-4E2F94B8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D956D59A-8759-4A49-BB73-408CFAC3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27181CFA-8D0A-4DBA-A81F-C7C16E75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F9F7C58-D0D7-41F7-A1D2-559A9C43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A16A7EB0-610E-49D0-A4DE-788DD786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EC4AD94-1CAB-4028-8ED3-C483483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3A2B1633-C0FE-41AC-B6B9-8E3CF50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CFA2995B-99E5-411D-BE26-B10B1369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AAB9B451-56FA-4A38-8CB3-FA608AFB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4E9E79B3-D216-4545-BF3E-D1F052AF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CE0097-9F40-4C88-A9BB-5459DB72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FCE269-4EBF-4CC1-A2A3-096F014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243E2A-03DA-459B-8115-DD5DEC79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2E52D-2B29-413A-9AD4-AB18ACD5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00597B-CA6F-4985-BAA6-BE8DD2A5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72CBAB-D879-4826-B608-E3FC5EB7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BD9E43-62B5-4CFB-A43F-04983686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5C3531-8FE1-4D68-BDFA-67118547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1a4e9a69f14aed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41AC07-A5AC-4998-B6FC-DA0F28ED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13786B-9170-428A-B248-247B7961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56B00E-CEDA-428D-81BA-75CFD77A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01 / STRATEGY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0B8D7EA7-B1EC-40BD-97F6-E63ADD42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01 / OPERATING DIAGNOSIS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B4617979-0F2A-4165-A555-A1AE9F95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334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4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Map how the business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actually works before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defining the build.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A226306A-6244-4034-B05C-F0AAFF9F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857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This layer converts founder intuition, team habits, and hidden handoffs into a visible operating map.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AA9B8B-665D-4401-A9D7-9A4069B7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4095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6000"/>
            </a:srgbClr>
          </a:solidFill>
          <a:ln xmlns:a="http://schemas.openxmlformats.org/drawingml/2006/main" w="11430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236839-F58E-40E7-8DA0-0ECA616F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C9909CC-4790-48BF-971D-157422CA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66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141E46-9B46-44AC-A13B-99B65C7F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66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4CF74FB-04B6-4C06-BDCE-E2E54723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66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5681777-C358-47A3-BBC7-EE9541D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57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48FD07F-3AA9-4013-9F31-DA062BA0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E20C72-F513-4535-BF08-CF782EF3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388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889D299-1000-4E35-B328-97A014B5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257800"/>
            <a:ext cx="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5000"/>
              </a:srgbClr>
            </a:solidFill>
            <a:prstDash val="solid"/>
          </a:ln>
        </p:spPr>
      </p:sp>
      <p:sp>
        <p:nvSpPr>
          <p:cNvPr id="56" name="micro">
            <a:extLst xmlns:a="http://schemas.openxmlformats.org/drawingml/2006/main">
              <a:ext uri="{FF2B5EF4-FFF2-40B4-BE49-F238E27FC236}">
                <a16:creationId xmlns:a16="http://schemas.microsoft.com/office/drawing/2014/main" id="{AA37126D-3F0E-407E-B719-3608C251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AUDIT LENS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BA4D26-0EB1-4FD6-A85C-7238BAA6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00250"/>
            <a:ext cx="2781300" cy="2781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5D96EE-3F9A-4119-A4D3-7C7225AB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1460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3DBAAB-5AB4-40A4-ACFD-4A376F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18000"/>
            </a:srgbClr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0A1621-FE22-421B-AD14-6F8EA83F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33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E570D7-4499-4232-8A49-5B54DECD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WORKFLOW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8AE6A4F-E207-4DA9-9D1E-823EEAAA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0" cy="-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E2D84E-69E6-4FA5-8611-0E2EEB9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A0C610-904D-401A-83F5-A26AF527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4330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HANDOFF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144F69-D71C-4D38-8454-68DF878A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102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9D5444-B66E-4F78-81BA-9E41D3CFF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714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EC1F6D-A2D1-4400-8817-33178E6A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3395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BOTTLENECK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6960E68-3471-443F-B7BB-C001AB91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0" cy="1390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98A41D7-73FF-44ED-9681-D32167B0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242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E99F63-082F-49D2-91EE-AA8527B7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43300"/>
            <a:ext cx="1066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60" b="1">
                <a:solidFill>
                  <a:srgbClr val="9B9BA8"/>
                </a:solidFill>
                <a:latin typeface="JetBrains Mono"/>
                <a:ea typeface="JetBrains Mono"/>
                <a:cs typeface="JetBrains Mono"/>
              </a:rPr>
              <a:t>PRIORITY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57157F2-24EB-43E3-BAF4-534F4F92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90900"/>
            <a:ext cx="-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48FCA2-EBCE-4210-A362-096CBCFE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371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DCB7811-7101-4F43-A568-C0A7A16B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662454-CBAA-4966-8E74-8FE47954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OBSERVE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8E201F-E5C4-447F-9FBC-DB2ED91D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FD3946D-6F02-4C8C-AF6A-2E2F30E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MAP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2E022D-BC02-4264-9E53-62818053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F4772E2-B090-4A3B-B18E-45F4BB77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0292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PRIORITIZE</a:t>
            </a:r>
          </a:p>
        </p:txBody>
      </p:sp>
    </p:spTree>
    <p:extLst>
      <p:ext uri="{BB962C8B-B14F-4D97-AF65-F5344CB8AC3E}">
        <p14:creationId xmlns:p14="http://schemas.microsoft.com/office/powerpoint/2010/main" val="712774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955E6-3337-460F-B4D1-D140ABB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F3806-1ACA-494E-8DA9-B75F603E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2379B-20BB-4B6B-B496-6D8C1F78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98054-AFE8-4739-BA28-C56D69F0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2943C50-2103-45F6-9F9F-C4AC1DBF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8BF0690-07D5-40EA-BB44-10BD3E89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4C1803F6-6BA4-4A4A-ABF9-7A4C052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084E32C-A0D6-43BF-B068-1120877D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8C90C9B5-DC09-492B-B2FB-7AFFE008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F210FCF-E7D0-4D5D-AA5F-60819D94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C88D9179-689B-44FD-8C11-28922D3C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A69F1B6D-24D9-49AA-AA4A-1B951E20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DB91017-5145-403E-B13F-927C4641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987FD85-BB0F-4C24-BBA6-67F65D64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7C18523D-38D1-49DC-AE0D-BF41B0A1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59F083E4-1B4D-428F-BB6C-14449D89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690B10ED-EFBC-4681-9D0F-0E9B16E0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8E9E1B99-D2DC-4906-B459-41475B01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537E6AA0-F6FC-40AA-A432-19D6EC06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A6317F0E-BF90-4320-BC34-F87A7500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8F5BBF56-68F6-4776-A8CA-F0ACB85A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B97F5A5A-AC68-41F6-A9AC-529D6E0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7F51C75D-698D-42E9-AE62-DFCC99E5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C5F7CB7-7F40-4651-996F-08476B7D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2A6AB47E-AE2A-40F3-9E0D-A3B2A817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CF11303-C42E-4B39-8829-2D143680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02C7B343-0AA6-4631-AAF8-A4A6EF4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E3B93C5E-D0B4-45F6-96A5-AAC76F63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35D620CB-5881-46D8-B626-FE79F09A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8F399065-B557-4BFC-8A52-A5D67AA6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A441E883-0850-4243-AFC1-81AB87F6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33169D-2669-4A08-A0B7-A95AE2B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DB3556-67EB-495E-A91F-A7DEDCDE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F78BF2-F927-4376-A844-4D9CB2DA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D878C5-C894-4A45-8962-CE4D135A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84711A-6336-4CB9-A1F0-21EE137F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21F66A-09AA-49D3-BADB-9CACA6F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4C8792-0D20-4B9B-B868-FF9F4D1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5E0526B-3712-4BF1-954F-2C11E562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b090d8dfcf4168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BFF873-6227-4CBA-93F7-0489BAE8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228B25B-F28B-4165-B120-475EE473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ED39C-B086-43E8-8293-6E39DD58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02 / SYSTEMS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50CB0D71-70E3-4C16-A0B6-5F4AB2D0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02 / PRACTICAL SYSTEMS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509124EE-E57A-4275-8920-A66110C4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 support systems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around priority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workflows.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49525A13-CC6A-4DE7-9912-3A08E136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build is workflow logic plus support tools, documentation, integrations, and human review checkpoints.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399A73B-A1E7-4221-9FF3-5E1A5929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43000"/>
            <a:ext cx="48577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1143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8" name="micro">
            <a:extLst xmlns:a="http://schemas.openxmlformats.org/drawingml/2006/main">
              <a:ext uri="{FF2B5EF4-FFF2-40B4-BE49-F238E27FC236}">
                <a16:creationId xmlns:a16="http://schemas.microsoft.com/office/drawing/2014/main" id="{F3928FEA-CEB1-4734-81B2-9C604D23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WORKFLOW BUS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621A47-DB5E-48BE-95ED-32C2F3D8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34F2707-2450-46AB-9C65-C6F91B3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08D267-8E12-4FB9-9F86-F8BAF6D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679DE1A-D00D-4663-9D0F-B74E4BC4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INPUT</a:t>
            </a:r>
          </a:p>
        </p:txBody>
      </p:sp>
      <p:sp>
        <p:nvSpPr>
          <p:cNvPr id="53" name="body">
            <a:extLst xmlns:a="http://schemas.openxmlformats.org/drawingml/2006/main">
              <a:ext uri="{FF2B5EF4-FFF2-40B4-BE49-F238E27FC236}">
                <a16:creationId xmlns:a16="http://schemas.microsoft.com/office/drawing/2014/main" id="{314C26A4-71AB-4533-A787-4F8C6CB4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business reality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14A9F42-8E32-4C72-BE85-E917FA01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9B56DF-0F73-4D00-BF8E-CEE905C9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61A868-B51C-4745-942F-1A4B07C2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LOGIC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98825E2E-E8F3-4A47-BE2D-5922D61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rules + exceptions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E3B435-6050-41E4-9360-62BB1964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CB2B90A-96A0-424B-8843-F390897D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A3F7F8-ACDB-4F79-AD6A-6E489983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SUPPORT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AE6ED551-7D50-449C-9B98-66E45AFA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AI + tools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3ECE23-C636-48E3-ACD0-E5B919EB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9CD0959-8A49-4E02-A6C4-F1FC9B66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1543D8-4B5E-44D8-B2D2-DF7B777D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REVIEW</a:t>
            </a:r>
          </a:p>
        </p:txBody>
      </p:sp>
      <p:sp>
        <p:nvSpPr>
          <p:cNvPr id="65" name="body">
            <a:extLst xmlns:a="http://schemas.openxmlformats.org/drawingml/2006/main">
              <a:ext uri="{FF2B5EF4-FFF2-40B4-BE49-F238E27FC236}">
                <a16:creationId xmlns:a16="http://schemas.microsoft.com/office/drawing/2014/main" id="{EFEE44A6-D070-4ECD-A49D-7D87AF15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human checkpoint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3CEA5C-C11E-4FE5-B717-BC7903F3A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05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0AB759-427F-4916-8A15-9E8D2DB6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669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13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B5283C5-FF66-4132-8939-49EF5CA4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574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OUTPUT</a:t>
            </a:r>
          </a:p>
        </p:txBody>
      </p:sp>
      <p:sp>
        <p:nvSpPr>
          <p:cNvPr id="69" name="body">
            <a:extLst xmlns:a="http://schemas.openxmlformats.org/drawingml/2006/main">
              <a:ext uri="{FF2B5EF4-FFF2-40B4-BE49-F238E27FC236}">
                <a16:creationId xmlns:a16="http://schemas.microsoft.com/office/drawing/2014/main" id="{3AC9D858-AF5B-4DC7-A37B-3EEB8CE6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100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79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79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usable system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42088BF-9E3D-47F7-918B-82FDBE1A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228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2F">
              <a:alpha val="72000"/>
            </a:srgbClr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2F22A0-942B-446A-AD79-A8A0B061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38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905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Designed for appropriate reliance, not blind automation.</a:t>
            </a:r>
          </a:p>
        </p:txBody>
      </p:sp>
    </p:spTree>
    <p:extLst>
      <p:ext uri="{BB962C8B-B14F-4D97-AF65-F5344CB8AC3E}">
        <p14:creationId xmlns:p14="http://schemas.microsoft.com/office/powerpoint/2010/main" val="627390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CFE0A3-1A47-4550-8F25-B108005F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79E4A-19F1-4D99-BAB1-796E2ACD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B0A27-5EBD-43F0-9D65-C64A687C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1C1EB4-D69D-4C98-AAD6-B118C45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E344C4B-3000-4880-A190-12B4163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24FEB1F4-C14A-4F44-B32E-28023501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65CB5468-1699-4473-B95A-BBBFE9ED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8AB122E-5C34-42E3-B272-D536D89F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C2920AFA-EC11-4CD9-AD38-D43859A0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1A2BCE53-9EBB-4BEE-95D5-5C6CCA05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B29B29CE-F411-438F-9B76-6498F72E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D5D12A0-3C5E-47A4-993E-E1B57133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E3E9C7C-848F-453E-B194-F04258E5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63E5F98-8C83-45BF-B054-BF940C5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D8DA66DB-E8B1-4A8A-9306-4A5E1EB2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AEC795A1-F82D-4417-A409-A79505C0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50911B25-D9CB-407F-8E2F-FCE56DD6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BC0AB17A-8D5F-4E82-B9BB-EC2FE288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2ACB67F5-BF40-43A7-920E-D5EFE3C1F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B26D3F0D-CA73-496E-A51C-542B63D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50064433-D502-400F-AF7B-A7308ECD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23F01256-90F5-465F-A1B9-D9DB40286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27FADA98-9BCF-44B6-A6C3-E226683E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9292D7FE-5C33-46A3-B921-FB4107D2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1A0EB92E-D594-478E-BC40-1E5E4221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10972BE-1876-43AF-B5DF-F7B8C6DA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5CCC64C-3AEF-4BE9-AF57-409DF96B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AA031E8A-C64A-43A9-B395-BEA2D699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88B86E55-5709-4388-B4FF-22B05D41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343B4D25-D727-4D3E-8676-906A8D24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7959AAB5-276E-4C97-9FE9-3AEC70CA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C1ABAB-8E4D-454F-99EC-4D4D7890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B96956-6763-4301-8EE1-1E5F44FE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647560-ABB3-409B-A4DE-ED8B6DEF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E249E0-656C-46BF-9DE7-888FAF76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4136A6-C208-4D0A-AA6F-1A5F2AB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1F42A2B-5E7B-4FCD-A97B-6E5C6647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1C3D49-B8DE-4D17-B66A-C81A6DEE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DE7AA4-22D9-4BA8-B967-949130D4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328073469c46e6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75CA6B-8E45-4216-94B3-BE735BA4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626E4D-0B3E-4FA3-86B3-5F95F1E8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473D50-11AE-401F-895E-0C67C022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LAYER 03 / PRESENCE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288476C4-193E-404A-8800-93CC8427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LAYER 03 / COMMUNICATION SYSTEM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E892AF74-E38A-44D9-A89B-69DA0F2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Translate internal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clarity into external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trust.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03D5C6E7-84DF-45BA-9380-839BF4EA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Content becomes valuable when it reflects how the business actually creates value and gives the market a clear signal.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4D924E-3A5E-48CF-AA97-AA25AE03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4762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C7AE70-7557-43AF-9FC8-6363321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CC245E-A1E8-4259-AAB1-42C5CF5E6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123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94710F6-08AD-4EEB-B1F5-E2345B9C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1239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FB6EA0-DA3B-4B7D-8F9B-317907DB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1239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88CD9C-CE53-4479-9140-C6549C3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00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F1C3BF0-B472-4120-92A1-0ECBAFD9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00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2CCC80-12BD-4182-A949-71637CFF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6007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EA1748-1AC8-43A2-82BB-46D78F1D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006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4A9087-DD17-4EB2-8B30-6A781929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097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D854E89-32A4-498A-B00A-EB8F42C8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52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Narrative</a:t>
            </a:r>
          </a:p>
        </p:txBody>
      </p:sp>
      <p:sp>
        <p:nvSpPr>
          <p:cNvPr id="58" name="body">
            <a:extLst xmlns:a="http://schemas.openxmlformats.org/drawingml/2006/main">
              <a:ext uri="{FF2B5EF4-FFF2-40B4-BE49-F238E27FC236}">
                <a16:creationId xmlns:a16="http://schemas.microsoft.com/office/drawing/2014/main" id="{9D9109FC-60CA-4D74-A5C2-2CBA5BA6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Founder story, category frame, point of view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992F1C9-C47A-4ED3-B463-2BBF761F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431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EC08D0F-7C9A-4E96-9670-797ED127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0955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D074C7-73DA-4AE5-BB24-F1AEBCF5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194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62F">
              <a:alpha val="88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AD5913A-B1C5-46DA-82B9-DD68EA0E5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622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 system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6C34C0B3-5684-4392-8502-7932D47D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2897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Formats, channels, cadence, repurposing logic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C42DC7-B422-44C6-8FC8-2E00ADEF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DD848BA-9950-4750-A2D6-811805F8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637EC5-5595-4F13-B0CB-DD29D18B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29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D9674A-E325-4BD7-80F9-F461839C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71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Governance</a:t>
            </a:r>
          </a:p>
        </p:txBody>
      </p:sp>
      <p:sp>
        <p:nvSpPr>
          <p:cNvPr id="68" name="body">
            <a:extLst xmlns:a="http://schemas.openxmlformats.org/drawingml/2006/main">
              <a:ext uri="{FF2B5EF4-FFF2-40B4-BE49-F238E27FC236}">
                <a16:creationId xmlns:a16="http://schemas.microsoft.com/office/drawing/2014/main" id="{D976AC4E-5624-44EB-AD2B-E7EB0D99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38625"/>
            <a:ext cx="2724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6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6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Ownership, review rhythm, standards, removal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744A0F5-69FF-4B5D-905D-E40E3F9D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62425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20AA69-E1A6-42EE-8BF2-73C0E914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9525">
            <a:solidFill>
              <a:srgbClr val="C9A84C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54FDED1-1C87-4145-AF7B-7B869D0C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396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4000"/>
              </a:srgbClr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12EDCB2-E33E-4880-92E7-2E495CFC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48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5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Presence is not output volume. It is internal clarity becoming market trust.</a:t>
            </a:r>
          </a:p>
        </p:txBody>
      </p:sp>
    </p:spTree>
    <p:extLst>
      <p:ext uri="{BB962C8B-B14F-4D97-AF65-F5344CB8AC3E}">
        <p14:creationId xmlns:p14="http://schemas.microsoft.com/office/powerpoint/2010/main" val="965263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2CAC90-AE24-4139-A7B7-4421239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9F0F4-DD67-4087-85AC-3BA4BD3D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FFB3B-FC46-4748-AC97-FB267C3E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208FC-5349-4FFF-A95D-B90F69C3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DB05B52-C41D-4007-B9AB-A01F45B2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E0524CF-1C0A-4BDE-898B-9F175F45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9F2EA382-0681-4E11-9FC6-F00F222B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606F795C-BB41-4192-A556-DE3D3D6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243C9B53-AD4B-40E7-BCFE-AF94056B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D5D8764-83F3-4798-B049-4E01563D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1AF815C-85FA-424C-B87C-6B5CD0A3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4DEA8CD5-0A2A-40A6-8DAE-26339A7A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641BE85A-1425-4F92-B6DC-743F1351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90715760-CC37-4581-9F81-BFA5C25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E13E79C9-C93F-485D-B5E0-3E2B02C0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77CC41EC-AFCF-4E81-A1E6-CC67DC1B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AB5E95E-C7B4-4D9A-9C1C-52E0814D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1B6958A0-45A1-4EFD-AA1F-72E23BE9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B7DCD5A-5F89-4C72-A3A6-1647A459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83022300-A3CC-47C1-9FD1-E068BB2A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CF70906D-AAE2-4CA9-A6E3-476B6CB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A56F3208-E344-4DCB-81DB-FA54449C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15109FC8-AC95-4B0E-9051-33F17314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5C1C3E71-7CD5-4C7E-A188-BCF5E757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A01B5F87-57AC-4BA1-9EBC-243AEE6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B5019358-8BE9-46E7-8005-3EBB5FD7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7C8E6F6-F7BA-4971-B5A7-D832A414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D777707A-A0AD-4644-9B9F-F902D022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41BC78E3-C51E-4B20-8D19-B77EF190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886FEACD-ED3A-44A8-A425-F179F300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01E3EF16-0281-4C6C-9DB2-1F136EA0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BF55F2-3740-4CEE-8C3B-069E5641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CAAC50-0441-4860-87F9-02D6A494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1230605-A1EB-4440-A856-B0FC0B10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01DC60-8F7D-49BC-8735-020BF8ED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2A95CB-A9A4-4181-8757-EAF8CD2C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86821D-4D7D-4689-8BE6-D7C60F73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263576-7867-4A30-B33A-E10372A3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AC4984-CBCD-41EA-BAD4-7A00A146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0dd4c427445a2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07B70-29A3-4ED5-98F5-86B5E358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63BB4-9B16-4162-8077-F71F4325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09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FAFCDF-F2C0-414F-B703-7E36F08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AI ENABLEMENT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8499F2EF-C866-4F19-85BB-4D25927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HUMAN-COLLABORATIVE SYSTEMS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ED7E2BC4-B880-4ADC-9084-29BB0C19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52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63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 should assist.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Humans should lead.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3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3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 defines where.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489041D5-E315-455C-9E69-5B32CB0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clarifies what is automated, what is AI-assisted, what needs review, and what must remain human-led.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22E0D0-DD71-4208-ABF8-AE2173D1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095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78000"/>
            </a:srgbClr>
          </a:solidFill>
          <a:ln xmlns:a="http://schemas.openxmlformats.org/drawingml/2006/main" w="9525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D80BB7-9984-4310-9665-B0A2FB53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4325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79A15F3-F493-43C9-8526-F59AE993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43100"/>
            <a:ext cx="0" cy="240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8A23BDA-BBCD-4402-9AFF-7712DFF8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335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REVERSIBLE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B866B1-84F7-4F37-A622-25C9E5E5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33550"/>
            <a:ext cx="114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HIGH RISK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E584492-3BEF-4CEA-A578-7EC51D11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E16A9C-E8BA-4D4F-B8F5-CD1A3687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Automated</a:t>
            </a:r>
          </a:p>
        </p:txBody>
      </p:sp>
      <p:sp>
        <p:nvSpPr>
          <p:cNvPr id="54" name="body">
            <a:extLst xmlns:a="http://schemas.openxmlformats.org/drawingml/2006/main">
              <a:ext uri="{FF2B5EF4-FFF2-40B4-BE49-F238E27FC236}">
                <a16:creationId xmlns:a16="http://schemas.microsoft.com/office/drawing/2014/main" id="{3D515344-0928-4A62-8670-EA2EFE24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669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repeatable steps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CCCDEC-7C54-4F47-AF4C-ABA9D213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764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B24D000-5BFB-4DAA-855D-4207627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AI-assisted</a:t>
            </a:r>
          </a:p>
        </p:txBody>
      </p:sp>
      <p:sp>
        <p:nvSpPr>
          <p:cNvPr id="57" name="body">
            <a:extLst xmlns:a="http://schemas.openxmlformats.org/drawingml/2006/main">
              <a:ext uri="{FF2B5EF4-FFF2-40B4-BE49-F238E27FC236}">
                <a16:creationId xmlns:a16="http://schemas.microsoft.com/office/drawing/2014/main" id="{C0EBE55C-1F66-4DCE-B233-F4F3D0DC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669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drafting + synthesis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7DB8B3-8B93-425A-BF16-FF4D7189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2693A3-5F6A-4A24-BA93-F4E80F07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886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Reviewed</a:t>
            </a:r>
          </a:p>
        </p:txBody>
      </p:sp>
      <p:sp>
        <p:nvSpPr>
          <p:cNvPr id="60" name="body">
            <a:extLst xmlns:a="http://schemas.openxmlformats.org/drawingml/2006/main">
              <a:ext uri="{FF2B5EF4-FFF2-40B4-BE49-F238E27FC236}">
                <a16:creationId xmlns:a16="http://schemas.microsoft.com/office/drawing/2014/main" id="{51B8118F-3834-412C-A067-A95AECB2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433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judgment checkpoint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E270FD-E792-49A5-A134-F1857B1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BDF683-6E4A-4549-8662-8BA1901B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350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Human-led</a:t>
            </a:r>
          </a:p>
        </p:txBody>
      </p:sp>
      <p:sp>
        <p:nvSpPr>
          <p:cNvPr id="63" name="body">
            <a:extLst xmlns:a="http://schemas.openxmlformats.org/drawingml/2006/main">
              <a:ext uri="{FF2B5EF4-FFF2-40B4-BE49-F238E27FC236}">
                <a16:creationId xmlns:a16="http://schemas.microsoft.com/office/drawing/2014/main" id="{83FCB8B1-1879-478B-B344-CB35D5B1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143375"/>
            <a:ext cx="1314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23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23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trust, context, risk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FB37DE-D046-4FFB-861A-86CAC94D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24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34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425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decision rights</a:t>
            </a:r>
          </a:p>
        </p:txBody>
      </p:sp>
    </p:spTree>
    <p:extLst>
      <p:ext uri="{BB962C8B-B14F-4D97-AF65-F5344CB8AC3E}">
        <p14:creationId xmlns:p14="http://schemas.microsoft.com/office/powerpoint/2010/main" val="13006780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AE260C-9483-41DE-9B47-C24285E2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20713-D57A-4562-BE67-5A750DB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C10D7-557C-45A5-8963-4065CB9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E32A1-EBAC-463B-B001-63778418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038A240F-D060-4187-BE3C-6AABBC76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C73C34DE-4EFE-47B2-ACBE-62E33655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4C6E274E-AB99-4E1A-9EFF-33685A5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E9B29226-2755-4BEB-99AC-03F6A64B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7C18E17-FC1B-49CE-83E5-55B6646B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B9F7FDE2-3C82-416C-BB3D-40E4069B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408100F-37F4-477F-A2BD-0D805D0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7AEAB6EC-A7B8-4247-960B-0944F53C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92748C6B-70AD-4DA2-89EC-CCF018D8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A3F2E9C9-54E9-4BB2-BFC5-12E63C22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CEFC3DE-0C2B-4804-905A-926E8365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0BCABF9F-9716-4079-9F8D-5E69497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075A8E5-4905-4192-84FE-5F7043D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7CFE0A88-F0C2-46DA-B32B-C9156784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648616FB-F081-4022-A880-71F5A913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FAA5BE24-CE23-46A0-A652-5B59D420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EC835AB0-C4B2-4078-AF70-B4467B2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746DD468-6A91-42F5-A37F-0607FFCD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F2E70D36-1E60-4580-98F2-1144830C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BEA8E51E-00C4-4586-8B17-EE486C4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6CCFCDC2-008E-4CCB-A216-6CD0FD1D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E463146-2DB1-45E5-BE2E-DC80952D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70E4BA62-9342-408B-979A-437055A0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C6E09CB-81DD-4DF5-A4B3-3AE5D54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B0D499AF-DD5A-43B0-BCF7-D316A1BB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5714F93A-5ACA-41A0-96E7-F3270853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86708E89-B7FF-48C8-9FD5-8A1107E3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85EF35-5485-4A48-9C24-6DEC9B4A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9D4644-C40B-4244-AEA0-7FE92B18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BC7F70-C31B-4DC5-B3B0-96649994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1BCE1C-39AA-4C02-833E-A877373E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926F67-7258-42F5-9A11-DFE77B369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B29A8-ECC6-4233-8605-969DB7CB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8E0A8E-A329-46E1-8B90-D846C78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538824-FD04-4D79-B416-EAEF9997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f72fecf434faa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777E0-C019-4CF8-AEA0-9A8DB48C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58D4F4-38C2-4A5A-9E83-7C498B0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B7BB8F1-89D9-4C93-BB5B-835A73C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OFFER ARCHITECTURE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979B01C5-EC9F-4436-B3AD-9EDABB8D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THREE OFFERS, ONE OPERATING LOGIC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243E8EDA-33D7-4D3C-9CDA-A8C68558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33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2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Choose the entry point.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4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4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Keep the sequence intact.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BC228EDF-6631-483C-9AD2-5FAD20E7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908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service architecture gives founders a practical way to begin without losing the connection between clarity, infrastructure, and presence.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B52175-F475-4894-A1EF-A72F3752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6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D4C3C2-DE81-4830-B55E-69C4532E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81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E862C5-8904-4C5F-8209-5D03178F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24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4F6F6C-D3B7-463B-94EA-368536AD1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57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Foundation Strategy</a:t>
            </a:r>
          </a:p>
        </p:txBody>
      </p:sp>
      <p:sp>
        <p:nvSpPr>
          <p:cNvPr id="51" name="body">
            <a:extLst xmlns:a="http://schemas.openxmlformats.org/drawingml/2006/main">
              <a:ext uri="{FF2B5EF4-FFF2-40B4-BE49-F238E27FC236}">
                <a16:creationId xmlns:a16="http://schemas.microsoft.com/office/drawing/2014/main" id="{DC506069-3AC5-4D47-A56D-1B388C56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Audit, diagnosis, roadmap, prototype specification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F34780-B74E-44EE-B478-62BF3E3E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6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C7B422-4723-457C-85C4-6A8A3415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24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B16C01-3F6C-45EF-B390-D0A564F9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67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38A176-87A3-4231-ACFD-C334974B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0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Engineering</a:t>
            </a:r>
          </a:p>
        </p:txBody>
      </p:sp>
      <p:sp>
        <p:nvSpPr>
          <p:cNvPr id="56" name="body">
            <a:extLst xmlns:a="http://schemas.openxmlformats.org/drawingml/2006/main">
              <a:ext uri="{FF2B5EF4-FFF2-40B4-BE49-F238E27FC236}">
                <a16:creationId xmlns:a16="http://schemas.microsoft.com/office/drawing/2014/main" id="{8F7730EF-2068-4826-B5FE-0D069EC14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62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9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Workflow design, practical AI tools, documentation, adoption logic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8FB7AE0-1743-4218-9035-28589610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6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C55240-0475-46AD-A4EA-F330442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D6A48A-CA87-48E9-8C38-68E72F9C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10025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67CBBC-CECA-4AAF-91E1-A223996C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433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9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Complete Lifecycle Retainer</a:t>
            </a:r>
          </a:p>
        </p:txBody>
      </p:sp>
      <p:sp>
        <p:nvSpPr>
          <p:cNvPr id="61" name="body">
            <a:extLst xmlns:a="http://schemas.openxmlformats.org/drawingml/2006/main">
              <a:ext uri="{FF2B5EF4-FFF2-40B4-BE49-F238E27FC236}">
                <a16:creationId xmlns:a16="http://schemas.microsoft.com/office/drawing/2014/main" id="{46A80610-3439-4C20-A660-AF6CA423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8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99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99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Ongoing strategy, systems, content, maintenance, optimization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4937D3-8529-4C74-878A-63BFCF69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2000"/>
            </a:srgbClr>
          </a:solidFill>
          <a:ln xmlns:a="http://schemas.openxmlformats.org/drawingml/2006/main" w="9525">
            <a:solidFill>
              <a:srgbClr val="C9A84C">
                <a:alpha val="32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7FE942C-9D88-4A2E-BF56-42A7F0C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24475"/>
            <a:ext cx="40957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AI Enablement &amp; Adoption sits inside the service layer, not as a fourth offer.</a:t>
            </a:r>
          </a:p>
        </p:txBody>
      </p:sp>
    </p:spTree>
    <p:extLst>
      <p:ext uri="{BB962C8B-B14F-4D97-AF65-F5344CB8AC3E}">
        <p14:creationId xmlns:p14="http://schemas.microsoft.com/office/powerpoint/2010/main" val="15394763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17C602-8B0F-4A09-B83F-12ECFD89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89057-D89E-4010-8E2A-ECD72068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BCC10-3568-4CA6-A5A2-6F340F73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6FF06-07A2-447C-8214-7055C28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98AB0A2E-955A-4621-B8A1-21021906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F135D66-2B03-4B39-8115-BF6A42B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ADFE76A2-E30C-49D3-A8AE-57434CAE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CFB930FF-185C-498C-B392-6F167A54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D14185AF-B076-4A4A-9975-8637E3F8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DF8BB487-8521-4035-A540-A5AF8E09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57A40B70-3495-433C-AD14-193E3B93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A0CC9AE2-851C-4AD3-BA0F-4E302723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702C2516-3095-401E-86EA-26B3CF9E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5F5681E-4AEE-4E60-91FF-75A653A4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DB2FBDD-9C4F-49DC-9B04-4DDB2341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14A8FF69-2CF8-4186-BCD5-CC7F9B9E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D74D7056-1542-4F62-80CB-8F2092E1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F5978FD8-51DE-4060-90E1-A9550762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CD5DEC52-4F41-457C-B217-9CB1CB1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F6EAB8C-8A9A-46B5-B10A-7F2E22D5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762DE263-22D0-4DA6-9BB7-DE94E253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38599949-77C4-40FE-B657-AF037910D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C4CEEF34-6850-4360-9564-77680157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CAB3D630-8217-44A5-973B-05886A6F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96D25E33-21D3-493F-A3D9-DDFC3833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299CED7F-115C-4171-B2F5-3AB4CB63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364BB513-09FB-4D4D-A35B-85F7AC1B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8046ECD9-8A3F-4BFF-9E08-D0811815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EEB3DDC-5BDB-4F60-9127-C66FC9C9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EE3BDDF0-022C-4FBB-8424-6F461EEA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A293F237-7F71-4AEA-B524-DBF60CFF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2BD016-63C7-474D-9E4C-9D00E40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ACC590-BE29-40BC-B8A2-05463B57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77C8E1-F6EB-4BDB-9108-69F32588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85A692-19D7-494A-872E-3F4E559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61B4EC-C1E3-4DFF-9405-4E3231B5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37BD5-201D-4CBC-851F-2341AE7F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03AA2A-4240-4770-8434-AF44B3387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C49C03-1B2A-4306-93B7-F842F805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9af142ef2479f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B8EBAA6-512A-4745-8EEC-744391F8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D64688-7449-4565-88A3-B2C046F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B6BF2D-508B-46D1-A8EF-AD89A94A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EXECUTION MODEL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46AE1DA0-8B46-4BE0-A5A0-7765ED9C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FROM BUSINESS REALITY TO ALIGNED GROWTH SYSTEM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97774766-3E84-4952-951D-D61A647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5048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Execution moves through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clear stage gates.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AFBC3AAD-8C64-4EBE-9F7A-861D4D6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0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Each engagement moves through a disciplined sequence so strategy, systems, adoption, and communication stay connected.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01EDAB8-1954-4003-811F-152490A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F09711-C254-49B1-9DA2-4827AE41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15240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21760E-F16F-4F77-A602-74B5F4F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76500"/>
            <a:ext cx="-76200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1C716AD-5886-4BF3-B524-6E6D8B08A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-1524000" cy="-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95DC11C-921E-460D-B9FF-1228147D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762000" cy="1276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DC08B0-08B1-41F9-95FB-6E7C929A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19650"/>
            <a:ext cx="190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0F290F-D06B-49A3-8E85-D485FA40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571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BE1355-5081-40FD-BA4E-373DA0BC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BF95F6-5373-431B-9976-3C4B8AC7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336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Diagnose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30C9A7-BB02-4465-8F11-A13A242F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5716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5890CF3-2C6A-4543-A4BF-10282F297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526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B4EAA75-5554-4177-9632-71D9CE75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336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Define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72A11D-FA88-4901-A56C-D298C32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38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00B39E-F4E9-4C7F-AD6C-3ED88D7F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1C46146-735D-44D3-883D-7B2E2E84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003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Design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F6DC63F-5245-4E17-9BC8-CD21C1A9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74000"/>
            </a:srgbClr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45A74A-F9DB-423D-BEE7-2CADFD5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623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0A0A0F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0A0A0F"/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138C6D-8AA8-4545-852C-D032403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84B1E40-D48D-4A03-86DB-D8475840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3051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C3ED891-4BDF-4668-832D-F9D9DF36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8615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380DCEB-A108-4A07-BF1F-763B354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Enable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1021405-4DBB-4CDF-8A01-445662A9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81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D504DD1-C148-46A4-ACED-900B9E2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3A383A-9720-4AD7-8D20-040E2EAA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1435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Translate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EFF7348-5C5C-486C-8D61-BC1547B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5815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3335">
            <a:solidFill>
              <a:srgbClr val="C9A84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2198AB6-4A05-42A0-8FF4-28D21C1B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762500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75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07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5D99978-E491-4DA7-AC46-227CE973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143500"/>
            <a:ext cx="1181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Refine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53B5CD5-B733-4EEA-A6FD-01800C1A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1965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0000"/>
            </a:srgbClr>
          </a:solidFill>
          <a:ln xmlns:a="http://schemas.openxmlformats.org/drawingml/2006/main" w="9525">
            <a:solidFill>
              <a:srgbClr val="C9A84C">
                <a:alpha val="26000"/>
              </a:srgbClr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EC02E4-F364-4E45-ABA2-FAA5A513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91100"/>
            <a:ext cx="3048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1">
                <a:solidFill>
                  <a:srgbClr val="F0F0F5"/>
                </a:solidFill>
                <a:latin typeface="JetBrains Mono"/>
                <a:ea typeface="JetBrains Mono"/>
                <a:cs typeface="JetBrains Mono"/>
              </a:rPr>
              <a:t>Input: business reality   Output: coherent growth</a:t>
            </a:r>
          </a:p>
        </p:txBody>
      </p:sp>
    </p:spTree>
    <p:extLst>
      <p:ext uri="{BB962C8B-B14F-4D97-AF65-F5344CB8AC3E}">
        <p14:creationId xmlns:p14="http://schemas.microsoft.com/office/powerpoint/2010/main" val="469397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04E211-0C51-4408-9B4E-EB8DE4DF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D6FE8-CEA2-4E22-A16E-C717CF89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2E6524-6F6C-4971-9004-F0DF6D23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EB42A-9EFF-4902-90D4-60081EFC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FB215C92-7303-4441-8062-F58348FE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9B61FAD7-A8C8-4ED9-A7BA-6CB693F6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08260667-A5D2-475F-9855-13DF1660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4229A3FD-7D75-458A-A543-496D9A48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089929E6-CC69-4050-AB5E-20F08800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A90F17E-99E7-4C57-AEC1-FC9D72BB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9A4BFB0-1D5F-48AF-A931-EE3BDF6F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BBBE2386-BAA8-4925-8066-251EC746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E61CD012-FD9D-4E7C-B767-BF77F213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096B716A-10CB-436C-8A3A-8DBFF83F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CD609C9F-827F-4BDE-9C84-AE8ABF49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CEAE6122-F802-4838-B0BA-10DBD48C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01C4D96E-B4E9-4BB4-A437-D80A618E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496BABFB-CE8D-480E-83DE-69899D52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F5D3C406-4557-4F98-A6E1-AAF0426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D900157F-59F1-4B27-8D85-BFAA78D3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32107DE8-D5B4-4630-AD63-D4CBA03D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6EF9B128-F0BB-472B-B801-D4573E7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399AFB09-6CAF-4B8D-A4F1-57488D39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708D4AF0-D85D-4809-9D4F-7AF0A529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98AF831-1CE6-4B9C-90BF-E4A87878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B072761E-87B0-463D-923A-F64408E3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45D5C1AC-D170-4822-821A-BA145402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BDA71047-96AA-4241-BB03-F66447D6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03EBCB1-4767-4838-A7AA-C1A04AC3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CAA39478-2FBA-411B-9B45-86F10047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F1695CFD-D66E-48D3-839D-39D4A283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DD594C8-3926-4AEE-9D02-58420D81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018665-F8A6-4E83-85E4-3F6ED7E71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C793BD-4081-490C-88B0-61C0A0C3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151CE3-0142-48BE-9437-4AC86FD5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7DDE8B-335D-4F1E-82B5-996B30DB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659F6F-42EB-4D36-BE04-780A0C71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FAA44A-6D31-4643-B281-A7E7D7F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6AD28E-9482-4D85-AB31-BD05848C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370a118d74a5f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7270ED-B0FC-4EBF-AF89-2659B065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29F03C-F90D-46EB-AA60-05B5674E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135520-C488-43DE-9369-3A7A88F3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FIRST ENGAGEMENT OUTPUT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BF476CB8-1D0C-4548-AF79-5C8B031C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ALIGNMENT AUDIT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5FD317CC-D79E-42A2-A9EC-650BBD32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2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Find the first system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worth building.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732E61C6-508D-480A-8AB5-926BBD91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The audit should leave a founder with sharper operating logic, clearer priority, and a practical next move.</a:t>
            </a:r>
          </a:p>
        </p:txBody>
      </p:sp>
      <p:sp>
        <p:nvSpPr>
          <p:cNvPr id="47" name="artifact">
            <a:extLst xmlns:a="http://schemas.openxmlformats.org/drawingml/2006/main">
              <a:ext uri="{FF2B5EF4-FFF2-40B4-BE49-F238E27FC236}">
                <a16:creationId xmlns:a16="http://schemas.microsoft.com/office/drawing/2014/main" id="{74F96E3E-363C-4FEB-8044-3900480F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09650"/>
            <a:ext cx="4000500" cy="4762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7DDC8">
              <a:alpha val="96000"/>
            </a:srgbClr>
          </a:solidFill>
          <a:ln xmlns:a="http://schemas.openxmlformats.org/drawingml/2006/main" w="10478">
            <a:solidFill>
              <a:srgbClr val="C9A84C">
                <a:alpha val="36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5860A3-6C5D-4A32-B922-C41690DB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002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07D3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99BA1D-9CD3-4C95-94F6-3FD94D9C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954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rPr>
              <a:t>ALIGNMENT AUDIT BRIEF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2C5E56-CFCA-4F0F-BA7E-B320012B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018C26C-A97B-4495-8ED0-2FA78E5A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669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F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0A0A0F"/>
                </a:solidFill>
                <a:latin typeface="Outfit"/>
                <a:ea typeface="Outfit"/>
                <a:cs typeface="Outfit"/>
              </a:rPr>
              <a:t>Operational clarity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308CC6-522D-435D-ABE9-7E38BDFC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00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5F584D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5F584D"/>
                </a:solidFill>
                <a:latin typeface="Outfit"/>
                <a:ea typeface="Outfit"/>
                <a:cs typeface="Outfit"/>
              </a:rPr>
              <a:t>What is happening, where friction lives, and what must stay human-led.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6BE914-9156-4A34-A4AD-45504004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07D3A">
                <a:alpha val="34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CBF0E78-0A20-4DA5-B668-8256349D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51DEC2-80A3-4BD3-A045-7EA15C2F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337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F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0A0A0F"/>
                </a:solidFill>
                <a:latin typeface="Outfit"/>
                <a:ea typeface="Outfit"/>
                <a:cs typeface="Outfit"/>
              </a:rPr>
              <a:t>Priority workflow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9E611C-0D32-4FC4-B272-F561FC55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670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5F584D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5F584D"/>
                </a:solidFill>
                <a:latin typeface="Outfit"/>
                <a:ea typeface="Outfit"/>
                <a:cs typeface="Outfit"/>
              </a:rPr>
              <a:t>The workflow with enough value, pain, and adoption readiness.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73C88D-F38B-4B08-99FB-10AB2079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33800"/>
            <a:ext cx="320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07D3A">
                <a:alpha val="34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5714DB-89F7-41ED-8491-1C60BF7A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A07D3A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3ABD710-4181-48FF-8888-97A08D3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0050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A0A0F"/>
                </a:solidFill>
                <a:latin typeface="Outfit"/>
                <a:ea typeface="Outfit"/>
                <a:cs typeface="Outfit"/>
              </a:defRPr>
            </a:pPr>
            <a:r>
              <a:rPr sz="1725" b="1">
                <a:solidFill>
                  <a:srgbClr val="0A0A0F"/>
                </a:solidFill>
                <a:latin typeface="Outfit"/>
                <a:ea typeface="Outfit"/>
                <a:cs typeface="Outfit"/>
              </a:rPr>
              <a:t>Practical next step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4F6F52-773F-405E-9381-4FEA4A8A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13" b="0">
                <a:solidFill>
                  <a:srgbClr val="5F584D"/>
                </a:solidFill>
                <a:latin typeface="Outfit"/>
                <a:ea typeface="Outfit"/>
                <a:cs typeface="Outfit"/>
              </a:defRPr>
            </a:pPr>
            <a:r>
              <a:rPr sz="1013" b="0">
                <a:solidFill>
                  <a:srgbClr val="5F584D"/>
                </a:solidFill>
                <a:latin typeface="Outfit"/>
                <a:ea typeface="Outfit"/>
                <a:cs typeface="Outfit"/>
              </a:rPr>
              <a:t>What to document, automate, integrate, review, or communicate first.</a:t>
            </a:r>
          </a:p>
        </p:txBody>
      </p:sp>
    </p:spTree>
    <p:extLst>
      <p:ext uri="{BB962C8B-B14F-4D97-AF65-F5344CB8AC3E}">
        <p14:creationId xmlns:p14="http://schemas.microsoft.com/office/powerpoint/2010/main" val="1793786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0051F-94A0-4CC4-B77F-E17394F4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ABEFD0-274A-4A2D-8F5C-1976F847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C55A6-CBA9-45B0-A3D7-18F22A79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EC309-EFB9-4D0C-8429-699AAC2D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409F5496-1DB8-4E76-91DD-AFFB7E56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52AE2F9C-38A2-4704-BBA2-05ED4AEF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F4F18F5D-464F-4113-8E77-1B46A020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06C9ABC-10BF-4282-9CE8-00BC2EF0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4C6F5FDA-57F7-447F-8601-F7A4334E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FE40A486-3FBE-465C-917C-A8E98589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4646D580-E7DA-45B8-9044-9996A2B2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D97A1984-0D2D-4E7B-9C12-CB97EB6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36BFDB59-5427-408A-9CC0-D4C207DC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36E44081-74B4-44A2-BBB3-761BBF40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4C76FC74-E754-4B9B-B3BB-329A0DCF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E778E0BF-13A9-4A03-A262-ACD1C13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3DDDE8F4-724F-4967-AEF4-C7E2491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3686FFCE-9EC0-4FE7-A323-0933ED95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291D598C-4D60-49C7-A852-B8D83EDA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7C373D4F-7F1E-401A-A9C2-AF3DC5BF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43F34663-D189-4C03-AE54-8F7E056A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EE6783F4-811D-4544-8491-614DD18A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8C113CA6-597D-4D9C-9A06-9D90B5A8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4396FA07-7C1E-4FF5-8A13-5035DC31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EB045E7A-C55F-4AA5-B8B9-F2F2404A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03B573F3-FEBC-4C06-89B3-BC9CB1C1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6746E6E2-98AE-4E85-AD5F-4CAD68A3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9B0291FE-94B9-4C20-B205-D423C61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6250BBDB-71D0-4305-904A-466F623F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86542E38-E3A5-4CDD-8E29-B537E6DB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2282C837-6D21-4C95-835A-B850D5A2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D2735-4B78-43EB-A828-2AE15CD2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BB31F7-3C3F-4B90-A86D-FF263518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7214F-C1F0-40A8-9C77-E6C1E740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77188B-9B9D-4710-A3DD-7B5CB75B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D1ACAD-0767-48E2-B5F3-78147A40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F75911-63A2-423F-BA02-09B605BA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8C74A1-ABB4-48FF-AE4A-F3C973C1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95F855-F513-4162-A818-BE5EDC1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16f8da2c44023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7A608D-9AF8-4FEA-80DA-7F17B64ED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70E0D4-57E8-414B-A568-1174E6CB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4E36BE-046A-4857-A892-63EBE7DA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BUILD OUTPUT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A50A304E-72F9-4710-B2C0-85333DC8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FROM WORKFLOW MAP TO OPERATING INFRASTRUCTURE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DC68CB49-78A9-456D-91EB-708EE8C4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953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3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deliverable is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system around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tool.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002E6EB3-FD89-4B65-B82C-09278637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6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Useful infrastructure includes workflow design, documentation, review points, adoption support, and communication logic.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E0F2DC-992D-4515-B87E-3292E441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762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0000"/>
            </a:srgbClr>
          </a:solidFill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4BE6824-FC65-47EB-A6E1-81E5F3ED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8EC8F1-7817-4470-A2D0-A343391B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80BEEC-D941-46E1-8C54-281450CF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066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E6181B6-99F3-4BA7-9733-8C3A756F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1066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CEF7E6-C468-46B5-BB21-5EA64A30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96923F9-97D9-4888-A7AE-E9DCAD23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38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A52C60-8B25-4190-9780-4B255F99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638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3B1600-F484-401E-9820-EFDE5667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2387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44EE4E-63BE-47B3-83CF-C3B1387C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33600"/>
            <a:ext cx="1857375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C33323-EA10-421B-AFCF-91E22A87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48000"/>
            <a:ext cx="-185737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6B4D5B8-847A-4C6A-BE1F-57C8DD59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1857375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42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109A398-EEDE-4E8A-A5B7-AFAA08E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668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56AEC4-4133-4A8F-B595-102B8677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287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Workflow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architecture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E8AB80B-7997-468F-9716-4D4FF04A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3812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362F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FBFE4B-4EE0-414C-BE22-4DCA2DF6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431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Internal tool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or assistant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31026CB-60A3-494D-B5DF-917FA62F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1470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E1E24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05FF455-CE49-4C1B-A9A3-BD2A2A24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7662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Documentation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D7471F7-6409-4C4B-B426-09C9ED5D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48150"/>
            <a:ext cx="16764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6362F"/>
          </a:solidFill>
          <a:ln xmlns:a="http://schemas.openxmlformats.org/drawingml/2006/main" w="9525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5254F5C-378A-48A0-9612-1891418D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410075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9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Adoption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support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BBDA39-4D5C-40E1-B8A5-26F435F9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>
              <a:alpha val="90000"/>
            </a:srgbClr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B410092-AA6E-4D86-AC3D-EA156706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14675"/>
            <a:ext cx="8763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SYSTEM</a:t>
            </a:r>
          </a:p>
        </p:txBody>
      </p:sp>
    </p:spTree>
    <p:extLst>
      <p:ext uri="{BB962C8B-B14F-4D97-AF65-F5344CB8AC3E}">
        <p14:creationId xmlns:p14="http://schemas.microsoft.com/office/powerpoint/2010/main" val="1340059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36B3D-427E-43F1-9296-2490AEB7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6C3EF-8368-4CE1-B917-734935DB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D2E3C-BFE9-4A6B-8CEC-77141C81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EFE38B-A4CE-4E7D-8781-36E71381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D1021D2F-A16A-4FA3-B6AF-48E92C97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3755E6D2-C04A-49FC-95DB-B685FC7D0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2FF805F3-2D61-4AA7-970A-AB921429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808947A3-8247-404A-9A9A-49C5267C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E7EC89B8-DBD4-480D-A2B6-95E1CAD4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45E6A6D-FFA2-49BA-88B2-C324629A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3857578A-1A8B-4678-A5D1-926151FD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BE86030D-5D74-40CF-B2E6-41A3F632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DE465898-1258-4273-AEDA-2CCB2AE1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C907D2AF-A697-4577-8535-41C172905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54D4DC4-1608-4168-A3F4-52974E0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8068503-A2B5-4397-8E78-3A42848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2A948B60-7623-4859-85E2-90CCDF6B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E43BE232-94E2-4186-935C-1CE942AE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804997A6-3B0B-4790-B68B-DA025B40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73C72DF0-7C99-481B-8238-5AD49695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F52E3FE9-B8B2-4DBA-B2C2-3D910DA0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479A6C56-44FE-4DC1-88F6-8E274CC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61EA0CB4-4A77-4D69-92AF-581C2164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AD0D6E9F-3B37-4723-B67A-AAB65541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411C4108-DC20-4942-B31A-95816701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B50936C0-6EEC-4114-8413-51172DF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D08F9E65-E502-4EA0-AE4A-772B2155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16976E0-4D0C-40FE-8C8F-D936C327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725ABAD-97BC-4CF3-8DFC-13927C4F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3213967E-4A13-42C9-9391-830820E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3121CCB8-E954-4A75-82C7-0F006D38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F2E3D-DF95-4E3E-A5E8-0CE6B5F2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1B40FE-C55A-41D9-89E3-E66CAFAB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3442E4-B665-4EBA-B64A-CBBDA323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57C68B-BAAC-4E2F-9660-B5E60238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5572E4-EFF9-47FE-A135-C83CEAFB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23D0A6-F921-46D5-85E3-8D9C8A39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163EA9-3589-4D38-B360-C963AF45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29D33A-62AB-440D-A027-58F7FC87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5b541dec54013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85E3B1-E999-47CC-80AA-95D37324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8ED5DD-6C68-405F-9513-5992FA80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B4BF360-7AD8-49A3-9602-C950368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FOUNDER-LED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78919F97-8B1A-4D66-980B-D7EFCD8F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FOUNDER-LED SYSTEMS THINKING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40CEB2-3743-4077-9BC7-A5449466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3143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0000"/>
            </a:srgbClr>
          </a:solidFill>
          <a:ln xmlns:a="http://schemas.openxmlformats.org/drawingml/2006/main" w="9525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E88124-5ACC-455C-BCE8-C14C947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A1A854-7872-4213-947B-D8319561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47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2C3AE39-2062-48CA-A1C8-B4E66A74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478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E30509-937B-4605-B6EB-C47A8A4D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4780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7DCC85-BF8F-46BE-8887-3FFE90BD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EE842F-9CBC-48DB-AF82-4A85616F3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1657A73-9880-4B8E-9D21-F3A593FE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44830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E21212-C687-4735-958F-FFAB815F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48250"/>
            <a:ext cx="0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a1a08d97c4ee2"/>
          <a:srcRect xmlns:a="http://schemas.openxmlformats.org/drawingml/2006/main" l="11351" t="0" r="113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4450" y="1676400"/>
            <a:ext cx="2724150" cy="3524250"/>
          </a:xfrm>
          <a:prstGeom xmlns:a="http://schemas.openxmlformats.org/drawingml/2006/main" prst="rect">
            <a:avLst/>
          </a:prstGeom>
        </p:spPr>
      </p:pic>
      <p:sp>
        <p:nvSpPr>
          <p:cNvPr id="55" name="title">
            <a:extLst xmlns:a="http://schemas.openxmlformats.org/drawingml/2006/main">
              <a:ext uri="{FF2B5EF4-FFF2-40B4-BE49-F238E27FC236}">
                <a16:creationId xmlns:a16="http://schemas.microsoft.com/office/drawing/2014/main" id="{55E7D8A9-EBC3-4D74-B088-BF8C7806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4953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 thinking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meets cinematic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5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5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perception.</a:t>
            </a:r>
          </a:p>
        </p:txBody>
      </p:sp>
      <p:sp>
        <p:nvSpPr>
          <p:cNvPr id="56" name="body">
            <a:extLst xmlns:a="http://schemas.openxmlformats.org/drawingml/2006/main">
              <a:ext uri="{FF2B5EF4-FFF2-40B4-BE49-F238E27FC236}">
                <a16:creationId xmlns:a16="http://schemas.microsoft.com/office/drawing/2014/main" id="{3F217F38-B220-4088-A391-9CB1F7A1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28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Kramaniti is shaped by Karan Chordia's path from commercial media and spatial storytelling into workflow design and practical AI infrastructure.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60409E-7674-4006-AF49-A5B58DD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95850"/>
            <a:ext cx="358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C998EB-F225-480B-85AF-01FA59D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39FD5E3-B09F-4C61-858E-9857D455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Cinematic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content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CFB3ED-BA5C-448A-991F-56EFF2F1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A15E84-9741-487E-A26C-3F917D41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thinking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D01495-571E-4791-8835-B119235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810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53836C-F892-4FD8-97DD-9C02FBC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673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4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Practical AI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12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6971280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F3813E-8778-4167-A863-A1EEEC7D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23A84-2CB4-46EC-9E36-ADAB12BE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E25E0-9AB7-4E24-8178-39D8B65A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5002F4-A0E3-491A-9B64-DC1FF4E7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79A446CC-2F82-4E54-844E-080A860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06B35818-DBEE-4756-8C7C-FD21FEFA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4DF29E2F-DDE2-422C-B928-6D537944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96E65253-7B43-4BF3-AB67-5E0FA81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1876097D-B7B5-45B2-BE2F-3290C1F33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CF3B1798-2744-443A-9377-BE75865F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E8A4E2CB-B8C1-4A9B-9837-8C70EC90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ACE0717-F4B3-4530-B05C-3BFD2E5A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0F7975C3-DCE4-4DDE-A674-48B0495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6AD12D8A-4C14-4B19-B3A4-37080BCA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F7404EDE-F55D-4198-83F9-2B47341F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D9C00196-6264-4A92-8A3F-9194B358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99C5707D-F8C6-41F5-842A-092E347F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947027A2-36AF-4E45-98DA-476B0D6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D94A2322-CE50-49BC-B0B4-17FE3B6E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EC9E02B4-FB40-4F9C-A7E3-E2382985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6C0E4F36-82D4-45A5-8A9B-5DD09970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42C0A66A-E31C-4AAF-AB1F-44CC8587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7EA80891-168E-49A7-834D-DC79B519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E49E4FB5-34A5-4204-A9A0-A513BE78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5A308589-FE2F-4427-9005-F4F710C0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FBCE8BD4-6D0E-42F9-B9AF-BE697BA8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8D4C7ACE-F0B7-4AA8-9558-F5322AA8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7D922514-C7F3-4CCA-9D45-3CE9E155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93129A3A-8372-4B07-9C33-C9B5437F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9D6AB78E-4D3E-461B-A37A-718D7B1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7F1DFE63-0CD7-4205-83F2-1CE208C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183D6F-4937-4639-A5CC-D2B9A3F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ADAF27-B036-4149-9A52-AA87C02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6999BB-830A-42C4-9828-A9701FF5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BF6E18-AA51-45EA-A997-AB2EFC4D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35FF76-219C-42BD-B4B1-9C38FC10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1DFDD6-28D2-4D1F-8420-2C07F3A0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ABD19-CD40-4545-9CCF-BA67DB43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D89248-1FB7-41C2-81CE-7B061E64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92ca6631643c7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4DFF75-4492-4534-BE82-402DC5CE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AE594C-A9AE-4E38-90FE-D085B699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8C0DFE-8617-4301-920C-1ACAD14C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VALUE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D69A1AD7-3033-4FA3-A31A-B1E172C3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WHY THIS CREATES VALUE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38404FE9-9B5B-4809-A63B-6ED0B03E0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668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21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value is not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more tools.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6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6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The value is coherence.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8DAC87FD-280C-43DC-8B9E-7133DF1D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9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350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350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When operations, intelligence, and presence align, a founder can make sharper decisions, reduce wasted effort, and communicate with a clearer market signal.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B3515E-1F05-4F34-8BB5-1832647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171700"/>
            <a:ext cx="2324100" cy="2324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>
              <a:alpha val="7000"/>
            </a:srgbClr>
          </a:solidFill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85DDD5-7A6F-47ED-BFB9-7C4E33DB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1295400" cy="1295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>
              <a:alpha val="82000"/>
            </a:srgbClr>
          </a:solidFill>
          <a:ln xmlns:a="http://schemas.openxmlformats.org/drawingml/2006/main" w="11430">
            <a:solidFill>
              <a:srgbClr val="C9A84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FA2EF1-3C8B-4AF8-B0EB-ECF4A77D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COHERENCE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546203-15A9-4A28-AD02-1C2BDBDD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1543050" cy="1371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B371FD-FD0F-4D30-9C53-C564BF76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49302F-4CD7-4124-9E04-9192788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430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Clarity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742226-4049-46A6-A6B2-5BD662A5B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66950"/>
            <a:ext cx="-152400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1B1105-CDF4-43EC-8E02-C8E90A64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90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0AA8B6-9BA6-4795-9150-6F55E40E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478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Focus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A0AB82-A69C-4455-9791-7A550E6E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86300"/>
            <a:ext cx="1581150" cy="-1352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0EA1000-A164-42B4-8D5F-0F60005B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10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EF70FE-E16C-4927-92FD-876ABA10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Adoption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F1504F1-3352-4E94-9585-2664F86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533900"/>
            <a:ext cx="-1485900" cy="-1200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34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60312B5-BF56-424C-9442-5CE5385C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577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0478">
            <a:solidFill>
              <a:srgbClr val="C9A84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F7977BA-4B12-4E49-9260-1B06CDA3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148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75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1875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Trust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2CC460B-B980-4199-B4D9-556D979F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81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>
                <a:solidFill>
                  <a:srgbClr val="C9A84C"/>
                </a:solidFill>
                <a:latin typeface="Outfit"/>
                <a:ea typeface="Outfit"/>
                <a:cs typeface="Outfit"/>
              </a:defRPr>
            </a:pPr>
            <a:r>
              <a:rPr sz="2550" b="1">
                <a:solidFill>
                  <a:srgbClr val="C9A84C"/>
                </a:solidFill>
                <a:latin typeface="Outfit"/>
                <a:ea typeface="Outfit"/>
                <a:cs typeface="Outfit"/>
              </a:rPr>
              <a:t>coherent growth</a:t>
            </a:r>
          </a:p>
        </p:txBody>
      </p:sp>
    </p:spTree>
    <p:extLst>
      <p:ext uri="{BB962C8B-B14F-4D97-AF65-F5344CB8AC3E}">
        <p14:creationId xmlns:p14="http://schemas.microsoft.com/office/powerpoint/2010/main" val="7137674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0A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0C4C73-90EA-48D3-8FF1-7E8AF31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F6D7F-2521-44C0-ABF4-5EDC62EE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8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C1A79-5387-4B48-8DEA-5E30BAAE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3810000" cy="6858000"/>
          </a:xfrm>
          <a:custGeom xmlns:a="http://schemas.openxmlformats.org/drawingml/2006/main">
            <a:pathLst>
              <a:path w="3810000" h="6858000">
                <a:moveTo>
                  <a:pt x="0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428750" y="6858000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2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3F269-1652-4E97-B980-F7D1BA24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4333875" cy="1905000"/>
          </a:xfrm>
          <a:custGeom xmlns:a="http://schemas.openxmlformats.org/drawingml/2006/main">
            <a:pathLst>
              <a:path w="4333875" h="1905000">
                <a:moveTo>
                  <a:pt x="0" y="0"/>
                </a:moveTo>
                <a:lnTo>
                  <a:pt x="4333875" y="1905000"/>
                </a:lnTo>
                <a:lnTo>
                  <a:pt x="0" y="1905000"/>
                </a:lnTo>
                <a:close/>
              </a:path>
            </a:pathLst>
          </a:custGeom>
          <a:solidFill xmlns:a="http://schemas.openxmlformats.org/drawingml/2006/main">
            <a:srgbClr val="C9A84C">
              <a:alpha val="35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3DCCA87C-8023-44C4-9655-7372C2DD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6" name="grid-v">
            <a:extLst xmlns:a="http://schemas.openxmlformats.org/drawingml/2006/main">
              <a:ext uri="{FF2B5EF4-FFF2-40B4-BE49-F238E27FC236}">
                <a16:creationId xmlns:a16="http://schemas.microsoft.com/office/drawing/2014/main" id="{EFA59AF8-001C-4936-A7B8-140B3A330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7" name="grid-v">
            <a:extLst xmlns:a="http://schemas.openxmlformats.org/drawingml/2006/main">
              <a:ext uri="{FF2B5EF4-FFF2-40B4-BE49-F238E27FC236}">
                <a16:creationId xmlns:a16="http://schemas.microsoft.com/office/drawing/2014/main" id="{EEDB93E6-F9DB-4A21-90D3-29DCA7DC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8" name="grid-v">
            <a:extLst xmlns:a="http://schemas.openxmlformats.org/drawingml/2006/main">
              <a:ext uri="{FF2B5EF4-FFF2-40B4-BE49-F238E27FC236}">
                <a16:creationId xmlns:a16="http://schemas.microsoft.com/office/drawing/2014/main" id="{B22EF3ED-080E-4979-BD65-43DFAA55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9" name="grid-v">
            <a:extLst xmlns:a="http://schemas.openxmlformats.org/drawingml/2006/main">
              <a:ext uri="{FF2B5EF4-FFF2-40B4-BE49-F238E27FC236}">
                <a16:creationId xmlns:a16="http://schemas.microsoft.com/office/drawing/2014/main" id="{9AF67A02-2AE4-41EC-9B58-B7E1E95E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E104BFF-EBFA-474D-B7AD-5F0921CB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E16CA82-7D1D-4991-86B8-0DFCFD92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56E570C-D969-4F72-ACA4-A78A671A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F1D6E0A3-7C1F-4DB4-A4DA-BB0A6146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1842ECEB-70FA-4CD5-94AC-9A57C372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BCA5D568-92A5-4478-99E7-570A795B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6" name="grid-v">
            <a:extLst xmlns:a="http://schemas.openxmlformats.org/drawingml/2006/main">
              <a:ext uri="{FF2B5EF4-FFF2-40B4-BE49-F238E27FC236}">
                <a16:creationId xmlns:a16="http://schemas.microsoft.com/office/drawing/2014/main" id="{4E17E062-F334-4FD3-B97E-E8FF0A76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7" name="grid-v">
            <a:extLst xmlns:a="http://schemas.openxmlformats.org/drawingml/2006/main">
              <a:ext uri="{FF2B5EF4-FFF2-40B4-BE49-F238E27FC236}">
                <a16:creationId xmlns:a16="http://schemas.microsoft.com/office/drawing/2014/main" id="{7D59189A-1E54-4B70-A3CD-98912FAB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8" name="grid-v">
            <a:extLst xmlns:a="http://schemas.openxmlformats.org/drawingml/2006/main">
              <a:ext uri="{FF2B5EF4-FFF2-40B4-BE49-F238E27FC236}">
                <a16:creationId xmlns:a16="http://schemas.microsoft.com/office/drawing/2014/main" id="{A0FDD017-A0E6-4AE8-91DD-146DE736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19" name="grid-v">
            <a:extLst xmlns:a="http://schemas.openxmlformats.org/drawingml/2006/main">
              <a:ext uri="{FF2B5EF4-FFF2-40B4-BE49-F238E27FC236}">
                <a16:creationId xmlns:a16="http://schemas.microsoft.com/office/drawing/2014/main" id="{0E1D46F4-020D-457D-BD5D-98658BD8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0" name="grid-v">
            <a:extLst xmlns:a="http://schemas.openxmlformats.org/drawingml/2006/main">
              <a:ext uri="{FF2B5EF4-FFF2-40B4-BE49-F238E27FC236}">
                <a16:creationId xmlns:a16="http://schemas.microsoft.com/office/drawing/2014/main" id="{57FEE461-7A51-4F6D-9312-91A49A4E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90600"/>
            <a:ext cx="0" cy="481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C9A84C">
                <a:alpha val="4500"/>
              </a:srgbClr>
            </a:solidFill>
            <a:prstDash val="solid"/>
          </a:ln>
        </p:spPr>
      </p:sp>
      <p:sp>
        <p:nvSpPr>
          <p:cNvPr id="21" name="grid-h">
            <a:extLst xmlns:a="http://schemas.openxmlformats.org/drawingml/2006/main">
              <a:ext uri="{FF2B5EF4-FFF2-40B4-BE49-F238E27FC236}">
                <a16:creationId xmlns:a16="http://schemas.microsoft.com/office/drawing/2014/main" id="{5B887347-F988-4687-B5BC-A7D8144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2" name="grid-h">
            <a:extLst xmlns:a="http://schemas.openxmlformats.org/drawingml/2006/main">
              <a:ext uri="{FF2B5EF4-FFF2-40B4-BE49-F238E27FC236}">
                <a16:creationId xmlns:a16="http://schemas.microsoft.com/office/drawing/2014/main" id="{DD8D87DA-5EF5-48A1-86BF-75C4F288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3" name="grid-h">
            <a:extLst xmlns:a="http://schemas.openxmlformats.org/drawingml/2006/main">
              <a:ext uri="{FF2B5EF4-FFF2-40B4-BE49-F238E27FC236}">
                <a16:creationId xmlns:a16="http://schemas.microsoft.com/office/drawing/2014/main" id="{13D68382-CF37-493B-96AE-955A70C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4" name="grid-h">
            <a:extLst xmlns:a="http://schemas.openxmlformats.org/drawingml/2006/main">
              <a:ext uri="{FF2B5EF4-FFF2-40B4-BE49-F238E27FC236}">
                <a16:creationId xmlns:a16="http://schemas.microsoft.com/office/drawing/2014/main" id="{153FBE7E-A091-4B1B-BB08-74FE5CDA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7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5" name="grid-h">
            <a:extLst xmlns:a="http://schemas.openxmlformats.org/drawingml/2006/main">
              <a:ext uri="{FF2B5EF4-FFF2-40B4-BE49-F238E27FC236}">
                <a16:creationId xmlns:a16="http://schemas.microsoft.com/office/drawing/2014/main" id="{D74B9BAB-ECED-46A9-8AC2-57EA07D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6" name="grid-h">
            <a:extLst xmlns:a="http://schemas.openxmlformats.org/drawingml/2006/main">
              <a:ext uri="{FF2B5EF4-FFF2-40B4-BE49-F238E27FC236}">
                <a16:creationId xmlns:a16="http://schemas.microsoft.com/office/drawing/2014/main" id="{91C40A4D-28CC-4A82-A865-6385F87A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7" name="grid-h">
            <a:extLst xmlns:a="http://schemas.openxmlformats.org/drawingml/2006/main">
              <a:ext uri="{FF2B5EF4-FFF2-40B4-BE49-F238E27FC236}">
                <a16:creationId xmlns:a16="http://schemas.microsoft.com/office/drawing/2014/main" id="{C15D853B-5BB1-48AF-B3AB-59B6B36F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72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8" name="grid-h">
            <a:extLst xmlns:a="http://schemas.openxmlformats.org/drawingml/2006/main">
              <a:ext uri="{FF2B5EF4-FFF2-40B4-BE49-F238E27FC236}">
                <a16:creationId xmlns:a16="http://schemas.microsoft.com/office/drawing/2014/main" id="{213DB1B4-F95F-4F75-895E-5EA7ECE1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E68B23AD-6777-4F89-A229-1415B384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150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FFFFFF">
                <a:alpha val="3500"/>
              </a:srgbClr>
            </a:solidFill>
            <a:prstDash val="solid"/>
          </a:ln>
        </p:spPr>
      </p:sp>
      <p:sp>
        <p:nvSpPr>
          <p:cNvPr id="30" name="outer-frame">
            <a:extLst xmlns:a="http://schemas.openxmlformats.org/drawingml/2006/main">
              <a:ext uri="{FF2B5EF4-FFF2-40B4-BE49-F238E27FC236}">
                <a16:creationId xmlns:a16="http://schemas.microsoft.com/office/drawing/2014/main" id="{16081719-92CD-499A-87FD-7ABEECB8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201400" cy="605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9A84C">
                <a:alpha val="22000"/>
              </a:srgbClr>
            </a:solidFill>
            <a:prstDash val="solid"/>
          </a:ln>
        </p:spPr>
      </p:sp>
      <p:sp>
        <p:nvSpPr>
          <p:cNvPr id="31" name="inner-frame">
            <a:extLst xmlns:a="http://schemas.openxmlformats.org/drawingml/2006/main">
              <a:ext uri="{FF2B5EF4-FFF2-40B4-BE49-F238E27FC236}">
                <a16:creationId xmlns:a16="http://schemas.microsoft.com/office/drawing/2014/main" id="{E812FE24-04FF-4AB0-9CEB-90F2E55E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567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FFFFFF">
                <a:alpha val="7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E5EAB-A7B0-49FB-A4F4-4FE0A828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A054F-568E-4948-A058-A0212688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8DD339-79EF-4289-AC14-82BBFB0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5905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C6EF3-A846-4503-8477-7BBC234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905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05037F-6F24-4911-B2F0-0DC1648A8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B9BFEB-EA73-4528-A65F-6ADD37E6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2E313D-7336-47CB-B905-2B1B4CFB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67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A49D02-12E0-41CF-8749-DD08148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5848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9A84C">
                <a:alpha val="62000"/>
              </a:srgbClr>
            </a:solidFill>
            <a:prstDash val="solid"/>
          </a:ln>
        </p:spPr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77e1377304955"/>
          <a:stretch xmlns:a="http://schemas.openxmlformats.org/drawingml/2006/main"/>
        </p:blipFill>
        <p:spPr>
          <a:xfrm xmlns:a="http://schemas.openxmlformats.org/drawingml/2006/main">
            <a:off x="742950" y="5524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6E91F2-301D-42C0-8AFB-931C6109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229350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AB102-A16A-4C7B-A4B5-99AA1A3D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341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5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16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6786EA-80C2-4DB8-8189-E48B9A26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61341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713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CLOSE</a:t>
            </a:r>
          </a:p>
        </p:txBody>
      </p:sp>
      <p:sp>
        <p:nvSpPr>
          <p:cNvPr id="44" name="micro">
            <a:extLst xmlns:a="http://schemas.openxmlformats.org/drawingml/2006/main">
              <a:ext uri="{FF2B5EF4-FFF2-40B4-BE49-F238E27FC236}">
                <a16:creationId xmlns:a16="http://schemas.microsoft.com/office/drawing/2014/main" id="{127C690A-757B-453E-A610-8BCA562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104900"/>
            <a:ext cx="304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78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START HERE</a:t>
            </a:r>
          </a:p>
        </p:txBody>
      </p:sp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6298D7A3-5F21-4C00-AF8C-FAC3FABC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859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Start with an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0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420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Alignment Audit.</a:t>
            </a:r>
          </a:p>
        </p:txBody>
      </p:sp>
      <p:sp>
        <p:nvSpPr>
          <p:cNvPr id="46" name="body">
            <a:extLst xmlns:a="http://schemas.openxmlformats.org/drawingml/2006/main">
              <a:ext uri="{FF2B5EF4-FFF2-40B4-BE49-F238E27FC236}">
                <a16:creationId xmlns:a16="http://schemas.microsoft.com/office/drawing/2014/main" id="{62BBF416-AAA9-4EE3-83D8-C4989523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buNone/>
              <a:defRPr sz="1425" b="0">
                <a:solidFill>
                  <a:srgbClr val="9B9BA8"/>
                </a:solidFill>
                <a:latin typeface="Outfit"/>
                <a:ea typeface="Outfit"/>
                <a:cs typeface="Outfit"/>
              </a:defRPr>
            </a:pPr>
            <a:r>
              <a:rPr sz="1425" b="0">
                <a:solidFill>
                  <a:srgbClr val="9B9BA8"/>
                </a:solidFill>
                <a:latin typeface="Outfit"/>
                <a:ea typeface="Outfit"/>
                <a:cs typeface="Outfit"/>
              </a:rPr>
              <a:t>Share the workflow, handoff, decision loop, or communication gap you want to clarify. The first conversation is about finding the first system worth building.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2DBD41-C7F7-4312-8D3F-455400B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3905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0A0F">
              <a:alpha val="84000"/>
            </a:srgbClr>
          </a:solidFill>
          <a:ln xmlns:a="http://schemas.openxmlformats.org/drawingml/2006/main" w="12383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05CA6B-34CA-4AF4-9D9B-439D8951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31160D-60E6-4566-9192-A1C3597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590674-AFFF-40EA-BAFB-EB48DD1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3906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FFE5580-063D-4667-AF7D-0C2312F0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906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4A84B7-7053-471A-92AA-0DA9ADF72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10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303A88-F17D-4F5F-8E44-EB5F6ED5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BAB2940-CA4E-4983-AFBD-E34A519F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D60A63-D748-4D18-A1CD-E0DE107D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210050"/>
            <a:ext cx="0" cy="514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56" name="title">
            <a:extLst xmlns:a="http://schemas.openxmlformats.org/drawingml/2006/main">
              <a:ext uri="{FF2B5EF4-FFF2-40B4-BE49-F238E27FC236}">
                <a16:creationId xmlns:a16="http://schemas.microsoft.com/office/drawing/2014/main" id="{0F2319EB-2ADC-44C1-81EE-12F11A00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193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09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Find the first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system worth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3150" b="1">
                <a:solidFill>
                  <a:srgbClr val="F0F0F5"/>
                </a:solidFill>
                <a:latin typeface="Outfit"/>
                <a:ea typeface="Outfit"/>
                <a:cs typeface="Outfit"/>
              </a:defRPr>
            </a:pPr>
            <a:r>
              <a:rPr sz="3150" b="1">
                <a:solidFill>
                  <a:srgbClr val="F0F0F5"/>
                </a:solidFill>
                <a:latin typeface="Outfit"/>
                <a:ea typeface="Outfit"/>
                <a:cs typeface="Outfit"/>
              </a:rPr>
              <a:t>building.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90AF1A5-2455-48B1-A61B-0E1497C6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766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A84C">
                <a:alpha val="2800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F80EA3B-311B-48C1-9792-4CACDAEE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A84C"/>
          </a:solidFill>
          <a:ln xmlns:a="http://schemas.openxmlformats.org/drawingml/2006/main" w="12383">
            <a:solidFill>
              <a:srgbClr val="C9A84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EBB6C-7FD9-48CE-8C6D-2E8085F8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CLARITY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86F7B9-8075-451F-8ACE-D7AE85F7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C8D97EA-2685-4491-9C7F-72DBBDC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WORKFLOW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CD80D9-3B04-4E2F-BB49-C3E79BEC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600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0A0F"/>
          </a:solidFill>
          <a:ln xmlns:a="http://schemas.openxmlformats.org/drawingml/2006/main" w="12383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D532A0E-DE2B-4521-9839-9411ECA1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481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defRPr>
            </a:pPr>
            <a:r>
              <a:rPr sz="638" b="1">
                <a:solidFill>
                  <a:srgbClr val="6B6B78"/>
                </a:solidFill>
                <a:latin typeface="JetBrains Mono"/>
                <a:ea typeface="JetBrains Mono"/>
                <a:cs typeface="JetBrains Mono"/>
              </a:rPr>
              <a:t>NEXT STEP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C9387BF-96F8-4DC2-9D68-F2117CB8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343400"/>
            <a:ext cx="2933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A84C">
              <a:alpha val="16000"/>
            </a:srgbClr>
          </a:solidFill>
          <a:ln xmlns:a="http://schemas.openxmlformats.org/drawingml/2006/main" w="9525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86E95B-57B8-49CE-AABD-D1F8A7F3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238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defRPr>
            </a:pPr>
            <a:r>
              <a:rPr sz="1200" b="1">
                <a:solidFill>
                  <a:srgbClr val="C9A84C"/>
                </a:solidFill>
                <a:latin typeface="JetBrains Mono"/>
                <a:ea typeface="JetBrains Mono"/>
                <a:cs typeface="JetBrains Mono"/>
              </a:rPr>
              <a:t>ask@kramaniti.com</a:t>
            </a:r>
          </a:p>
        </p:txBody>
      </p:sp>
    </p:spTree>
    <p:extLst>
      <p:ext uri="{BB962C8B-B14F-4D97-AF65-F5344CB8AC3E}">
        <p14:creationId xmlns:p14="http://schemas.microsoft.com/office/powerpoint/2010/main" val="3824048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2026-06-15T21:42:28.4840000Z</dcterms:created>
  <dcterms:modified xsi:type="dcterms:W3CDTF">2026-06-15T21:42:28.4840000Z</dcterms:modified>
</coreProperties>
</file>