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abe449113401c" /><Relationship Type="http://schemas.openxmlformats.org/officeDocument/2006/relationships/extended-properties" Target="/docProps/app.xml" Id="R71e24721abd6411f" /><Relationship Type="http://schemas.openxmlformats.org/officeDocument/2006/relationships/officeDocument" Target="/ppt/presentation.xml" Id="R7f2db177a8da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b86c0954ad4f07"/>
  </p:sldMasterIdLst>
  <p:notesMasterIdLst>
    <p:notesMasterId xmlns:r="http://schemas.openxmlformats.org/officeDocument/2006/relationships" r:id="Rd81bcc2b636343ad"/>
  </p:notesMasterIdLst>
  <p:sldIdLst>
    <p:sldId xmlns:r="http://schemas.openxmlformats.org/officeDocument/2006/relationships" id="256" r:id="R5ad6f5c39a124fcb"/>
    <p:sldId xmlns:r="http://schemas.openxmlformats.org/officeDocument/2006/relationships" id="257" r:id="Re5b2ab1567e94093"/>
    <p:sldId xmlns:r="http://schemas.openxmlformats.org/officeDocument/2006/relationships" id="258" r:id="Refa8c6c3238a4806"/>
    <p:sldId xmlns:r="http://schemas.openxmlformats.org/officeDocument/2006/relationships" id="259" r:id="R18560d24f1244ddd"/>
    <p:sldId xmlns:r="http://schemas.openxmlformats.org/officeDocument/2006/relationships" id="260" r:id="R8b65602221f548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8433708bf42c5" /><Relationship Type="http://schemas.openxmlformats.org/officeDocument/2006/relationships/slideMaster" Target="/ppt/slideMasters/slideMaster1.xml" Id="R77b86c0954ad4f07" /><Relationship Type="http://schemas.openxmlformats.org/officeDocument/2006/relationships/notesMaster" Target="/ppt/notesMasters/notesMaster1.xml" Id="Rd81bcc2b636343ad" /><Relationship Type="http://schemas.openxmlformats.org/officeDocument/2006/relationships/presProps" Target="/ppt/presProps.xml" Id="R5b05bdaa90954f9f" /><Relationship Type="http://schemas.openxmlformats.org/officeDocument/2006/relationships/tableStyles" Target="/ppt/tableStyles.xml" Id="R6a82b69779924442" /><Relationship Type="http://schemas.openxmlformats.org/officeDocument/2006/relationships/slide" Target="/ppt/slides/slide1.xml" Id="R5ad6f5c39a124fcb" /><Relationship Type="http://schemas.openxmlformats.org/officeDocument/2006/relationships/slide" Target="/ppt/slides/slide2.xml" Id="Re5b2ab1567e94093" /><Relationship Type="http://schemas.openxmlformats.org/officeDocument/2006/relationships/slide" Target="/ppt/slides/slide3.xml" Id="Refa8c6c3238a4806" /><Relationship Type="http://schemas.openxmlformats.org/officeDocument/2006/relationships/slide" Target="/ppt/slides/slide4.xml" Id="R18560d24f1244ddd" /><Relationship Type="http://schemas.openxmlformats.org/officeDocument/2006/relationships/slide" Target="/ppt/slides/slide5.xml" Id="R8b65602221f5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65f5816406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e6b4c7c31445d" /><Relationship Type="http://schemas.openxmlformats.org/officeDocument/2006/relationships/notesMaster" Target="/ppt/notesMasters/notesMaster1.xml" Id="Re2045116ed7c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53e7dce02439f" /><Relationship Type="http://schemas.openxmlformats.org/officeDocument/2006/relationships/notesMaster" Target="/ppt/notesMasters/notesMaster1.xml" Id="R74710851248e44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9ad0267d54edb" /><Relationship Type="http://schemas.openxmlformats.org/officeDocument/2006/relationships/notesMaster" Target="/ppt/notesMasters/notesMaster1.xml" Id="R6dd5ff584511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a91f364aa42c0" /><Relationship Type="http://schemas.openxmlformats.org/officeDocument/2006/relationships/notesMaster" Target="/ppt/notesMasters/notesMaster1.xml" Id="R53b2b2b097db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e5975378e4da8" /><Relationship Type="http://schemas.openxmlformats.org/officeDocument/2006/relationships/notesMaster" Target="/ppt/notesMasters/notesMaster1.xml" Id="R65a1caef26b2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cfdae2249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90e99080442ed" /><Relationship Type="http://schemas.openxmlformats.org/officeDocument/2006/relationships/slideLayout" Target="/ppt/slideLayouts/slideLayout1.xml" Id="Rd4f3fa455b00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3fa455b00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5d7dce5184a42" /><Relationship Type="http://schemas.openxmlformats.org/officeDocument/2006/relationships/notesSlide" Target="/ppt/notesSlides/notesSlide1.xml" Id="R11eda9c0237b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a8cb237045dd" /><Relationship Type="http://schemas.openxmlformats.org/officeDocument/2006/relationships/notesSlide" Target="/ppt/notesSlides/notesSlide2.xml" Id="R218151fa0b90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483acf4e046df" /><Relationship Type="http://schemas.openxmlformats.org/officeDocument/2006/relationships/notesSlide" Target="/ppt/notesSlides/notesSlide3.xml" Id="Rebec5b1327c440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8a0e2ed3c4587" /><Relationship Type="http://schemas.openxmlformats.org/officeDocument/2006/relationships/notesSlide" Target="/ppt/notesSlides/notesSlide4.xml" Id="R4ee992b6ad13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5439d38424812" /><Relationship Type="http://schemas.openxmlformats.org/officeDocument/2006/relationships/notesSlide" Target="/ppt/notesSlides/notesSlide5.xml" Id="R8419480bf941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2E2D9-1025-4C3A-890E-29FDDC3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FOUNDER REFERRAL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6E0EC-8E57-431E-B6BB-7CA18056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8B0AC"/>
                </a:solidFill>
              </a:defRPr>
            </a:pPr>
            <a:r>
              <a:rPr sz="975" b="1" i="0">
                <a:solidFill>
                  <a:srgbClr val="A8B0AC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759D4-C0BD-4BF6-BB03-D7B0A7CD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B3987-4BED-4C4C-BE71-18DB5A9B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4EFE6"/>
                </a:solidFill>
              </a:defRPr>
            </a:pPr>
            <a:r>
              <a:rPr sz="4350" b="1" i="0">
                <a:solidFill>
                  <a:srgbClr val="F4EFE6"/>
                </a:solidFill>
              </a:rPr>
              <a:t>A practical systems partner for The Scalers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EFDD5-36D9-45FE-BFEB-58F88BF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A8B0AC"/>
                </a:solidFill>
              </a:defRPr>
            </a:pPr>
            <a:r>
              <a:rPr sz="1575" b="0" i="0">
                <a:solidFill>
                  <a:srgbClr val="A8B0AC"/>
                </a:solidFill>
              </a:rPr>
              <a:t>Prepared for Akshita and the hiring team after the founder conversation at WeWork Galaxy, Bengaluru.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772FA-50D7-4005-88D3-36AE17D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D1A"/>
          </a:solidFill>
          <a:ln xmlns:a="http://schemas.openxmlformats.org/drawingml/2006/main" w="9525">
            <a:solidFill>
              <a:srgbClr val="3B4B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53A00-725E-48E6-932F-E41901FA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STRATEGY BEFORE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58C58-3B43-4BF3-9278-F66C0FD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14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D1A"/>
          </a:solidFill>
          <a:ln xmlns:a="http://schemas.openxmlformats.org/drawingml/2006/main" w="9525">
            <a:solidFill>
              <a:srgbClr val="3B4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1B295-6EDD-4EEF-8722-78DEC74E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57600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SYSTEMS BEFORE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27A2-2E82-465E-87A1-7B62F56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814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D1A"/>
          </a:solidFill>
          <a:ln xmlns:a="http://schemas.openxmlformats.org/drawingml/2006/main" w="9525">
            <a:solidFill>
              <a:srgbClr val="3B4B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C79EC-D431-49A6-917E-8920EE6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CONTENT AFTER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1ECF0-ADA7-4142-91D3-D965DAFB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23950"/>
            <a:ext cx="3276600" cy="37338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7211E"/>
          </a:solidFill>
          <a:ln xmlns:a="http://schemas.openxmlformats.org/drawingml/2006/main" w="9525">
            <a:solidFill>
              <a:srgbClr val="3A4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15612-0E9F-4794-BA5C-D473F3A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EFE6"/>
                </a:solidFill>
              </a:defRPr>
            </a:pPr>
            <a:r>
              <a:rPr sz="1725" b="1" i="0">
                <a:solidFill>
                  <a:srgbClr val="F4EFE6"/>
                </a:solidFill>
              </a:rPr>
              <a:t>Why this is 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DA1CE-CCF4-4D46-9465-422FF6E4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B04B0-88DE-48D3-A295-347833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The Scalers already sells a people-first, integrated team-building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EB28F-1FDB-4FDD-AEAD-51DD8860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B089B-8174-45D8-9375-B93E5FC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Hiring, onboarding, culture, and partner trust are workflow-heavy by nature.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46941-81D0-49DF-BEFF-B3967F2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9932F-C42E-46F7-B8B6-479E6824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Kramaniti can turn that operating knowledge into sharper internal tools, practical AI support, and content systems.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5C12D-A25B-433B-AC66-30699F6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F6B66"/>
                </a:solidFill>
              </a:defRPr>
            </a:pPr>
            <a:r>
              <a:rPr sz="750" b="0" i="0">
                <a:solidFill>
                  <a:srgbClr val="5F6B66"/>
                </a:solidFill>
              </a:rPr>
              <a:t>Text-only references. No client outcome claims added.</a:t>
            </a:r>
          </a:p>
        </p:txBody>
      </p:sp>
    </p:spTree>
    <p:extLst>
      <p:ext uri="{BB962C8B-B14F-4D97-AF65-F5344CB8AC3E}">
        <p14:creationId xmlns:p14="http://schemas.microsoft.com/office/powerpoint/2010/main" val="1541632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C170E-D864-4D7D-9A8B-E3F2EA9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KRAMANITI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FECCA-1DF1-4BE5-B602-83E3046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8B0AC"/>
                </a:solidFill>
              </a:defRPr>
            </a:pPr>
            <a:r>
              <a:rPr sz="975" b="1" i="0">
                <a:solidFill>
                  <a:srgbClr val="A8B0A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B0497-3731-41A2-B008-0293FEC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FB078-FA8A-4D2D-9762-AF40646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4EFE6"/>
                </a:solidFill>
              </a:defRPr>
            </a:pPr>
            <a:r>
              <a:rPr sz="3000" b="1" i="0">
                <a:solidFill>
                  <a:srgbClr val="F4EFE6"/>
                </a:solidFill>
              </a:rPr>
              <a:t>What Kramaniti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120F-3792-431A-96B1-FB4BBE0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8B0AC"/>
                </a:solidFill>
              </a:defRPr>
            </a:pPr>
            <a:r>
              <a:rPr sz="1425" b="0" i="0">
                <a:solidFill>
                  <a:srgbClr val="A8B0AC"/>
                </a:solidFill>
              </a:rPr>
              <a:t>We connect business clarity, internal infrastructure, and brand communication so growth does not depend on disconnected AI experiments.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9088D-EA6E-4259-A1D3-4C8B771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A17"/>
          </a:solidFill>
          <a:ln xmlns:a="http://schemas.openxmlformats.org/drawingml/2006/main" w="9525">
            <a:solidFill>
              <a:srgbClr val="334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CB207-FBFA-4946-B33F-526A1787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A24D"/>
                </a:solidFill>
              </a:defRPr>
            </a:pPr>
            <a:r>
              <a:rPr sz="1125" b="1" i="0">
                <a:solidFill>
                  <a:srgbClr val="C9A24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C437-951A-4B73-BB79-EB6F0C6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4EFE6"/>
                </a:solidFill>
              </a:defRPr>
            </a:pPr>
            <a:r>
              <a:rPr sz="2325" b="1" i="0">
                <a:solidFill>
                  <a:srgbClr val="F4EFE6"/>
                </a:solidFill>
              </a:rPr>
              <a:t>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01D1D-1C43-49CB-B61C-85DA062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8B0AC"/>
                </a:solidFill>
              </a:defRPr>
            </a:pPr>
            <a:r>
              <a:rPr sz="1275" b="0" i="0">
                <a:solidFill>
                  <a:srgbClr val="A8B0AC"/>
                </a:solidFill>
              </a:rPr>
              <a:t>Diagnose workflow reality, bottlenecks, decision loops, and the first system worth building.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C0D9-86C2-4CE5-A881-CCECD5C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481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FD6F-41AB-4372-81FE-77B36687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9525">
            <a:solidFill>
              <a:srgbClr val="C9A2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6C787-7006-4A3F-8638-4BF9647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A24D"/>
                </a:solidFill>
              </a:defRPr>
            </a:pPr>
            <a:r>
              <a:rPr sz="1125" b="1" i="0">
                <a:solidFill>
                  <a:srgbClr val="C9A24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8CF17-7335-4CA1-8969-A1587B8F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4EFE6"/>
                </a:solidFill>
              </a:defRPr>
            </a:pPr>
            <a:r>
              <a:rPr sz="2325" b="1" i="0">
                <a:solidFill>
                  <a:srgbClr val="F4EFE6"/>
                </a:solidFill>
              </a:rPr>
              <a:t>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E4CEB-7B65-4CCB-9E34-5D9CEFDE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71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8B0AC"/>
                </a:solidFill>
              </a:defRPr>
            </a:pPr>
            <a:r>
              <a:rPr sz="1275" b="0" i="0">
                <a:solidFill>
                  <a:srgbClr val="A8B0AC"/>
                </a:solidFill>
              </a:rPr>
              <a:t>Design practical AI-assisted tools, operating workflows, documentation, and human review checkpoints.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07270-CF78-402C-BA1C-19FE5E3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63360-BD93-4EB1-96D2-AEC9C94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A17"/>
          </a:solidFill>
          <a:ln xmlns:a="http://schemas.openxmlformats.org/drawingml/2006/main" w="9525">
            <a:solidFill>
              <a:srgbClr val="334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912B9-E47E-4FD3-B5F5-5D754F9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A24D"/>
                </a:solidFill>
              </a:defRPr>
            </a:pPr>
            <a:r>
              <a:rPr sz="1125" b="1" i="0">
                <a:solidFill>
                  <a:srgbClr val="C9A24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3C498-E68C-4D95-97A9-A7157B0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4EFE6"/>
                </a:solidFill>
              </a:defRPr>
            </a:pPr>
            <a:r>
              <a:rPr sz="2325" b="1" i="0">
                <a:solidFill>
                  <a:srgbClr val="F4EFE6"/>
                </a:solidFill>
              </a:rPr>
              <a:t>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2BA16-877F-420F-81AF-B831CCC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8B0AC"/>
                </a:solidFill>
              </a:defRPr>
            </a:pPr>
            <a:r>
              <a:rPr sz="1275" b="0" i="0">
                <a:solidFill>
                  <a:srgbClr val="A8B0AC"/>
                </a:solidFill>
              </a:rPr>
              <a:t>Translate internal clarity into sharper founder narrative, hiring communication, and reusable content.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432A2-6D4C-4BFA-8D66-FE1DF5A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EFE6"/>
                </a:solidFill>
              </a:defRPr>
            </a:pPr>
            <a:r>
              <a:rPr sz="1500" b="1" i="0">
                <a:solidFill>
                  <a:srgbClr val="F4EFE6"/>
                </a:solidFill>
              </a:rPr>
              <a:t>Operating principle: automate where useful, assist where judgment needs support, keep human-led where trust, taste, or context matters.</a:t>
            </a:r>
          </a:p>
        </p:txBody>
      </p:sp>
    </p:spTree>
    <p:extLst>
      <p:ext uri="{BB962C8B-B14F-4D97-AF65-F5344CB8AC3E}">
        <p14:creationId xmlns:p14="http://schemas.microsoft.com/office/powerpoint/2010/main" val="150171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5B522-F778-48F4-BFF2-AD680AAC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THE SCALERS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9FA6A-CA54-4D27-B60E-2C38F5C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8B0AC"/>
                </a:solidFill>
              </a:defRPr>
            </a:pPr>
            <a:r>
              <a:rPr sz="975" b="1" i="0">
                <a:solidFill>
                  <a:srgbClr val="A8B0A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BDA16-262A-4119-86D0-8EF8B961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F15FA-78BB-4803-BF69-8CE3933C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4EFE6"/>
                </a:solidFill>
              </a:defRPr>
            </a:pPr>
            <a:r>
              <a:rPr sz="3000" b="1" i="0">
                <a:solidFill>
                  <a:srgbClr val="F4EFE6"/>
                </a:solidFill>
              </a:rPr>
              <a:t>Where this maps to The Scalers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184CE-D19D-48FB-BCE7-BF8924A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8B0AC"/>
                </a:solidFill>
              </a:defRPr>
            </a:pPr>
            <a:r>
              <a:rPr sz="1425" b="0" i="0">
                <a:solidFill>
                  <a:srgbClr val="A8B0AC"/>
                </a:solidFill>
              </a:rPr>
              <a:t>The Scalers' public model is already system-shaped: recruitment, managed operations, cultural alignment, and long-term people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25A78-F7E7-4638-9535-C472AFF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495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1B18"/>
          </a:solidFill>
          <a:ln xmlns:a="http://schemas.openxmlformats.org/drawingml/2006/main" w="9525">
            <a:solidFill>
              <a:srgbClr val="3042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ABF5E-5D35-4D3F-BAAB-BD48522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4EFE6"/>
                </a:solidFill>
              </a:defRPr>
            </a:pPr>
            <a:r>
              <a:rPr sz="1575" b="1" i="0">
                <a:solidFill>
                  <a:srgbClr val="F4EFE6"/>
                </a:solidFill>
              </a:rPr>
              <a:t>Recruitment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65C5-58B2-4C87-8E0C-9B9C4CD8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7-step process, role materials, screening, interviews, and candidate fit.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83D25-DEB3-4FEC-BFAF-1503988B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4495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1B18"/>
          </a:solidFill>
          <a:ln xmlns:a="http://schemas.openxmlformats.org/drawingml/2006/main" w="9525">
            <a:solidFill>
              <a:srgbClr val="3042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D826F-E206-44B7-BDB1-6E0EC812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4EFE6"/>
                </a:solidFill>
              </a:defRPr>
            </a:pPr>
            <a:r>
              <a:rPr sz="1575" b="1" i="0">
                <a:solidFill>
                  <a:srgbClr val="F4EFE6"/>
                </a:solidFill>
              </a:rPr>
              <a:t>Operating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5C096-12CF-4350-8591-A69D5B5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HR, payroll, compliance, security, office setup, partner success, and local execution.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613F-0007-4D09-A8D4-2687F97F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495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1B18"/>
          </a:solidFill>
          <a:ln xmlns:a="http://schemas.openxmlformats.org/drawingml/2006/main" w="9525">
            <a:solidFill>
              <a:srgbClr val="3042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65C02-F41C-4441-B91A-E4A5C62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4EFE6"/>
                </a:solidFill>
              </a:defRPr>
            </a:pPr>
            <a:r>
              <a:rPr sz="1575" b="1" i="0">
                <a:solidFill>
                  <a:srgbClr val="F4EFE6"/>
                </a:solidFill>
              </a:rPr>
              <a:t>Culture and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E1349-6DE8-427B-994A-6B3D5B9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8B0AC"/>
                </a:solidFill>
              </a:defRPr>
            </a:pPr>
            <a:r>
              <a:rPr sz="1050" b="0" i="0">
                <a:solidFill>
                  <a:srgbClr val="A8B0AC"/>
                </a:solidFill>
              </a:rPr>
              <a:t>People-first integration, transparency, empowerment, inclusivity, and team belonging.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CF20C-7C79-4B29-BFC8-47DBF578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2672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9525">
            <a:solidFill>
              <a:srgbClr val="C9A2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3ECC9-79C9-4AC0-8C5E-D022DC0D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3390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4EFE6"/>
                </a:solidFill>
              </a:defRPr>
            </a:pPr>
            <a:r>
              <a:rPr sz="2025" b="1" i="0">
                <a:solidFill>
                  <a:srgbClr val="F4EFE6"/>
                </a:solidFill>
              </a:rPr>
              <a:t>Kramaniti can strengthen the internal layer behind that promise.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8C890-DDAC-4A19-821D-4898C76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Not by replacing people. By giving hiring and people teams clearer workflows, better knowledge systems, practical AI support, and content that makes the model easier to 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E6180-538E-48F3-B4AF-82B5D9E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2430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54247-8F02-4482-896B-DD0BA21D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F6B66"/>
                </a:solidFill>
              </a:defRPr>
            </a:pPr>
            <a:r>
              <a:rPr sz="750" b="0" i="0">
                <a:solidFill>
                  <a:srgbClr val="5F6B66"/>
                </a:solidFill>
              </a:rPr>
              <a:t>Sources: The Scalers homepage and About page, accessed 19 Jun 2026.</a:t>
            </a:r>
          </a:p>
        </p:txBody>
      </p:sp>
    </p:spTree>
    <p:extLst>
      <p:ext uri="{BB962C8B-B14F-4D97-AF65-F5344CB8AC3E}">
        <p14:creationId xmlns:p14="http://schemas.microsoft.com/office/powerpoint/2010/main" val="349432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63B35F-0086-40BE-8989-1CEBA77E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VALUE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86C5-4109-44B6-9ABB-6400A8A3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8B0AC"/>
                </a:solidFill>
              </a:defRPr>
            </a:pPr>
            <a:r>
              <a:rPr sz="975" b="1" i="0">
                <a:solidFill>
                  <a:srgbClr val="A8B0A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BB64F-9EE7-45B5-B422-E43C9C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03391-C0E8-443E-AAC7-9F660BF8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4EFE6"/>
                </a:solidFill>
              </a:defRPr>
            </a:pPr>
            <a:r>
              <a:rPr sz="3000" b="1" i="0">
                <a:solidFill>
                  <a:srgbClr val="F4EFE6"/>
                </a:solidFill>
              </a:rPr>
              <a:t>What Kramaniti can offer Scalers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FEDA-D50A-4C13-8D56-2931535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8B0AC"/>
                </a:solidFill>
              </a:defRPr>
            </a:pPr>
            <a:r>
              <a:rPr sz="1425" b="0" i="0">
                <a:solidFill>
                  <a:srgbClr val="A8B0AC"/>
                </a:solidFill>
              </a:rPr>
              <a:t>A focused support layer for hiring operations, recruiter enablement, and content that explains The Scalers' people-first model with more clarity.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885AE-BED2-4EFA-8744-0B6818D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A17"/>
          </a:solidFill>
          <a:ln xmlns:a="http://schemas.openxmlformats.org/drawingml/2006/main" w="9525">
            <a:solidFill>
              <a:srgbClr val="334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E333C-B4A6-4F6F-A11D-150F87E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712B6-168F-407A-9F0A-3018134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EFE6"/>
                </a:solidFill>
              </a:defRPr>
            </a:pPr>
            <a:r>
              <a:rPr sz="1725" b="1" i="0">
                <a:solidFill>
                  <a:srgbClr val="F4EFE6"/>
                </a:solidFill>
              </a:rPr>
              <a:t>Hiring workflow clarity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44F1B-7D35-4AAD-8E5A-579A939B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Map the journey from role intake to onboarding, identify repeated friction, and define the best first system to improve.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58791-8209-438A-8893-FEF5BBA9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9525">
            <a:solidFill>
              <a:srgbClr val="C9A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35965-F988-4F45-A77D-8EF01807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5A94B-216E-4C84-8AB6-311EF6B1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EFE6"/>
                </a:solidFill>
              </a:defRPr>
            </a:pPr>
            <a:r>
              <a:rPr sz="1725" b="1" i="0">
                <a:solidFill>
                  <a:srgbClr val="F4EFE6"/>
                </a:solidFill>
              </a:rPr>
              <a:t>Recruiter AI workbench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0A3B3-DB9E-4DB2-A6DE-B426DD34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Prototype focused assistants for JD intake, candidate notes, outreach drafts, interview prep, and knowledge retrieval.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DC845-9055-4607-AD4F-B436AFA3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A17"/>
          </a:solidFill>
          <a:ln xmlns:a="http://schemas.openxmlformats.org/drawingml/2006/main" w="9525">
            <a:solidFill>
              <a:srgbClr val="334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30A24-382E-4437-9EB5-4D50E26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92C96-3445-4669-8614-56F9A3D2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4EFE6"/>
                </a:solidFill>
              </a:defRPr>
            </a:pPr>
            <a:r>
              <a:rPr sz="1575" b="1" i="0">
                <a:solidFill>
                  <a:srgbClr val="F4EFE6"/>
                </a:solidFill>
              </a:rPr>
              <a:t>Candidate + partner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67F5D-A644-48C8-8590-DCD19DB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Turn process knowledge into sharper hiring pages, recruiter scripts, explainers, and founder/leadership content.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E50E9-05E5-492A-B982-E2843891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A17"/>
          </a:solidFill>
          <a:ln xmlns:a="http://schemas.openxmlformats.org/drawingml/2006/main" w="9525">
            <a:solidFill>
              <a:srgbClr val="3344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CA273-F4DF-4EDA-9F44-E232145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38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9A24D"/>
                </a:solidFill>
              </a:defRPr>
            </a:pPr>
            <a:r>
              <a:rPr sz="975" b="1" i="0">
                <a:solidFill>
                  <a:srgbClr val="C9A24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023F4-C815-421C-97D4-2335018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EFE6"/>
                </a:solidFill>
              </a:defRPr>
            </a:pPr>
            <a:r>
              <a:rPr sz="1725" b="1" i="0">
                <a:solidFill>
                  <a:srgbClr val="F4EFE6"/>
                </a:solidFill>
              </a:rPr>
              <a:t>Enablement and adoption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E0FFC-E7EB-4D75-A165-629AE120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8B0AC"/>
                </a:solidFill>
              </a:defRPr>
            </a:pPr>
            <a:r>
              <a:rPr sz="1125" b="0" i="0">
                <a:solidFill>
                  <a:srgbClr val="A8B0AC"/>
                </a:solidFill>
              </a:rPr>
              <a:t>Create usage rules, override points, review checkpoints, and team guidance so tools support recruiters without taking judgment away.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F2981-3B7C-4C0B-9B6F-4F8840D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F6B66"/>
                </a:solidFill>
              </a:defRPr>
            </a:pPr>
            <a:r>
              <a:rPr sz="750" b="0" i="0">
                <a:solidFill>
                  <a:srgbClr val="5F6B66"/>
                </a:solidFill>
              </a:rPr>
              <a:t>Selected experience reference: Nexocean internal recruiter workflow tools + brand content during a five-month contract engagement.</a:t>
            </a:r>
          </a:p>
        </p:txBody>
      </p:sp>
    </p:spTree>
    <p:extLst>
      <p:ext uri="{BB962C8B-B14F-4D97-AF65-F5344CB8AC3E}">
        <p14:creationId xmlns:p14="http://schemas.microsoft.com/office/powerpoint/2010/main" val="664292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AEA4C-17A3-4637-B29A-66BF8BA2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9A24D"/>
                </a:solidFill>
              </a:defRPr>
            </a:pPr>
            <a:r>
              <a:rPr sz="825" b="1" i="0">
                <a:solidFill>
                  <a:srgbClr val="C9A24D"/>
                </a:solidFill>
              </a:rPr>
              <a:t>SUGGESTED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86416-1296-488A-9677-E45C2E6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A8B0AC"/>
                </a:solidFill>
              </a:defRPr>
            </a:pPr>
            <a:r>
              <a:rPr sz="975" b="1" i="0">
                <a:solidFill>
                  <a:srgbClr val="A8B0A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FD0C-70D7-4FD9-81DA-6D7B06A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9352-8D50-48FB-84F8-D822C97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EFE6"/>
                </a:solidFill>
              </a:defRPr>
            </a:pPr>
            <a:r>
              <a:rPr sz="3300" b="1" i="0">
                <a:solidFill>
                  <a:srgbClr val="F4EFE6"/>
                </a:solidFill>
              </a:rPr>
              <a:t>A low-risk first engagement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6A968-7831-49AF-8B07-6B0A579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9A24D"/>
                </a:solidFill>
              </a:defRPr>
            </a:pPr>
            <a:r>
              <a:rPr sz="1725" b="1" i="0">
                <a:solidFill>
                  <a:srgbClr val="C9A24D"/>
                </a:solidFill>
              </a:rPr>
              <a:t>10-day hiring workflow audit + prototype direction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7D2BD-67F7-4B2D-BB92-37A54C3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8B0AC"/>
                </a:solidFill>
              </a:defRPr>
            </a:pPr>
            <a:r>
              <a:rPr sz="1500" b="0" i="0">
                <a:solidFill>
                  <a:srgbClr val="A8B0AC"/>
                </a:solidFill>
              </a:rPr>
              <a:t>The goal is not to sell a large AI transformation. It is to find one hiring or people workflow where a practical system can save attention, improve consistency, and support the team's existing way of working.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B5B2C-4A96-47BE-B59A-3C86C71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9A24D"/>
                </a:solidFill>
              </a:defRPr>
            </a:pPr>
            <a:r>
              <a:rPr sz="1050" b="1" i="0">
                <a:solidFill>
                  <a:srgbClr val="C9A24D"/>
                </a:solidFill>
              </a:rPr>
              <a:t>Day 1-2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D42B8-89D1-49CC-AC69-86DD7A4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690D6-444A-4DD1-8149-D3E76872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4EFE6"/>
                </a:solidFill>
              </a:defRPr>
            </a:pPr>
            <a:r>
              <a:rPr sz="1200" b="0" i="0">
                <a:solidFill>
                  <a:srgbClr val="F4EFE6"/>
                </a:solidFill>
              </a:rPr>
              <a:t>Interview Akshita/team, review current hiring flow, collect sample role and candidate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F5015-54B2-420F-B111-BAB13C43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9A24D"/>
                </a:solidFill>
              </a:defRPr>
            </a:pPr>
            <a:r>
              <a:rPr sz="1050" b="1" i="0">
                <a:solidFill>
                  <a:srgbClr val="C9A24D"/>
                </a:solidFill>
              </a:rPr>
              <a:t>Day 3-5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FFE4C-37D6-4CB2-85ED-3332EFE9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417AF-5BD3-46CC-9500-164DDAE2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86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4EFE6"/>
                </a:solidFill>
              </a:defRPr>
            </a:pPr>
            <a:r>
              <a:rPr sz="1200" b="0" i="0">
                <a:solidFill>
                  <a:srgbClr val="F4EFE6"/>
                </a:solidFill>
              </a:rPr>
              <a:t>Map bottlenecks, handoffs, repeated writing, decision points, and tool gaps.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DCC5D-C8DE-458A-AF9C-E09D4F0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9A24D"/>
                </a:solidFill>
              </a:defRPr>
            </a:pPr>
            <a:r>
              <a:rPr sz="1050" b="1" i="0">
                <a:solidFill>
                  <a:srgbClr val="C9A24D"/>
                </a:solidFill>
              </a:rPr>
              <a:t>Day 6-8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CE025-D0E2-4894-B2C5-34BF955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A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27BB3-8EB9-40D3-9CF8-8853636B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4EFE6"/>
                </a:solidFill>
              </a:defRPr>
            </a:pPr>
            <a:r>
              <a:rPr sz="1200" b="0" i="0">
                <a:solidFill>
                  <a:srgbClr val="F4EFE6"/>
                </a:solidFill>
              </a:rPr>
              <a:t>Design a practical AI-assisted workflow or internal tool concept around one priority use case.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144BF-BFF6-4BB2-97AC-9FD61F2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9A24D"/>
                </a:solidFill>
              </a:defRPr>
            </a:pPr>
            <a:r>
              <a:rPr sz="1050" b="1" i="0">
                <a:solidFill>
                  <a:srgbClr val="C9A24D"/>
                </a:solidFill>
              </a:rPr>
              <a:t>Day 9-10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12860-7391-4CB4-8AA8-4CC4F51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3400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F6B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ED7D3-8AEA-4611-855A-73A15FD9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81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4EFE6"/>
                </a:solidFill>
              </a:defRPr>
            </a:pPr>
            <a:r>
              <a:rPr sz="1200" b="0" i="0">
                <a:solidFill>
                  <a:srgbClr val="F4EFE6"/>
                </a:solidFill>
              </a:rPr>
              <a:t>Deliver the blueprint: workflow map, prototype spec, adoption rules, and content opportunities.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7C39E-732C-45B2-B549-79AA7BD7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105150" cy="36385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9525">
            <a:solidFill>
              <a:srgbClr val="C9A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C0D65-F427-4B08-A24F-9A25E9E7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4EFE6"/>
                </a:solidFill>
              </a:defRPr>
            </a:pPr>
            <a:r>
              <a:rPr sz="1800" b="1" i="0">
                <a:solidFill>
                  <a:srgbClr val="F4EFE6"/>
                </a:solidFill>
              </a:rPr>
              <a:t>Output Akshita can 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9047-9B9D-4810-BD49-2F5B084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+ One priority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BE2E3-8C58-468D-87A1-BDBB3A0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+ One prototype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DDC6E-A882-41C1-ACE4-45AEEFAF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+ Clear human/AI handoffs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ABB97-610B-45FA-8FE0-107B56FE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+ Recruiter-facing usage 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478BA-FA18-4402-A148-02EF82D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4EFE6"/>
                </a:solidFill>
              </a:defRPr>
            </a:pPr>
            <a:r>
              <a:rPr sz="1275" b="0" i="0">
                <a:solidFill>
                  <a:srgbClr val="F4EFE6"/>
                </a:solidFill>
              </a:rPr>
              <a:t>+ Content angles for hiring and partner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53284-9934-4F7C-9D04-B8C7FBCD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F6B66"/>
                </a:solidFill>
              </a:defRPr>
            </a:pPr>
            <a:r>
              <a:rPr sz="750" b="0" i="0">
                <a:solidFill>
                  <a:srgbClr val="5F6B66"/>
                </a:solidFill>
              </a:rPr>
              <a:t>Kramaniti | Strategy before tools. Systems before scale. Content after clarity.</a:t>
            </a:r>
          </a:p>
        </p:txBody>
      </p:sp>
    </p:spTree>
    <p:extLst>
      <p:ext uri="{BB962C8B-B14F-4D97-AF65-F5344CB8AC3E}">
        <p14:creationId xmlns:p14="http://schemas.microsoft.com/office/powerpoint/2010/main" val="141237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2026-06-19T08:31:47.1900000Z</dcterms:created>
  <dcterms:modified xsi:type="dcterms:W3CDTF">2026-06-19T08:31:47.1900000Z</dcterms:modified>
</coreProperties>
</file>